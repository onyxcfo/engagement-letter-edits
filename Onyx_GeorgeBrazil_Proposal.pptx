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66928"/>
            <a:ext cx="12191969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7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ONYX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719072"/>
            <a:ext cx="12191969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400" b="1" i="0" spc="34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ACCOUNTING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084831"/>
            <a:ext cx="12191969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25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Bookkeeping, Controller &amp; CFO Services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6048" y="2615184"/>
            <a:ext cx="2286000" cy="0"/>
          </a:xfrm>
          <a:prstGeom prst="line">
            <a:avLst/>
          </a:prstGeom>
          <a:ln w="12700">
            <a:solidFill>
              <a:srgbClr val="8F7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0" y="2852928"/>
            <a:ext cx="12191969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5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Finance leadership your team can count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529584"/>
            <a:ext cx="1219196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000" b="0" i="0" spc="26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PREPARED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803904"/>
            <a:ext cx="1219196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9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AJAC, INC. DBA GEORGE BRAZIL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206240"/>
            <a:ext cx="12191969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1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Plumbing · Electrical · ESOP-owned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791456"/>
            <a:ext cx="1219196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000" b="0" i="0" spc="26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PRESENTED 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0088" y="5084064"/>
            <a:ext cx="2926080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spcAft>
                <a:spcPts val="2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Steven Nikolov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0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Founder, Principal &amp; Outsourced CFO</a:t>
            </a:r>
          </a:p>
          <a:p>
            <a:pPr algn="ctr" marL="0" indent="0">
              <a:buNone/>
            </a:pPr>
            <a:r>
              <a:rPr sz="105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steven@onyxcfo.com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5084064"/>
            <a:ext cx="2926080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spcAft>
                <a:spcPts val="2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Josephine Mack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0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Chief of Staff &amp; Client Relations</a:t>
            </a:r>
          </a:p>
          <a:p>
            <a:pPr algn="ctr" marL="0" indent="0">
              <a:buNone/>
            </a:pPr>
            <a:r>
              <a:rPr sz="105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jmack@onyxcfo.com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6108192"/>
            <a:ext cx="12191969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05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14614 N Kierland Blvd, Suite N220  ·  Scottsdale, AZ 85254  ·  (480) 999-5509  ·  onyxcfo.com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6400800"/>
            <a:ext cx="1219196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950" b="0" i="0">
                <a:solidFill>
                  <a:srgbClr val="6E6E6E"/>
                </a:solidFill>
                <a:latin typeface="Calibri"/>
                <a:ea typeface="Calibri"/>
                <a:cs typeface="Calibri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MANDATE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A finance team to fill the CFO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What we understand George Brazil needs from this engagement.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38528"/>
            <a:ext cx="2567178" cy="2139696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938528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804672" y="2212848"/>
            <a:ext cx="402336" cy="40233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2212848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779776"/>
            <a:ext cx="205511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CONTINUITY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236976"/>
            <a:ext cx="2055114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One consistent, senior finance contact after your CFO's sudden departure, with his knowledge captured and rebuilt as a documented process.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90138" y="1938528"/>
            <a:ext cx="2567178" cy="2139696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90138" y="1938528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646170" y="2212848"/>
            <a:ext cx="402336" cy="40233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646170" y="2212848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6170" y="2779776"/>
            <a:ext cx="205511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CONTROLLER LEADERSHIP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46170" y="3236976"/>
            <a:ext cx="2055114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A controller who drives the monthly close and reviews the work, training and backing up your in-house accountant.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1636" y="1938528"/>
            <a:ext cx="2567178" cy="2139696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31636" y="1938528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487668" y="2212848"/>
            <a:ext cx="402336" cy="40233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87668" y="2212848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7668" y="2779776"/>
            <a:ext cx="205511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REPORTING &amp; CFO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7668" y="3236976"/>
            <a:ext cx="2055114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Management and Bell Bank reporting, budgeting and forecasting, and CFO-level direction for the team.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73134" y="1938528"/>
            <a:ext cx="2567178" cy="2139696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9073134" y="1938528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9329165" y="2212848"/>
            <a:ext cx="402336" cy="40233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9165" y="2212848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9165" y="2779776"/>
            <a:ext cx="205511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SYSTEMS &amp; AUTOMATION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9165" y="3236976"/>
            <a:ext cx="2055114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Less manual work between ServiceTitan, QStock and Sage Intacct, with review controls built in.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443984"/>
            <a:ext cx="11091672" cy="11887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48640" y="4443984"/>
            <a:ext cx="11091672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4400" y="4700016"/>
            <a:ext cx="10360152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THE OBJECTIVE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974336"/>
            <a:ext cx="10360152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2000"/>
              </a:lnSpc>
              <a:buNone/>
            </a:pPr>
            <a:r>
              <a:rPr sz="1400" b="0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 dependable, documented finance function on Sage Intacct, led by a team that does not turn over, scaling from controller support to CFO guidance as you grow and convert back to an S corporation in 2028.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Your CFO left on short notice. The answer is a team, not another single point of failure.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35 years of growth, a sudden finance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Drawn from our meeting with Marc, Shawn and Josh, and the CFO transition notes.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83664"/>
            <a:ext cx="11091672" cy="1371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481328" y="2139696"/>
            <a:ext cx="9628632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5000"/>
              </a:lnSpc>
              <a:buNone/>
            </a:pPr>
            <a:r>
              <a:rPr sz="1550" b="0" i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CFO who ran the finance function is gone as of October 2. Your in-house accountant handles the day-to-day and needs training and review; the books, reporting and systems need a steady hand now.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2871216"/>
            <a:ext cx="962863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What we heard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93008"/>
            <a:ext cx="2567178" cy="148132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04672" y="3730752"/>
            <a:ext cx="2055114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200" b="1" i="0">
                <a:solidFill>
                  <a:srgbClr val="B08D57"/>
                </a:solidFill>
                <a:latin typeface="Cambria"/>
                <a:ea typeface="Cambria"/>
                <a:cs typeface="Cambria"/>
              </a:rPr>
              <a:t>Oct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4352544"/>
            <a:ext cx="2055114" cy="51206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The CFO's last day — the finance gap is now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0138" y="3493008"/>
            <a:ext cx="2567178" cy="148132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646170" y="3730752"/>
            <a:ext cx="2055114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200" b="1" i="0">
                <a:solidFill>
                  <a:srgbClr val="B08D57"/>
                </a:solidFill>
                <a:latin typeface="Cambria"/>
                <a:ea typeface="Cambria"/>
                <a:cs typeface="Cambria"/>
              </a:rPr>
              <a:t>1990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6170" y="4352544"/>
            <a:ext cx="2055114" cy="51206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Founded — employee-owned (ESOP) today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1636" y="3493008"/>
            <a:ext cx="2567178" cy="148132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87668" y="3730752"/>
            <a:ext cx="2055114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200" b="1" i="0">
                <a:solidFill>
                  <a:srgbClr val="B08D57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7668" y="4352544"/>
            <a:ext cx="2055114" cy="51206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Core systems to connect: ServiceTitan, QStock, Sage Intacct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73134" y="3493008"/>
            <a:ext cx="2567178" cy="148132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9165" y="3730752"/>
            <a:ext cx="2055114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200" b="1" i="0">
                <a:solidFill>
                  <a:srgbClr val="B08D57"/>
                </a:solidFill>
                <a:latin typeface="Cambria"/>
                <a:ea typeface="Cambria"/>
                <a:cs typeface="Cambria"/>
              </a:rPr>
              <a:t>Oct 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9165" y="4352544"/>
            <a:ext cx="2055114" cy="51206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401(k) plan audit deadline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75504"/>
            <a:ext cx="11091672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5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Every month without a documented close is a month of knowledge that lives in one person’s head.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6928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The tax return is ready for your preparer, the 401(k) audit is days away, and Bell Bank's quarterly report is due in November. These do not wait for a hire to ramp.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00800"/>
            <a:ext cx="896112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00" b="0" i="0">
                <a:solidFill>
                  <a:srgbClr val="6E6E6E"/>
                </a:solidFill>
                <a:latin typeface="Calibri"/>
                <a:ea typeface="Calibri"/>
                <a:cs typeface="Calibri"/>
              </a:rPr>
              <a:t>Source: meeting with Marc, Shawn and Josh, and the CFO transition memo. All figures to be confirmed during onboarding.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6E6E6E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WHO WE ARE · THE FIRM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A boutique firm with big-firm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Scottsdale-based. Partner-level work, delivered by the people you actually talk 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83664"/>
            <a:ext cx="3514344" cy="14813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215798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TOP 10 FIRM EXPERIENCE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33472"/>
            <a:ext cx="2965704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Directors and Managers from top 10 national accounting firms — the tier above regional practices.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7304" y="1883664"/>
            <a:ext cx="3514344" cy="14813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337304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11624" y="215798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MULTI-INDUSTRY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33472"/>
            <a:ext cx="2965704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Construction · real estate · property management · professional services · distribution &amp; retail · hospitality.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5968" y="1883664"/>
            <a:ext cx="3514344" cy="14813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125968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00288" y="215798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PRIVATE EQUITY / FAMILY OFFICE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2633472"/>
            <a:ext cx="2965704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PE-backed and private-industry operating experience, including transaction and investor reporting support.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621024"/>
            <a:ext cx="11091672" cy="197510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40480"/>
            <a:ext cx="1050645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HOW THIS ENGAGEMENT IS STAFFED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1247" y="4169663"/>
            <a:ext cx="10506457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4476" y="4334256"/>
            <a:ext cx="0" cy="1078992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841247" y="4370832"/>
            <a:ext cx="146304" cy="146304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115568" y="4334256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US TEAM · MANAGEMENT &amp; STAFF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4663440"/>
            <a:ext cx="4901184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Engagement leadership, the controller and CFO roles, management and bank reporting, and every judgment call. Your day-to-day contacts sit here.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91656" y="4370832"/>
            <a:ext cx="146304" cy="146304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665976" y="4334256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EUROPE · STAFF &amp; GLOBAL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1656" y="4663440"/>
            <a:ext cx="4901184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Reconciliations, schedule preparation and transaction support behind the engagement: a distributed team on our systems and our review process.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Every accountant on the team carries 10+ years. One firm, scaled from transaction detail to the boardroom.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YOUR ENGAGEMENT LEAD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Steven Nikolov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Founder, Principal &amp; Outsourced CFO  ·  steven@onyxcfo.com  ·  (480) 999-5509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83664"/>
            <a:ext cx="6446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BACKGROUND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2194560"/>
            <a:ext cx="6446519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2359152"/>
            <a:ext cx="6446520" cy="3017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900"/>
              </a:spcAft>
              <a:buSzPct val="100000"/>
              <a:buChar char="•"/>
            </a:pPr>
            <a:r>
              <a:rPr sz="11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Top 10 national accounting firm background at Director and Manager level, the tier above regional practices.</a:t>
            </a:r>
          </a:p>
          <a:p>
            <a:pPr algn="l" marL="152704" indent="-152704">
              <a:spcAft>
                <a:spcPts val="900"/>
              </a:spcAft>
              <a:buSzPct val="100000"/>
              <a:buChar char="•"/>
            </a:pPr>
            <a:r>
              <a:rPr sz="11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Outsourced CFO and controller to owner-led and PE-backed companies across distribution and retail, construction, real estate and professional services.</a:t>
            </a:r>
          </a:p>
          <a:p>
            <a:pPr algn="l" marL="152704" indent="-152704">
              <a:spcAft>
                <a:spcPts val="900"/>
              </a:spcAft>
              <a:buSzPct val="100000"/>
              <a:buChar char="•"/>
            </a:pPr>
            <a:r>
              <a:rPr sz="11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Builds books for outside scrutiny: owners, boards, lenders and auditors. The standard does not change, only who is reading.</a:t>
            </a:r>
          </a:p>
          <a:p>
            <a:pPr algn="l" marL="152704" indent="-152704">
              <a:spcAft>
                <a:spcPts val="900"/>
              </a:spcAft>
              <a:buSzPct val="100000"/>
              <a:buChar char="•"/>
            </a:pPr>
            <a:r>
              <a:rPr sz="11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Leads the controller and CFO work personally: close design, management and board reporting, budgeting and forecasting, and lender reporting.</a:t>
            </a:r>
          </a:p>
          <a:p>
            <a:pPr algn="l" marL="152704" indent="-152704">
              <a:spcAft>
                <a:spcPts val="900"/>
              </a:spcAft>
              <a:buSzPct val="100000"/>
              <a:buChar char="•"/>
            </a:pPr>
            <a:r>
              <a:rPr sz="11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Uses automation and AI as controlled tools, with documented human review of every material output.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04688"/>
            <a:ext cx="6446520" cy="475488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5614416"/>
            <a:ext cx="6007608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1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[ Steven to confirm before sending: CPA licence and state, years in practice, and any contractor or ESOP engagements to name. 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60920" y="1883664"/>
            <a:ext cx="4279392" cy="3712463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7360920" y="1883664"/>
            <a:ext cx="4279392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653528" y="2157984"/>
            <a:ext cx="369417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WHY THIS ENGAGEMENT FITS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53528" y="2560320"/>
            <a:ext cx="3694176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An established contractor on Sage Intacct with ServiceTitan and inventory, stepping in after a CFO departure. | A company with an ESOP, an external audit, a bank relationship and a planned S-corp conversion. | A finance team that does not turn over, so the knowledge that just left gets rebuilt and stays.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53528" y="5047488"/>
            <a:ext cx="3694176" cy="0"/>
          </a:xfrm>
          <a:prstGeom prst="line">
            <a:avLst/>
          </a:prstGeom>
          <a:ln w="12700">
            <a:solidFill>
              <a:srgbClr val="3A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653528" y="5193792"/>
            <a:ext cx="3694176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0" i="1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You get the principal on the file, not a hand-off after the sale.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SCOPE 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Finance leadership, with clear lines on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You asked for dependable controller and CFO leadership. That is exactly the scope. Here is the line.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408676" cy="36576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408676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157984"/>
            <a:ext cx="48234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IN SCOPE: WHAT WE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560320"/>
            <a:ext cx="4823460" cy="2834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Drive the monthly close and review reconciliations and journal entries. | Train and support your in-house accountant and review the day-to-day work. | Deliver management and Bell Bank reporting. | Simplify the general ledger, streamline AP, and connect the systems. | Provide CFO reporting, budgeting, forecasting and direction. | Support the 401(k) and financial audits by preparing what they ask for.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1636" y="1920240"/>
            <a:ext cx="5408676" cy="36576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31636" y="1920240"/>
            <a:ext cx="5408676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24244" y="2157984"/>
            <a:ext cx="48234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NOT IN SCOPE: AND WHY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4244" y="2560320"/>
            <a:ext cx="4823460" cy="2468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Signing authority or moving money. Your team keeps every approval and payment. | Tax work or filing any returns. We hand the books to your tax preparer, who files. | Performing the audit. We support it and provide no opinion or assurance. | A forensic or fraud investigation.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24244" y="4901184"/>
            <a:ext cx="4823460" cy="0"/>
          </a:xfrm>
          <a:prstGeom prst="line">
            <a:avLst/>
          </a:prstGeom>
          <a:ln w="12700">
            <a:solidFill>
              <a:srgbClr val="3A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24244" y="5047488"/>
            <a:ext cx="482346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If something looks irregular, we escalate it to you in writing immediately. Investigating it is a separate engagement.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Naming the boundary up front keeps approvals, payments and filings where they belong: with the company and its tax preparer.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WHAT MAKES IT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makes a contractor's books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The six areas where a growing contractor's finance function is won or lost.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8366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212140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JOB COSTING &amp; WIP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57860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SERVICETITAN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81635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Job and project costing, work-in-progress, and tying field activity in ServiceTitan back to the general ledger.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7304" y="188366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37304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611624" y="212140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INVENTORY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1624" y="257860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QSTOCK · SAGE INTACCT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1624" y="281635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Parts and materials inventory in QStock, valued and reconciled into Sage Intacct each month.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5968" y="188366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125968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00288" y="212140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ACCOUNTS PAYABLE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0288" y="257860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BILL.COM · INTACCT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0288" y="281635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The check run and positive-pay file today, moving to a smoother, more automated AP process next.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0390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48640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2959" y="404164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MONTH-END 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449884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SAGE INTACCT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473659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 documented close with reviewed reconciliations, so management and Bell Bank see numbers that tie.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7304" y="380390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4337304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611624" y="404164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PAYROLL &amp; BENEFITS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1624" y="449884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BAMBOOHR · TRAX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1624" y="473659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Weekly payroll and benefit submissions across six carriers, plus the 401(k) and HSA.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25968" y="380390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8125968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400288" y="404164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ESOP &amp; STRUCTURE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00288" y="449884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C-CORP → S-CORP 2028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00288" y="473659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An ESOP, an external audit, and a planned conversion back to an S corporation that has to be modeled and supported.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80644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None of this is exotic. All of it is where a lean team runs out of hours, and where a new hire takes months to learn the business.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6E6E6E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FIRST 90 DAYS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A 30/60/90-day plan, then a steady rhythm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Each phase ends with a check-in with Marc and the leadership team.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65376"/>
            <a:ext cx="2567178" cy="3749039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865376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86384" y="2121408"/>
            <a:ext cx="384048" cy="38404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86384" y="212140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651760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2000"/>
              </a:lnSpc>
              <a:buNone/>
            </a:pPr>
            <a:r>
              <a:rPr sz="13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HANDOVER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980944"/>
            <a:ext cx="209169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Days 1–30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291840"/>
            <a:ext cx="2091690" cy="1536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Capture what the CFO knew before the trail goes cold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Document the close, bank-reporting and systems processes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Review access, Sage Intacct and the chart of accounts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Support the 401(k) audit and the ready tax-return hand-off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6384" y="4901183"/>
            <a:ext cx="2091690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86384" y="5029200"/>
            <a:ext cx="209169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DELIVERABLE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5248656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2000"/>
              </a:lnSpc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Documented close &amp; process map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0138" y="1865376"/>
            <a:ext cx="2567178" cy="3749039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390138" y="1865376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627882" y="2121408"/>
            <a:ext cx="384048" cy="38404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27882" y="212140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7882" y="2651760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2000"/>
              </a:lnSpc>
              <a:buNone/>
            </a:pPr>
            <a:r>
              <a:rPr sz="13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STABILIZE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7882" y="2980944"/>
            <a:ext cx="209169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Days 31–60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27882" y="3291840"/>
            <a:ext cx="2091690" cy="1536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First monthly close driven and reviewed by ONYX | In-house accountant trained and supported | Bell Bank quarterly and management reporting delivered | Gaps and fixes logged with owners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627882" y="4901183"/>
            <a:ext cx="2091690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627882" y="5029200"/>
            <a:ext cx="209169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DELIVERABLE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27882" y="5248656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2000"/>
              </a:lnSpc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Reviewed close &amp; reporting pack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1636" y="1865376"/>
            <a:ext cx="2567178" cy="3749039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231636" y="1865376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469379" y="2121408"/>
            <a:ext cx="384048" cy="38404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69379" y="212140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9379" y="2651760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2000"/>
              </a:lnSpc>
              <a:buNone/>
            </a:pPr>
            <a:r>
              <a:rPr sz="13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SYSTEMS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9379" y="2980944"/>
            <a:ext cx="209169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Days 61–90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9379" y="3291840"/>
            <a:ext cx="2091690" cy="1536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AP streamlined (Bill.com or Intacct) and the GL simplified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ServiceTitan, QStock and Sage Intacct workflows mapped with review controls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Inventory project underway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Budget and forecast framework defined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69379" y="4901183"/>
            <a:ext cx="2091690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469379" y="5029200"/>
            <a:ext cx="209169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DELIVERABLE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9379" y="5248656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2000"/>
              </a:lnSpc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Automation roadmap &amp; KPI pack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73134" y="1865376"/>
            <a:ext cx="2567178" cy="3749039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9073134" y="1865376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9310878" y="2121408"/>
            <a:ext cx="384048" cy="38404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310878" y="212140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10878" y="2651760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2000"/>
              </a:lnSpc>
              <a:buNone/>
            </a:pPr>
            <a:r>
              <a:rPr sz="13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STEADY STATE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10878" y="2980944"/>
            <a:ext cx="209169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Day 91 onward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10878" y="3291840"/>
            <a:ext cx="2091690" cy="1536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Monthly close and reporting rhythm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Budget, forecast and CFO reporting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Direction to the team; S-corp conversion planning for 2028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Team mix adjusted as needs change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310878" y="4901183"/>
            <a:ext cx="2091689" cy="0"/>
          </a:xfrm>
          <a:prstGeom prst="line">
            <a:avLst/>
          </a:prstGeom>
          <a:ln w="12700">
            <a:solidFill>
              <a:srgbClr val="3A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310878" y="5029200"/>
            <a:ext cx="209169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DELIVERABLE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10878" y="5248656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2000"/>
              </a:lnSpc>
              <a:buNone/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finance function run by a team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phases overlap by design. Close support starts in week one, not on day 31.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Six months to a team-run finance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Indicative schedule, confirmed with Marc in the first week.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20440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200400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81580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461540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30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42720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722680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60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03861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983821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90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565001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44961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120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826142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506102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150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087282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767242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180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2377440"/>
            <a:ext cx="11091672" cy="0"/>
          </a:xfrm>
          <a:prstGeom prst="line">
            <a:avLst/>
          </a:prstGeom>
          <a:ln w="1270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48640" y="2377440"/>
            <a:ext cx="11091672" cy="4572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03503" y="2496312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Knowledge transfer &amp; CFO handover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20440" y="2487168"/>
            <a:ext cx="2523743" cy="237744"/>
          </a:xfrm>
          <a:prstGeom prst="roundRect">
            <a:avLst>
              <a:gd name="adj" fmla="val 6000"/>
            </a:avLst>
          </a:prstGeom>
          <a:solidFill>
            <a:srgbClr val="8F7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Connector 22"/>
          <p:cNvCxnSpPr/>
          <p:nvPr/>
        </p:nvCxnSpPr>
        <p:spPr>
          <a:xfrm>
            <a:off x="548640" y="2834640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03503" y="2953512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Close stabilization &amp; documentation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20440" y="2944368"/>
            <a:ext cx="3785616" cy="237744"/>
          </a:xfrm>
          <a:prstGeom prst="roundRect">
            <a:avLst>
              <a:gd name="adj" fmla="val 6000"/>
            </a:avLst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6" name="Connector 25"/>
          <p:cNvCxnSpPr/>
          <p:nvPr/>
        </p:nvCxnSpPr>
        <p:spPr>
          <a:xfrm>
            <a:off x="548640" y="3291840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548640" y="3291840"/>
            <a:ext cx="11091672" cy="4572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03503" y="3410712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Bell Bank &amp; management reporting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82312" y="3401568"/>
            <a:ext cx="3785615" cy="237744"/>
          </a:xfrm>
          <a:prstGeom prst="roundRect">
            <a:avLst>
              <a:gd name="adj" fmla="val 6000"/>
            </a:avLst>
          </a:prstGeom>
          <a:solidFill>
            <a:srgbClr val="CBB3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0" name="Connector 29"/>
          <p:cNvCxnSpPr/>
          <p:nvPr/>
        </p:nvCxnSpPr>
        <p:spPr>
          <a:xfrm>
            <a:off x="548640" y="3749039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03503" y="3867911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AP, GL &amp; systems optimization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44183" y="3858768"/>
            <a:ext cx="3785616" cy="237744"/>
          </a:xfrm>
          <a:prstGeom prst="roundRect">
            <a:avLst>
              <a:gd name="adj" fmla="val 6000"/>
            </a:avLst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Connector 32"/>
          <p:cNvCxnSpPr/>
          <p:nvPr/>
        </p:nvCxnSpPr>
        <p:spPr>
          <a:xfrm>
            <a:off x="548640" y="4206240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548640" y="4206240"/>
            <a:ext cx="11091672" cy="4572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03503" y="4325112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Inventory project (QStock)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06056" y="4315968"/>
            <a:ext cx="2523744" cy="237744"/>
          </a:xfrm>
          <a:prstGeom prst="roundRect">
            <a:avLst>
              <a:gd name="adj" fmla="val 6000"/>
            </a:avLst>
          </a:prstGeom>
          <a:solidFill>
            <a:srgbClr val="8F7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7" name="Connector 36"/>
          <p:cNvCxnSpPr/>
          <p:nvPr/>
        </p:nvCxnSpPr>
        <p:spPr>
          <a:xfrm>
            <a:off x="548640" y="4663440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03503" y="4782312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Ongoing controller &amp; CFO work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06056" y="4773168"/>
            <a:ext cx="3785615" cy="237744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0" name="Connector 39"/>
          <p:cNvCxnSpPr/>
          <p:nvPr/>
        </p:nvCxnSpPr>
        <p:spPr>
          <a:xfrm>
            <a:off x="548640" y="5120640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48640" y="5376672"/>
            <a:ext cx="11091672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KEY CHECKPOINTS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669280"/>
            <a:ext cx="128016" cy="12801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86384" y="5632704"/>
            <a:ext cx="18196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DAY 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" y="5870448"/>
            <a:ext cx="1819656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Kickoff, access</a:t>
            </a:r>
          </a:p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&amp; discovery materials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07208" y="5669280"/>
            <a:ext cx="128016" cy="12801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044952" y="5632704"/>
            <a:ext cx="18196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DAY 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44952" y="5870448"/>
            <a:ext cx="1819656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Close &amp; systems</a:t>
            </a:r>
          </a:p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processes documented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65776" y="5669280"/>
            <a:ext cx="128016" cy="12801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303520" y="5632704"/>
            <a:ext cx="18196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DAY 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0" y="5870448"/>
            <a:ext cx="1819656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First ONYX-reviewed</a:t>
            </a:r>
          </a:p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close &amp; reporting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24344" y="5669280"/>
            <a:ext cx="128016" cy="12801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562088" y="5632704"/>
            <a:ext cx="18196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DAY 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62088" y="5870448"/>
            <a:ext cx="1819656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Automation roadmap</a:t>
            </a:r>
          </a:p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&amp; KPI pack agreed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582912" y="5669280"/>
            <a:ext cx="128016" cy="12801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9820656" y="5632704"/>
            <a:ext cx="18196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DAY 180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20656" y="5870448"/>
            <a:ext cx="1819656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Steady, team-run</a:t>
            </a:r>
          </a:p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finance function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382512"/>
            <a:ext cx="1042416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Assumes a start in October 2026 and system access from day 1. The 401(k) audit (Oct 15) and the Bell Bank Q3 report (Nov 14) fall inside the first weeks.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WHAT YOU RECEIVE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Documented, reviewed and owned by a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Delivered as one shared file, not knowledge in one person’s head.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01952"/>
            <a:ext cx="3514344" cy="283464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NUMBERS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59" y="2542032"/>
            <a:ext cx="2965705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59" y="2706624"/>
            <a:ext cx="2965704" cy="17739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Monthly close on Sage Intacct | Reconciliations reviewed by a second person | Job-costing and inventory tied to the ledger | AP and positive-pay run supported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7304" y="1901952"/>
            <a:ext cx="3514344" cy="283464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37304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611624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REPORTING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611624" y="2542032"/>
            <a:ext cx="2965704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611624" y="2706624"/>
            <a:ext cx="2965704" cy="17739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Management reporting each month | Bell Bank quarterly package | Budget and forecast | KPI dashboard | CFO-level analysis and direction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5968" y="1901952"/>
            <a:ext cx="3514344" cy="283464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125968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00288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MACHINE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00288" y="2542032"/>
            <a:ext cx="2965704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00288" y="2706624"/>
            <a:ext cx="2965704" cy="17739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Documented close calendar and checklist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Process notes for every recurring task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Automation roadmap with review controls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Simplified chart of accounts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Open-items tracker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974336"/>
            <a:ext cx="11091672" cy="74980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48640" y="4974336"/>
            <a:ext cx="11091672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38928"/>
            <a:ext cx="105064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HANDOVER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5376672"/>
            <a:ext cx="105064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One shared file: every report tied to the ledger, every process written down, every recurring task with a named owner.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Everything is built so that a new controller, your in-house accountant or a lender can pick it up cold.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INVESTMENT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Fees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Hourly at published rates, with the mix of people set by the structure you choose. Change the mix at any time by email.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11091672" cy="365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13232" y="2002536"/>
            <a:ext cx="2807208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76472" y="2002536"/>
            <a:ext cx="3995928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WHAT IT COVERS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28431" y="2002536"/>
            <a:ext cx="1527048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BASIS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2002536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9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HOURLY RATES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11091672" cy="51206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" y="2441448"/>
            <a:ext cx="280720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Option 1  ·  CFO + controller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6472" y="2450592"/>
            <a:ext cx="399592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Full finance leadership: a CFO lead and an ONYX controller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450592"/>
            <a:ext cx="152704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Hourly, as incurred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6920" y="2432304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10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$275 + $185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798064"/>
            <a:ext cx="11091672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13232" y="2953512"/>
            <a:ext cx="280720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Option 2  ·  Controller-led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6472" y="2962656"/>
            <a:ext cx="399592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ONYX controller leads the function, CFO oversight as requested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28431" y="2962656"/>
            <a:ext cx="152704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Hourly, as incurred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20" y="2944368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10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$185 + $275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310128"/>
            <a:ext cx="11091672" cy="51206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13232" y="3465576"/>
            <a:ext cx="280720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Option 3  ·  Staff augmentation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3474720"/>
            <a:ext cx="399592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ONYX staff add capacity to your team under controller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8431" y="3474720"/>
            <a:ext cx="152704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Hourly, as incurred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3456432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10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$100 + $185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822191"/>
            <a:ext cx="11091672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13232" y="3977639"/>
            <a:ext cx="280720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Onboarding  ·  First 90 days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3986783"/>
            <a:ext cx="399592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Knowledge transfer, close stabilization, automation roadmap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28431" y="3986783"/>
            <a:ext cx="152704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Hourly, as incurred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3968496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10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Same rates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334256"/>
            <a:ext cx="11091672" cy="438912"/>
          </a:xfrm>
          <a:prstGeom prst="rect">
            <a:avLst/>
          </a:prstGeom>
          <a:solidFill>
            <a:srgbClr val="EFE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3232" y="446227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Staff · Controller · CFO, guaranteed through December 31,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46920" y="4453128"/>
            <a:ext cx="199339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300" b="1" i="0">
                <a:solidFill>
                  <a:srgbClr val="8F7346"/>
                </a:solidFill>
                <a:latin typeface="Cambria"/>
                <a:ea typeface="Cambria"/>
                <a:cs typeface="Cambria"/>
              </a:rPr>
              <a:t>$100 · $185 · $275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010912"/>
            <a:ext cx="11091672" cy="7863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48640" y="5010912"/>
            <a:ext cx="11091672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22959" y="5175504"/>
            <a:ext cx="603504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RETAINER &amp; BILLING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" y="5394960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5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 $3,000 retainer starts the engagement, applied to the final invoice. Invoices every two weeks, net 7, with time detail by person and task.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5248656"/>
            <a:ext cx="286207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No lock-in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980176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spcAft>
                <a:spcPts val="300"/>
              </a:spcAft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Pause, scale back or change the mix at any time by email. No re-signing, no minimum term.  ·  Weekly progress-and-budget updates during onboarding. | Not included: tax returns or filings, which your tax preparer handles; we support the audit but do not perform it.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BEYOND ONBOARDING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you get every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Onboarding is a milestone. The monthly rhythm is the job.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2194560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A CLOSE THAT RUNS ON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70048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Books closed on a set calendar each month, reviewed by someone other than the preparer, without anyone chasing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7304" y="1920240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337304" y="1920240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11624" y="2194560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JOB COSTING &amp; INVENTORY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70048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Job, project and inventory results tied to the ledger, reviewed and explained.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5968" y="1920240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125968" y="1920240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00288" y="2194560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MANAGEMENT &amp; BANK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2670048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Monthly management reporting and the Bell Bank quarterly package, delivered on time.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803904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48640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59" y="407822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BUDGET, FORECAST &amp; DIRECTION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553712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 driver-based budget and forecast, and CFO-level direction for the finance team.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7304" y="3803904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4337304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611624" y="407822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CONNECTED SYSTEMS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1624" y="4553712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ServiceTitan, QStock and Sage Intacct connected, with less manual work and review controls.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5968" y="3803904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8125968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00288" y="407822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CONTROLS WITH HUMAN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00288" y="4553712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Automation and AI used as tools, never as the final word. Every material output is verified.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833872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Most of our clients blend all three levels (staff, controller and CFO) and adjust the mix as needs change. That range is what a single new hire cannot offer.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6E6E6E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WHY ONYX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Why this firm, for this engagement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Three things that decide whether this transition goes well.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01952"/>
            <a:ext cx="3514344" cy="181051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578608"/>
            <a:ext cx="2965704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Staff accountant through CFO under one roof. If a person changes, the team and the file do not, and you keep the same senior contact. Nothing is lost in a hand-off.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7304" y="1901952"/>
            <a:ext cx="3514344" cy="181051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337304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11624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DISCIPLINE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578608"/>
            <a:ext cx="2965704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Perform and review, every time: the person who prepares a number is never the one who signs off on it. It is how professional-services firms control quality, and how we run your close.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5968" y="1901952"/>
            <a:ext cx="3514344" cy="181051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125968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00288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PARTNERSHIP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2578608"/>
            <a:ext cx="2965704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We work alongside your in-house accountant, tax preparer, auditor, counsel and Bell Bank. We support those relationships rather than compete with them, and keep approvals with you.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315968"/>
            <a:ext cx="11091672" cy="133502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48640" y="4315968"/>
            <a:ext cx="11091672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1247" y="4535424"/>
            <a:ext cx="1050645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WHAT WE ASK OF YOU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7" y="4882896"/>
            <a:ext cx="118872" cy="11887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41247" y="5102352"/>
            <a:ext cx="247573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 named internal owner, with the outgoing CFO available during the handover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18154" y="4882896"/>
            <a:ext cx="118872" cy="11887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518154" y="5102352"/>
            <a:ext cx="247573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Access to Sage Intacct, ServiceTitan, QStock, payroll and bank portals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5060" y="4882896"/>
            <a:ext cx="118872" cy="11887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195060" y="5102352"/>
            <a:ext cx="247573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Timely answers and approvals from the practice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71966" y="4882896"/>
            <a:ext cx="118872" cy="11887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871966" y="5102352"/>
            <a:ext cx="247573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Management keeps approvals and owns the financial statements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None of it is unusual. All of it is what keeps the transition on schedule.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How we start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011680"/>
            <a:ext cx="566928" cy="566928"/>
          </a:xfrm>
          <a:prstGeom prst="ellipse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98064"/>
            <a:ext cx="245745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35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Leadership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82112"/>
            <a:ext cx="245745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Share this proposal with Marc, Shawn and Josh. We are glad to join or answer questions beforehand.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61872" y="2295144"/>
            <a:ext cx="1981962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3390138" y="2011680"/>
            <a:ext cx="566928" cy="566928"/>
          </a:xfrm>
          <a:prstGeom prst="ellipse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390138" y="20116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0138" y="2798064"/>
            <a:ext cx="245745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35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Choose &amp; 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0138" y="3182112"/>
            <a:ext cx="245745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Pick a starting option and sign the engagement letter. You can change the mix later by email.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03370" y="2295144"/>
            <a:ext cx="1981961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6231636" y="2011680"/>
            <a:ext cx="566928" cy="566928"/>
          </a:xfrm>
          <a:prstGeom prst="ellipse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31636" y="20116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1636" y="2798064"/>
            <a:ext cx="245745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35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Grant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1636" y="3182112"/>
            <a:ext cx="245745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Sage Intacct, ServiceTitan, QStock, BambooHR and TRAX payroll, the Bell Bank portal, the close checklist and the 401(k) audit items.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44868" y="2295144"/>
            <a:ext cx="1981962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9073134" y="2011680"/>
            <a:ext cx="566928" cy="566928"/>
          </a:xfrm>
          <a:prstGeom prst="ellipse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073134" y="20116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3134" y="2798064"/>
            <a:ext cx="245745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35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Kickoff · day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3134" y="3182112"/>
            <a:ext cx="245745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Knowledge capture begins in the first week, with weekly updates from day one.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443984"/>
            <a:ext cx="11091672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7" y="4626864"/>
            <a:ext cx="1050645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STANDING OFFER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7" y="4864608"/>
            <a:ext cx="10506456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 complimentary accounting and treasury review each quarter with you and your executive board, for as long as we work together.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5577840"/>
            <a:ext cx="11091672" cy="0"/>
          </a:xfrm>
          <a:prstGeom prst="line">
            <a:avLst/>
          </a:prstGeom>
          <a:ln w="12700">
            <a:solidFill>
              <a:srgbClr val="3A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5760720"/>
            <a:ext cx="3749039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spcAft>
                <a:spcPts val="2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Steven Nikolov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0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Founder, Principal &amp; Outsourced CFO</a:t>
            </a:r>
          </a:p>
          <a:p>
            <a:pPr algn="l" marL="0" indent="0">
              <a:buNone/>
            </a:pPr>
            <a:r>
              <a:rPr sz="105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steven@onyxcfo.com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5760720"/>
            <a:ext cx="3749039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spcAft>
                <a:spcPts val="2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Josephine Mack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0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Chief of Staff &amp; Client Relations</a:t>
            </a:r>
          </a:p>
          <a:p>
            <a:pPr algn="l" marL="0" indent="0">
              <a:buNone/>
            </a:pPr>
            <a:r>
              <a:rPr sz="105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jmack@onyxcfo.com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5760720"/>
            <a:ext cx="3319272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spcAft>
                <a:spcPts val="2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Onyx Accounting Group</a:t>
            </a:r>
          </a:p>
          <a:p>
            <a:pPr algn="r" marL="0" indent="0">
              <a:spcAft>
                <a:spcPts val="100"/>
              </a:spcAft>
              <a:buNone/>
            </a:pPr>
            <a:r>
              <a:rPr sz="10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14614 N Kierland Blvd, Suite N220</a:t>
            </a:r>
          </a:p>
          <a:p>
            <a:pPr algn="r" marL="0" indent="0">
              <a:spcAft>
                <a:spcPts val="100"/>
              </a:spcAft>
              <a:buNone/>
            </a:pPr>
            <a:r>
              <a:rPr sz="10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Scottsdale, AZ 85254  ·  (480) 999-5509</a:t>
            </a:r>
          </a:p>
          <a:p>
            <a:pPr algn="r" marL="0" indent="0">
              <a:buNone/>
            </a:pPr>
            <a:r>
              <a:rPr sz="10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onyxcfo.com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ONYX Proposal: Arizona Center for Hand to Shoulder Surgery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