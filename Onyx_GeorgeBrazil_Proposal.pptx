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66928"/>
            <a:ext cx="1219196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7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719072"/>
            <a:ext cx="12191969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400" b="1" i="0" spc="34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ACCOUNTING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84831"/>
            <a:ext cx="1219196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2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Bookkeeping, Controller &amp; CFO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6048" y="2615184"/>
            <a:ext cx="2286000" cy="0"/>
          </a:xfrm>
          <a:prstGeom prst="line">
            <a:avLst/>
          </a:prstGeom>
          <a:ln w="12700">
            <a:solidFill>
              <a:srgbClr val="8F7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2852928"/>
            <a:ext cx="12191969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5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Finance leadership your team can count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29584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PREPARED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03904"/>
            <a:ext cx="1219196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9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AJAC, INC. DBA GEORGE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06240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1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Plumbing · Electrical · ESOP-owned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791456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108192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14614 N Kierland Blvd, Suite N220  ·  Scottsdale, AZ 85254  ·  (480) 999-5509  ·  onyxcfo.com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00800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95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finance team to fill the CFO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What we understand George Brazil needs from this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One consistent, senior finance contact after your CFO's sudden departure, with his knowledge captured and rebuilt as a documented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138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6170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CONTROLLER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6170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 controller who drives the monthly close and reviews the work, training and backing up your in-house accountant.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1636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7668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REPORTING &amp; CFO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7668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and Bell Bank reporting, budgeting and forecasting, and CFO-level direction for the team.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3134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073134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9165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SYSTEMS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9165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Less manual work between ServiceTitan, QStock and Sage Intacct, with review controls built 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43984"/>
            <a:ext cx="11091672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48640" y="4443984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4700016"/>
            <a:ext cx="1036015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THE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974336"/>
            <a:ext cx="1036015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1400" b="0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dependable, documented finance function on Sage Intacct, led by a team that does not turn over, scaling from controller support to CFO guidance as you grow and convert back to an S corporation in 2028.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CFO left on short notice. The answer is a team, not another single point of failure.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35 years of growth, a sudden finance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Drawn from our meeting with Marc, Shawn and Josh, and the CFO transition notes.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11091672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81328" y="2139696"/>
            <a:ext cx="962863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1550" b="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CFO who ran the finance function is gone as of October 2. Your in-house accountant handles the day-to-day and needs training and review; the books, reporting and systems need a steady hand 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871216"/>
            <a:ext cx="962863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What we heard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CFO's last day — the finance gap is 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138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46170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6170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Founded — employee-owned (ESOP)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87668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Core systems to connect: ServiceTitan, QStock, Sage Intacct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73134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9165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9165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401(k) plan audit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75504"/>
            <a:ext cx="1109167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month without a documented close is a month of knowledge that lives in one person’s head.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The tax return is ready for your preparer, the 401(k) audit is days away, and Bell Bank's quarterly report is due in November. These do not wait for a hire to ramp.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9611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Source: meeting with Marc, Shawn and Josh, and the CFO transition memo. All figures to be confirmed during onboarding.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WHO WE ARE · THE FIRM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boutique firm with big-firm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Scottsdale-based. Partner-level work, delivered by the people you actually talk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TOP 10 FIRM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Directors and Managers from top 10 national accounting firms — the tier above regional practices.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MULTI-INDUSTRY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Construction · real estate · property management · professional services · distribution &amp; retail · hospitality.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PRIVATE EQUITY / FAMILY 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PE-backed and private-industry operating experience, including transaction and investor reporting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21024"/>
            <a:ext cx="11091672" cy="197510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40480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HOW THIS ENGAGEMENT IS STAFFED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7" y="4169663"/>
            <a:ext cx="10506457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4476" y="4334256"/>
            <a:ext cx="0" cy="1078992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41247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US TEAM · MANAGEMENT &amp; STAFF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Engagement leadership, the controller and CFO roles, and every judgment call. Scottsdale-based, and on-site in Phoenix for onboarding and training your team.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65976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EUROPE · STAFF &amp; GLOBAL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Reconciliations, schedule preparation and transaction support behind the engagement: a distributed team on our systems and our review process.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 accountant on the team carries 10+ years. One firm, scaled from transaction detail to the boardroom.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ENGAGEMENT 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Steven Nikolov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Founder, Principal &amp; Outsourced CFO  ·  steven@onyxcfo.com  ·  (480) 999-5509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83664"/>
            <a:ext cx="6446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BACKGROUND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194560"/>
            <a:ext cx="6446519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359152"/>
            <a:ext cx="644652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Top 10 national accounting firm background at Director and Manager level, the tier above regional practices.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Outsourced CFO and controller to owner-led and PE-backed companies across distribution and retail, construction, real estate and professional services.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Builds books for outside scrutiny: owners, boards, lenders and auditors. The standard does not change, only who is reading.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Leads the controller and CFO work personally: close design, management and board reporting, budgeting and forecasting, and lender reporting.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Uses automation and AI as controlled tools, with documented human review of every material output.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04688"/>
            <a:ext cx="6446520" cy="47548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5614416"/>
            <a:ext cx="600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1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[ Steven to confirm before sending: CPA licence and state, years in practice, and any contractor or ESOP engagements to name.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1883664"/>
            <a:ext cx="4279392" cy="3712463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60920" y="1883664"/>
            <a:ext cx="427939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53528" y="2157984"/>
            <a:ext cx="36941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THIS ENGAGEMENT 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2560320"/>
            <a:ext cx="3694176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established contractor on Sage Intacct with ServiceTitan and inventory, stepping in after a CFO departure. | A company with an ESOP, an external audit, a bank relationship and a planned S-corp conversion. | A finance team that does not turn over, so the knowledge that just left gets rebuilt and stays.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53528" y="5047488"/>
            <a:ext cx="3694176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53528" y="5193792"/>
            <a:ext cx="3694176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0" i="1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You get the principal on the file, not a hand-off after the sale.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SCOPE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Finance leadership, with clear lines on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You asked for dependable controller and CFO leadership. That is exactly the scope. Here is the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08676" cy="3657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 SCOPE: WHAT WE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60320"/>
            <a:ext cx="4823460" cy="2834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Drive the monthly close and review reconciliations and journal entries. | Train and support your in-house accountant and review the day-to-day work. | Deliver management and Bell Bank reporting. | Simplify the general ledger, streamline AP, and connect the systems. | Provide CFO reporting, budgeting, forecasting and direction. | Support the 401(k) and financial audits by preparing what they ask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920240"/>
            <a:ext cx="5408676" cy="3657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1636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24244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NOT IN SCOPE: AND 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244" y="2560320"/>
            <a:ext cx="482346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Signing authority or moving money. Your team keeps every approval and payment. | Tax work or filing any returns. We hand the books to your tax preparer, who files. | Performing the audit. We support it and provide no opinion or assurance. | A forensic or fraud investigation.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24244" y="4901184"/>
            <a:ext cx="4823460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24244" y="5047488"/>
            <a:ext cx="482346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If something looks irregular, we escalate it to you in writing immediately. Investigating it is a separate engagement.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Naming the boundary up front keeps approvals, payments and filings where they belong: with the company and its tax preparer.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makes a contractor's books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The six areas where a growing contractor's finance function is won or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WIP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SERVICETITAN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 and project costing, work-in-progress, and tying field activity in ServiceTitan back to the general ledger.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1624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QSTOCK · SAGE INTACCT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1624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Parts and materials inventory in QStock, valued and reconciled into Sage Intacct each month.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ACCOUNTS PAYABLE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BILL.COM · INTACCT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check run and positive-pay file today, moving to a smoother, more automated AP process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59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MONTH-END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SAGE INTACCT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documented close with reviewed reconciliations, so management and Bell Bank see numbers that tie.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7304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11624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PAYROLL &amp; BENEFITS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1624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BAMBOOHR · TRAX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1624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Weekly payroll and benefit submissions across six carriers, plus the 401(k) and HSA.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5968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00288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ESOP &amp;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0288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C-CORP → S-CORP 2028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0288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ESOP, an external audit, and a planned conversion back to an S corporation that has to be modeled and supported.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0644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None of this is exotic. All of it is where a lean team runs out of hours, and where a new hire takes months to learn the business.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FIRST 90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30/60/90-day plan, then a steady rhythm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Each phase ends with a check-in with Marc and the leadership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1–30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On-site in Phoenix to onboard and begin training Ian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Capture what the CFO knew, before the trail goes cold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 the close, bank-reporting and systems processes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Review access and Sage Intacct, and support the 401(k) audit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Documented close &amp; process 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138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90138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7882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STABILIZE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882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31–60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7882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monthly close driven and reviewed by ONYX | In-house accountant trained and supported | Bell Bank quarterly and management reporting delivered | Gaps and fixes logged with owners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27882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27882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7882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Reviewed close &amp; reporting pack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31636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9379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9379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61–90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9379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AP streamlined (Bill.com or Intacct) and the GL simplified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ServiceTitan, QStock and Sage Intacct workflows mapped with review controls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Inventory project underway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Budget and forecast framework defined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69379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69379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79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Automation roadmap &amp; KPI pack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73134" y="1865376"/>
            <a:ext cx="2567178" cy="3749039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073134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0878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STEADY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0878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Day 91 onward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0878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close and reporting rhythm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Budget, forecast and CFO reporting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Direction to the team; S-corp conversion planning for 2028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Team mix adjusted as needs change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10878" y="4901183"/>
            <a:ext cx="2091689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10878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0878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finance function run by a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phases overlap by design. Close support starts in week one, not on day 31.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Six months to a team-run finance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Indicative schedule, confirmed with Marc in the first week.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2044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0040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8158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6154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4272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2268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0386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8382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6500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4496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2614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50610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150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08728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76724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377440"/>
            <a:ext cx="11091672" cy="0"/>
          </a:xfrm>
          <a:prstGeom prst="line">
            <a:avLst/>
          </a:prstGeom>
          <a:ln w="1270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23774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3503" y="2496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On-site onboarding &amp; knowledge capture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2487168"/>
            <a:ext cx="2523743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548640" y="2834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3" y="29535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Close stabilization &amp; documentation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9443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548640" y="32918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48640" y="32918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3503" y="34107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Bell Bank &amp; management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4015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CBB3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548640" y="3749039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3503" y="3867911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AP, GL &amp; systems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44183" y="38587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548640" y="42062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3503" y="43251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Inventory project (QStock)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06056" y="4315968"/>
            <a:ext cx="2523744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548640" y="46634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3503" y="4782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Ongoing controller &amp; CFO work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06056" y="47731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548640" y="5120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537667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KEY CHECKPOINTS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86384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Kickoff, access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discovery materials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7208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044952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44952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systems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processes documented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65776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303520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ONYX-reviewed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reporting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24344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562088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KPI pack agreed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82912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820656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0656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Steady, team-run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finance function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104241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Assumes a start in October 2026 and system access from day 1. The 401(k) audit (Oct 15) and the Bell Bank Q3 report (Nov 14) fall inside the first weeks.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WHAT YOU RECEIVE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Documented, reviewed and owned by a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Delivered as one shared file, not knowledge in one person’s 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NUMBERS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59" y="2542032"/>
            <a:ext cx="2965705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Monthly close on Sage Intacct | Reconciliations reviewed by a second person | Job-costing and inventory tied to the ledger | AP and positive-pay run supported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REPORTING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1624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11624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reporting each month | Bell Bank quarterly package | Budget and forecast | KPI dashboard | CFO-level analysis and direction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MACHINE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00288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00288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Documented close calendar and checklist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 notes for every recurring task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 with review controls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Simplified chart of accounts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Open-items tracker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74336"/>
            <a:ext cx="11091672" cy="7498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4974336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38928"/>
            <a:ext cx="105064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HANDOVER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5376672"/>
            <a:ext cx="105064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One shared file: every report tied to the ledger, every process written down, every recurring task with a named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Everything is built so that a new controller, your in-house accountant or a lender can pick it up cold.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 at published rates, with the mix of people set by the structure you choose. Change the mix at any time by email.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002536"/>
            <a:ext cx="280720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2002536"/>
            <a:ext cx="399592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IT 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1" y="2002536"/>
            <a:ext cx="152704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0025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HOURLY RATES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1  ·  CFO +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450592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Full finance leadership: a CFO lead and an ONYX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450592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4323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$275 + $185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9806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2953512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2  ·  Controller-led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962656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controller leads the function, CFO oversight as requested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1" y="2962656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944368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$185 + $275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310128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3465576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3  ·  Staff augmentation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3474720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staff add capacity to your team under controller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1" y="3474720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45643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$100 + $185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22191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3232" y="3977639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Onboarding  ·  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986783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Knowledge transfer, close stabilization, automation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986783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968496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Same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34256"/>
            <a:ext cx="11091672" cy="438912"/>
          </a:xfrm>
          <a:prstGeom prst="rect">
            <a:avLst/>
          </a:prstGeom>
          <a:solidFill>
            <a:srgbClr val="EF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446227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Staff · Controller · CFO, guaranteed through December 31,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4453128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300" b="1" i="0">
                <a:solidFill>
                  <a:srgbClr val="8F7346"/>
                </a:solidFill>
                <a:latin typeface="Cambria"/>
                <a:ea typeface="Cambria"/>
                <a:cs typeface="Cambria"/>
              </a:rPr>
              <a:t>$100 · $185 · $275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1091672" cy="7863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8640" y="5010912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59" y="5175504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RETAINER &amp; BILLING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53949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$3,000 retainer starts the engagement, applied to the final invoice. Invoices every two weeks, net 7, with time detail by person and task.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248656"/>
            <a:ext cx="2862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No lock-in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0176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Pause, scale back or change the mix at any time by email. No re-signing, no minimum term.  ·  Weekly progress-and-budget updates during onboarding. | Not included: tax returns or filings, which your tax preparer handles; we support the audit but do not perform 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BEYOND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you get every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Onboarding is a milestone. The monthly rhythm is the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 CLOSE THAT RUNS ON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Books closed on a set calendar each month, reviewed by someone other than the preparer, without anyone chasing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Job, project and inventory results tied to the ledger, reviewed and explained.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MANAGEMENT &amp; BANK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management reporting and the Bell Bank quarterly package, delivered on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BUDGET, FORECAST &amp;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driver-based budget and forecast, and CFO-level direction for the finance 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7304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11624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CONNECTED SYSTEMS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1624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ServiceTitan, QStock and Sage Intacct connected, with less manual work and review controls.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5968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00288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CONTROLS WITH 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0288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Automation and AI used as tools, never as the final word. Every material output is verified.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33872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Most of our clients blend all three levels (staff, controller and CFO) and adjust the mix as needs change. That range is what a single new hire cannot offer.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WHY 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Why this firm, for this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Three things that decide whether this transition goes well.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Staff accountant through CFO under one roof. If a person changes, the team and the file do not, and you keep the same senior contact. Nothing is lost in a hand-off.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Perform and review, every time: the person who prepares a number is never the one who signs off on it. It is how professional-services firms control quality, and how we run your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PARTNERSHIP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We work alongside your in-house accountant, tax preparer, auditor, counsel and Bell Bank. We support those relationships rather than compete with them, and keep approvals with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15968"/>
            <a:ext cx="11091672" cy="13350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7" y="453542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WE ASK OF YOU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7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named internal owner for the engagement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18154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18154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Access to Sage Intacct, ServiceTitan, QStock, payroll and bank portals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60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5060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Timely answers and approvals from the practice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1966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871966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Management keeps approvals and owns the financial statements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None of it is unusual. All of it is what keeps the transition on schedule.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How we start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Share this proposal with Marc, Shawn and Josh. We are glad to join or answer questions beforehand.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61872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390138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90138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138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Choose &amp;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138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Pick a starting option and sign the engagement letter. You can change the mix later by email.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03370" y="2295144"/>
            <a:ext cx="1981961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231636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31636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1636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Grant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Sage Intacct, ServiceTitan, QStock, BambooHR and TRAX payroll, the Bell Bank portal, the close checklist and the 401(k) audit items.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4868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073134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73134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3134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Kickoff ·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3134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Knowledge capture begins in the first week, with weekly updates from day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43984"/>
            <a:ext cx="11091672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548640" y="5577840"/>
            <a:ext cx="11091672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76072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spcAft>
                <a:spcPts val="2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 Accounting Group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14614 N Kierland Blvd, Suite N220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Scottsdale, AZ 85254  ·  (480) 999-5509</a:t>
            </a:r>
          </a:p>
          <a:p>
            <a:pPr algn="r" marL="0" indent="0"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onyxcfo.com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ONYX Proposal: Arizona Center for Hand to Shoulder Surgery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