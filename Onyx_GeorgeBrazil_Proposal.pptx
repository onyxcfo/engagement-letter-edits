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0" y="566928"/>
            <a:ext cx="12191969" cy="1188720"/>
          </a:xfrm>
          <a:prstGeom prst="rect">
            <a:avLst/>
          </a:prstGeom>
          <a:noFill/>
        </p:spPr>
        <p:txBody>
          <a:bodyPr wrap="square" lIns="0" tIns="0" rIns="0" bIns="0" anchor="t"/>
          <a:lstStyle/>
          <a:p>
            <a:pPr algn="ctr" marL="0" indent="0">
              <a:buNone/>
            </a:pPr>
            <a:r>
              <a:rPr sz="7400" b="1" i="0">
                <a:solidFill>
                  <a:srgbClr val="FFFFFF"/>
                </a:solidFill>
                <a:latin typeface="Cambria"/>
                <a:ea typeface="Cambria"/>
                <a:cs typeface="Cambria"/>
              </a:rPr>
              <a:t>ONYX</a:t>
            </a:r>
          </a:p>
        </p:txBody>
      </p:sp>
      <p:sp>
        <p:nvSpPr>
          <p:cNvPr id="3" name="TextBox 2"/>
          <p:cNvSpPr txBox="1"/>
          <p:nvPr/>
        </p:nvSpPr>
        <p:spPr>
          <a:xfrm>
            <a:off x="0" y="1719072"/>
            <a:ext cx="12191969" cy="310896"/>
          </a:xfrm>
          <a:prstGeom prst="rect">
            <a:avLst/>
          </a:prstGeom>
          <a:noFill/>
        </p:spPr>
        <p:txBody>
          <a:bodyPr wrap="square" lIns="0" tIns="0" rIns="0" bIns="0" anchor="t"/>
          <a:lstStyle/>
          <a:p>
            <a:pPr algn="ctr" marL="0" indent="0">
              <a:buNone/>
            </a:pPr>
            <a:r>
              <a:rPr sz="1400" b="1" i="0" spc="340">
                <a:solidFill>
                  <a:srgbClr val="B08D57"/>
                </a:solidFill>
                <a:latin typeface="Calibri"/>
                <a:ea typeface="Calibri"/>
                <a:cs typeface="Calibri"/>
              </a:rPr>
              <a:t>ACCOUNTING GROUP</a:t>
            </a:r>
          </a:p>
        </p:txBody>
      </p:sp>
      <p:sp>
        <p:nvSpPr>
          <p:cNvPr id="4" name="TextBox 3"/>
          <p:cNvSpPr txBox="1"/>
          <p:nvPr/>
        </p:nvSpPr>
        <p:spPr>
          <a:xfrm>
            <a:off x="0" y="2084831"/>
            <a:ext cx="12191969" cy="292608"/>
          </a:xfrm>
          <a:prstGeom prst="rect">
            <a:avLst/>
          </a:prstGeom>
          <a:noFill/>
        </p:spPr>
        <p:txBody>
          <a:bodyPr wrap="square" lIns="0" tIns="0" rIns="0" bIns="0" anchor="t"/>
          <a:lstStyle/>
          <a:p>
            <a:pPr algn="ctr" marL="0" indent="0">
              <a:buNone/>
            </a:pPr>
            <a:r>
              <a:rPr sz="1250" b="0" i="0">
                <a:solidFill>
                  <a:srgbClr val="C9C9C9"/>
                </a:solidFill>
                <a:latin typeface="Calibri"/>
                <a:ea typeface="Calibri"/>
                <a:cs typeface="Calibri"/>
              </a:rPr>
              <a:t>Bookkeeping, Controller &amp; CFO Services</a:t>
            </a:r>
          </a:p>
        </p:txBody>
      </p:sp>
      <p:cxnSp>
        <p:nvCxnSpPr>
          <p:cNvPr id="5" name="Connector 4"/>
          <p:cNvCxnSpPr/>
          <p:nvPr/>
        </p:nvCxnSpPr>
        <p:spPr>
          <a:xfrm>
            <a:off x="4956048" y="2615184"/>
            <a:ext cx="2286000" cy="0"/>
          </a:xfrm>
          <a:prstGeom prst="line">
            <a:avLst/>
          </a:prstGeom>
          <a:ln w="12700">
            <a:solidFill>
              <a:srgbClr val="8F7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0" y="2852928"/>
            <a:ext cx="12191969" cy="347472"/>
          </a:xfrm>
          <a:prstGeom prst="rect">
            <a:avLst/>
          </a:prstGeom>
          <a:noFill/>
        </p:spPr>
        <p:txBody>
          <a:bodyPr wrap="square" lIns="0" tIns="0" rIns="0" bIns="0" anchor="t"/>
          <a:lstStyle/>
          <a:p>
            <a:pPr algn="ctr" marL="0" indent="0">
              <a:buNone/>
            </a:pPr>
            <a:r>
              <a:rPr sz="1500" b="0" i="0">
                <a:solidFill>
                  <a:srgbClr val="B08D57"/>
                </a:solidFill>
                <a:latin typeface="Calibri"/>
                <a:ea typeface="Calibri"/>
                <a:cs typeface="Calibri"/>
              </a:rPr>
              <a:t>Finance leadership your team can count on.</a:t>
            </a:r>
          </a:p>
        </p:txBody>
      </p:sp>
      <p:sp>
        <p:nvSpPr>
          <p:cNvPr id="7" name="TextBox 6"/>
          <p:cNvSpPr txBox="1"/>
          <p:nvPr/>
        </p:nvSpPr>
        <p:spPr>
          <a:xfrm>
            <a:off x="0" y="3529584"/>
            <a:ext cx="12191969" cy="237744"/>
          </a:xfrm>
          <a:prstGeom prst="rect">
            <a:avLst/>
          </a:prstGeom>
          <a:noFill/>
        </p:spPr>
        <p:txBody>
          <a:bodyPr wrap="square" lIns="0" tIns="0" rIns="0" bIns="0" anchor="t"/>
          <a:lstStyle/>
          <a:p>
            <a:pPr algn="ctr" marL="0" indent="0">
              <a:buNone/>
            </a:pPr>
            <a:r>
              <a:rPr sz="1000" b="0" i="0" spc="260">
                <a:solidFill>
                  <a:srgbClr val="9E9E9E"/>
                </a:solidFill>
                <a:latin typeface="Calibri"/>
                <a:ea typeface="Calibri"/>
                <a:cs typeface="Calibri"/>
              </a:rPr>
              <a:t>PREPARED FOR</a:t>
            </a:r>
          </a:p>
        </p:txBody>
      </p:sp>
      <p:sp>
        <p:nvSpPr>
          <p:cNvPr id="8" name="TextBox 7"/>
          <p:cNvSpPr txBox="1"/>
          <p:nvPr/>
        </p:nvSpPr>
        <p:spPr>
          <a:xfrm>
            <a:off x="0" y="3803904"/>
            <a:ext cx="12191969" cy="365760"/>
          </a:xfrm>
          <a:prstGeom prst="rect">
            <a:avLst/>
          </a:prstGeom>
          <a:noFill/>
        </p:spPr>
        <p:txBody>
          <a:bodyPr wrap="square" lIns="0" tIns="0" rIns="0" bIns="0" anchor="t"/>
          <a:lstStyle/>
          <a:p>
            <a:pPr algn="ctr" marL="0" indent="0">
              <a:buNone/>
            </a:pPr>
            <a:r>
              <a:rPr sz="1900" b="1" i="0">
                <a:solidFill>
                  <a:srgbClr val="FFFFFF"/>
                </a:solidFill>
                <a:latin typeface="Cambria"/>
                <a:ea typeface="Cambria"/>
                <a:cs typeface="Cambria"/>
              </a:rPr>
              <a:t>AJAC, INC. DBA GEORGE BRAZIL</a:t>
            </a:r>
          </a:p>
        </p:txBody>
      </p:sp>
      <p:sp>
        <p:nvSpPr>
          <p:cNvPr id="9" name="TextBox 8"/>
          <p:cNvSpPr txBox="1"/>
          <p:nvPr/>
        </p:nvSpPr>
        <p:spPr>
          <a:xfrm>
            <a:off x="0" y="4206240"/>
            <a:ext cx="12191969" cy="256032"/>
          </a:xfrm>
          <a:prstGeom prst="rect">
            <a:avLst/>
          </a:prstGeom>
          <a:noFill/>
        </p:spPr>
        <p:txBody>
          <a:bodyPr wrap="square" lIns="0" tIns="0" rIns="0" bIns="0" anchor="t"/>
          <a:lstStyle/>
          <a:p>
            <a:pPr algn="ctr" marL="0" indent="0">
              <a:buNone/>
            </a:pPr>
            <a:r>
              <a:rPr sz="1100" b="0" i="0">
                <a:solidFill>
                  <a:srgbClr val="C9C9C9"/>
                </a:solidFill>
                <a:latin typeface="Calibri"/>
                <a:ea typeface="Calibri"/>
                <a:cs typeface="Calibri"/>
              </a:rPr>
              <a:t>Plumbing · Electrical · ESOP-owned</a:t>
            </a:r>
          </a:p>
        </p:txBody>
      </p:sp>
      <p:sp>
        <p:nvSpPr>
          <p:cNvPr id="10" name="TextBox 9"/>
          <p:cNvSpPr txBox="1"/>
          <p:nvPr/>
        </p:nvSpPr>
        <p:spPr>
          <a:xfrm>
            <a:off x="0" y="4791456"/>
            <a:ext cx="12191969" cy="237744"/>
          </a:xfrm>
          <a:prstGeom prst="rect">
            <a:avLst/>
          </a:prstGeom>
          <a:noFill/>
        </p:spPr>
        <p:txBody>
          <a:bodyPr wrap="square" lIns="0" tIns="0" rIns="0" bIns="0" anchor="t"/>
          <a:lstStyle/>
          <a:p>
            <a:pPr algn="ctr" marL="0" indent="0">
              <a:buNone/>
            </a:pPr>
            <a:r>
              <a:rPr sz="1000" b="0" i="0" spc="260">
                <a:solidFill>
                  <a:srgbClr val="9E9E9E"/>
                </a:solidFill>
                <a:latin typeface="Calibri"/>
                <a:ea typeface="Calibri"/>
                <a:cs typeface="Calibri"/>
              </a:rPr>
              <a:t>PRESENTED BY</a:t>
            </a:r>
          </a:p>
        </p:txBody>
      </p:sp>
      <p:sp>
        <p:nvSpPr>
          <p:cNvPr id="11" name="TextBox 10"/>
          <p:cNvSpPr txBox="1"/>
          <p:nvPr/>
        </p:nvSpPr>
        <p:spPr>
          <a:xfrm>
            <a:off x="2990088" y="5084064"/>
            <a:ext cx="2926080" cy="786384"/>
          </a:xfrm>
          <a:prstGeom prst="rect">
            <a:avLst/>
          </a:prstGeom>
          <a:noFill/>
        </p:spPr>
        <p:txBody>
          <a:bodyPr wrap="square" lIns="0" tIns="0" rIns="0" bIns="0" anchor="t"/>
          <a:lstStyle/>
          <a:p>
            <a:pPr algn="ctr" marL="0" indent="0">
              <a:spcAft>
                <a:spcPts val="200"/>
              </a:spcAft>
              <a:buNone/>
            </a:pPr>
            <a:r>
              <a:rPr sz="1400" b="1" i="0">
                <a:solidFill>
                  <a:srgbClr val="FFFFFF"/>
                </a:solidFill>
                <a:latin typeface="Cambria"/>
                <a:ea typeface="Cambria"/>
                <a:cs typeface="Cambria"/>
              </a:rPr>
              <a:t>Steven Nikolov</a:t>
            </a:r>
          </a:p>
          <a:p>
            <a:pPr algn="ctr" marL="0" indent="0">
              <a:spcAft>
                <a:spcPts val="200"/>
              </a:spcAft>
              <a:buNone/>
            </a:pPr>
            <a:r>
              <a:rPr sz="1000" b="0" i="0">
                <a:solidFill>
                  <a:srgbClr val="B08D57"/>
                </a:solidFill>
                <a:latin typeface="Calibri"/>
                <a:ea typeface="Calibri"/>
                <a:cs typeface="Calibri"/>
              </a:rPr>
              <a:t>Founder, Principal &amp; Outsourced CFO</a:t>
            </a:r>
          </a:p>
          <a:p>
            <a:pPr algn="ctr" marL="0" indent="0">
              <a:buNone/>
            </a:pPr>
            <a:r>
              <a:rPr sz="1050" b="0" i="0">
                <a:solidFill>
                  <a:srgbClr val="C9C9C9"/>
                </a:solidFill>
                <a:latin typeface="Calibri"/>
                <a:ea typeface="Calibri"/>
                <a:cs typeface="Calibri"/>
              </a:rPr>
              <a:t>steven@onyxcfo.com</a:t>
            </a:r>
          </a:p>
        </p:txBody>
      </p:sp>
      <p:sp>
        <p:nvSpPr>
          <p:cNvPr id="12" name="TextBox 11"/>
          <p:cNvSpPr txBox="1"/>
          <p:nvPr/>
        </p:nvSpPr>
        <p:spPr>
          <a:xfrm>
            <a:off x="6281928" y="5084064"/>
            <a:ext cx="2926080" cy="786384"/>
          </a:xfrm>
          <a:prstGeom prst="rect">
            <a:avLst/>
          </a:prstGeom>
          <a:noFill/>
        </p:spPr>
        <p:txBody>
          <a:bodyPr wrap="square" lIns="0" tIns="0" rIns="0" bIns="0" anchor="t"/>
          <a:lstStyle/>
          <a:p>
            <a:pPr algn="ctr" marL="0" indent="0">
              <a:spcAft>
                <a:spcPts val="200"/>
              </a:spcAft>
              <a:buNone/>
            </a:pPr>
            <a:r>
              <a:rPr sz="1400" b="1" i="0">
                <a:solidFill>
                  <a:srgbClr val="FFFFFF"/>
                </a:solidFill>
                <a:latin typeface="Cambria"/>
                <a:ea typeface="Cambria"/>
                <a:cs typeface="Cambria"/>
              </a:rPr>
              <a:t>Josephine Mack</a:t>
            </a:r>
          </a:p>
          <a:p>
            <a:pPr algn="ctr" marL="0" indent="0">
              <a:spcAft>
                <a:spcPts val="200"/>
              </a:spcAft>
              <a:buNone/>
            </a:pPr>
            <a:r>
              <a:rPr sz="1000" b="0" i="0">
                <a:solidFill>
                  <a:srgbClr val="B08D57"/>
                </a:solidFill>
                <a:latin typeface="Calibri"/>
                <a:ea typeface="Calibri"/>
                <a:cs typeface="Calibri"/>
              </a:rPr>
              <a:t>Chief of Staff &amp; Client Relations</a:t>
            </a:r>
          </a:p>
          <a:p>
            <a:pPr algn="ctr" marL="0" indent="0">
              <a:buNone/>
            </a:pPr>
            <a:r>
              <a:rPr sz="1050" b="0" i="0">
                <a:solidFill>
                  <a:srgbClr val="C9C9C9"/>
                </a:solidFill>
                <a:latin typeface="Calibri"/>
                <a:ea typeface="Calibri"/>
                <a:cs typeface="Calibri"/>
              </a:rPr>
              <a:t>jmack@onyxcfo.com</a:t>
            </a:r>
          </a:p>
        </p:txBody>
      </p:sp>
      <p:sp>
        <p:nvSpPr>
          <p:cNvPr id="13" name="TextBox 12"/>
          <p:cNvSpPr txBox="1"/>
          <p:nvPr/>
        </p:nvSpPr>
        <p:spPr>
          <a:xfrm>
            <a:off x="0" y="6108192"/>
            <a:ext cx="12191969" cy="256032"/>
          </a:xfrm>
          <a:prstGeom prst="rect">
            <a:avLst/>
          </a:prstGeom>
          <a:noFill/>
        </p:spPr>
        <p:txBody>
          <a:bodyPr wrap="square" lIns="0" tIns="0" rIns="0" bIns="0" anchor="t"/>
          <a:lstStyle/>
          <a:p>
            <a:pPr algn="ctr" marL="0" indent="0">
              <a:buNone/>
            </a:pPr>
            <a:r>
              <a:rPr sz="1050" b="0" i="0">
                <a:solidFill>
                  <a:srgbClr val="9E9E9E"/>
                </a:solidFill>
                <a:latin typeface="Calibri"/>
                <a:ea typeface="Calibri"/>
                <a:cs typeface="Calibri"/>
              </a:rPr>
              <a:t>14614 N Kierland Blvd, Suite N220  ·  Scottsdale, AZ 85254  ·  (480) 999-5509  ·  onyxcfo.com</a:t>
            </a:r>
          </a:p>
        </p:txBody>
      </p:sp>
      <p:sp>
        <p:nvSpPr>
          <p:cNvPr id="14" name="TextBox 13"/>
          <p:cNvSpPr txBox="1"/>
          <p:nvPr/>
        </p:nvSpPr>
        <p:spPr>
          <a:xfrm>
            <a:off x="0" y="6400800"/>
            <a:ext cx="12191969" cy="237744"/>
          </a:xfrm>
          <a:prstGeom prst="rect">
            <a:avLst/>
          </a:prstGeom>
          <a:noFill/>
        </p:spPr>
        <p:txBody>
          <a:bodyPr wrap="square" lIns="0" tIns="0" rIns="0" bIns="0" anchor="t"/>
          <a:lstStyle/>
          <a:p>
            <a:pPr algn="ctr" marL="0" indent="0">
              <a:buNone/>
            </a:pPr>
            <a:r>
              <a:rPr sz="950" b="0" i="0">
                <a:solidFill>
                  <a:srgbClr val="6E6E6E"/>
                </a:solidFill>
                <a:latin typeface="Calibri"/>
                <a:ea typeface="Calibri"/>
                <a:cs typeface="Calibri"/>
              </a:rP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THE MANDATE</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A finance team to fill the CFO gap</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What we understand George Brazil needs from this engagement.</a:t>
            </a:r>
          </a:p>
        </p:txBody>
      </p:sp>
      <p:sp>
        <p:nvSpPr>
          <p:cNvPr id="5" name="Rectangle 4"/>
          <p:cNvSpPr/>
          <p:nvPr/>
        </p:nvSpPr>
        <p:spPr>
          <a:xfrm>
            <a:off x="548640" y="1938528"/>
            <a:ext cx="2567178" cy="2139696"/>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938528"/>
            <a:ext cx="2567178"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804672" y="2212848"/>
            <a:ext cx="402336" cy="40233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4672" y="2212848"/>
            <a:ext cx="402336" cy="402336"/>
          </a:xfrm>
          <a:prstGeom prst="rect">
            <a:avLst/>
          </a:prstGeom>
          <a:noFill/>
        </p:spPr>
        <p:txBody>
          <a:bodyPr wrap="square" lIns="0" tIns="0" rIns="0" bIns="0" anchor="ctr"/>
          <a:lstStyle/>
          <a:p>
            <a:pPr algn="ctr" marL="0" indent="0">
              <a:buNone/>
            </a:pPr>
            <a:r>
              <a:rPr sz="1300" b="1" i="0">
                <a:solidFill>
                  <a:srgbClr val="FFFFFF"/>
                </a:solidFill>
                <a:latin typeface="Calibri"/>
                <a:ea typeface="Calibri"/>
                <a:cs typeface="Calibri"/>
              </a:rPr>
              <a:t>01</a:t>
            </a:r>
          </a:p>
        </p:txBody>
      </p:sp>
      <p:sp>
        <p:nvSpPr>
          <p:cNvPr id="9" name="TextBox 8"/>
          <p:cNvSpPr txBox="1"/>
          <p:nvPr/>
        </p:nvSpPr>
        <p:spPr>
          <a:xfrm>
            <a:off x="804672" y="2779776"/>
            <a:ext cx="2055114" cy="420624"/>
          </a:xfrm>
          <a:prstGeom prst="rect">
            <a:avLst/>
          </a:prstGeom>
          <a:noFill/>
        </p:spPr>
        <p:txBody>
          <a:bodyPr wrap="square" lIns="0" tIns="0" rIns="0" bIns="0" anchor="t"/>
          <a:lstStyle/>
          <a:p>
            <a:pPr algn="l" marL="0" indent="0">
              <a:lnSpc>
                <a:spcPct val="105000"/>
              </a:lnSpc>
              <a:buNone/>
            </a:pPr>
            <a:r>
              <a:rPr sz="1150" b="1" i="0">
                <a:solidFill>
                  <a:srgbClr val="8F7346"/>
                </a:solidFill>
                <a:latin typeface="Calibri"/>
                <a:ea typeface="Calibri"/>
                <a:cs typeface="Calibri"/>
              </a:rPr>
              <a:t>CONTINUITY</a:t>
            </a:r>
          </a:p>
        </p:txBody>
      </p:sp>
      <p:sp>
        <p:nvSpPr>
          <p:cNvPr id="10" name="TextBox 9"/>
          <p:cNvSpPr txBox="1"/>
          <p:nvPr/>
        </p:nvSpPr>
        <p:spPr>
          <a:xfrm>
            <a:off x="804672" y="3236976"/>
            <a:ext cx="2055114" cy="731520"/>
          </a:xfrm>
          <a:prstGeom prst="rect">
            <a:avLst/>
          </a:prstGeom>
          <a:noFill/>
        </p:spPr>
        <p:txBody>
          <a:bodyPr wrap="square" lIns="0" tIns="0" rIns="0" bIns="0" anchor="t"/>
          <a:lstStyle/>
          <a:p>
            <a:pPr algn="l" marL="0" indent="0">
              <a:lnSpc>
                <a:spcPct val="118000"/>
              </a:lnSpc>
              <a:buNone/>
            </a:pPr>
            <a:r>
              <a:rPr sz="1000" b="0" i="0">
                <a:solidFill>
                  <a:srgbClr val="5F5F5F"/>
                </a:solidFill>
                <a:latin typeface="Calibri"/>
                <a:ea typeface="Calibri"/>
                <a:cs typeface="Calibri"/>
              </a:rPr>
              <a:t>One consistent, senior finance contact after your CFO's sudden departure, with his knowledge captured and rebuilt as a documented process.</a:t>
            </a:r>
          </a:p>
        </p:txBody>
      </p:sp>
      <p:sp>
        <p:nvSpPr>
          <p:cNvPr id="11" name="Rectangle 10"/>
          <p:cNvSpPr/>
          <p:nvPr/>
        </p:nvSpPr>
        <p:spPr>
          <a:xfrm>
            <a:off x="3390138" y="1938528"/>
            <a:ext cx="2567178" cy="2139696"/>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90138" y="1938528"/>
            <a:ext cx="2567178"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170" y="2212848"/>
            <a:ext cx="402336" cy="40233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46170" y="2212848"/>
            <a:ext cx="402336" cy="402336"/>
          </a:xfrm>
          <a:prstGeom prst="rect">
            <a:avLst/>
          </a:prstGeom>
          <a:noFill/>
        </p:spPr>
        <p:txBody>
          <a:bodyPr wrap="square" lIns="0" tIns="0" rIns="0" bIns="0" anchor="ctr"/>
          <a:lstStyle/>
          <a:p>
            <a:pPr algn="ctr" marL="0" indent="0">
              <a:buNone/>
            </a:pPr>
            <a:r>
              <a:rPr sz="1300" b="1" i="0">
                <a:solidFill>
                  <a:srgbClr val="FFFFFF"/>
                </a:solidFill>
                <a:latin typeface="Calibri"/>
                <a:ea typeface="Calibri"/>
                <a:cs typeface="Calibri"/>
              </a:rPr>
              <a:t>02</a:t>
            </a:r>
          </a:p>
        </p:txBody>
      </p:sp>
      <p:sp>
        <p:nvSpPr>
          <p:cNvPr id="15" name="TextBox 14"/>
          <p:cNvSpPr txBox="1"/>
          <p:nvPr/>
        </p:nvSpPr>
        <p:spPr>
          <a:xfrm>
            <a:off x="3646170" y="2779776"/>
            <a:ext cx="2055114" cy="420624"/>
          </a:xfrm>
          <a:prstGeom prst="rect">
            <a:avLst/>
          </a:prstGeom>
          <a:noFill/>
        </p:spPr>
        <p:txBody>
          <a:bodyPr wrap="square" lIns="0" tIns="0" rIns="0" bIns="0" anchor="t"/>
          <a:lstStyle/>
          <a:p>
            <a:pPr algn="l" marL="0" indent="0">
              <a:lnSpc>
                <a:spcPct val="105000"/>
              </a:lnSpc>
              <a:buNone/>
            </a:pPr>
            <a:r>
              <a:rPr sz="1150" b="1" i="0">
                <a:solidFill>
                  <a:srgbClr val="8F7346"/>
                </a:solidFill>
                <a:latin typeface="Calibri"/>
                <a:ea typeface="Calibri"/>
                <a:cs typeface="Calibri"/>
              </a:rPr>
              <a:t>CONTROLLER LEADERSHIP</a:t>
            </a:r>
          </a:p>
        </p:txBody>
      </p:sp>
      <p:sp>
        <p:nvSpPr>
          <p:cNvPr id="16" name="TextBox 15"/>
          <p:cNvSpPr txBox="1"/>
          <p:nvPr/>
        </p:nvSpPr>
        <p:spPr>
          <a:xfrm>
            <a:off x="3646170" y="3236976"/>
            <a:ext cx="2055114" cy="731520"/>
          </a:xfrm>
          <a:prstGeom prst="rect">
            <a:avLst/>
          </a:prstGeom>
          <a:noFill/>
        </p:spPr>
        <p:txBody>
          <a:bodyPr wrap="square" lIns="0" tIns="0" rIns="0" bIns="0" anchor="t"/>
          <a:lstStyle/>
          <a:p>
            <a:pPr algn="l" marL="0" indent="0">
              <a:lnSpc>
                <a:spcPct val="118000"/>
              </a:lnSpc>
              <a:buNone/>
            </a:pPr>
            <a:r>
              <a:rPr sz="1000" b="0" i="0">
                <a:solidFill>
                  <a:srgbClr val="5F5F5F"/>
                </a:solidFill>
                <a:latin typeface="Calibri"/>
                <a:ea typeface="Calibri"/>
                <a:cs typeface="Calibri"/>
              </a:rPr>
              <a:t>A controller who drives the monthly close and reviews the work, training and backing up your in-house accountant.</a:t>
            </a:r>
          </a:p>
        </p:txBody>
      </p:sp>
      <p:sp>
        <p:nvSpPr>
          <p:cNvPr id="17" name="Rectangle 16"/>
          <p:cNvSpPr/>
          <p:nvPr/>
        </p:nvSpPr>
        <p:spPr>
          <a:xfrm>
            <a:off x="6231636" y="1938528"/>
            <a:ext cx="2567178" cy="2139696"/>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231636" y="1938528"/>
            <a:ext cx="2567178"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487668" y="2212848"/>
            <a:ext cx="402336" cy="40233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87668" y="2212848"/>
            <a:ext cx="402336" cy="402336"/>
          </a:xfrm>
          <a:prstGeom prst="rect">
            <a:avLst/>
          </a:prstGeom>
          <a:noFill/>
        </p:spPr>
        <p:txBody>
          <a:bodyPr wrap="square" lIns="0" tIns="0" rIns="0" bIns="0" anchor="ctr"/>
          <a:lstStyle/>
          <a:p>
            <a:pPr algn="ctr" marL="0" indent="0">
              <a:buNone/>
            </a:pPr>
            <a:r>
              <a:rPr sz="1300" b="1" i="0">
                <a:solidFill>
                  <a:srgbClr val="FFFFFF"/>
                </a:solidFill>
                <a:latin typeface="Calibri"/>
                <a:ea typeface="Calibri"/>
                <a:cs typeface="Calibri"/>
              </a:rPr>
              <a:t>03</a:t>
            </a:r>
          </a:p>
        </p:txBody>
      </p:sp>
      <p:sp>
        <p:nvSpPr>
          <p:cNvPr id="21" name="TextBox 20"/>
          <p:cNvSpPr txBox="1"/>
          <p:nvPr/>
        </p:nvSpPr>
        <p:spPr>
          <a:xfrm>
            <a:off x="6487668" y="2779776"/>
            <a:ext cx="2055114" cy="420624"/>
          </a:xfrm>
          <a:prstGeom prst="rect">
            <a:avLst/>
          </a:prstGeom>
          <a:noFill/>
        </p:spPr>
        <p:txBody>
          <a:bodyPr wrap="square" lIns="0" tIns="0" rIns="0" bIns="0" anchor="t"/>
          <a:lstStyle/>
          <a:p>
            <a:pPr algn="l" marL="0" indent="0">
              <a:lnSpc>
                <a:spcPct val="105000"/>
              </a:lnSpc>
              <a:buNone/>
            </a:pPr>
            <a:r>
              <a:rPr sz="1150" b="1" i="0">
                <a:solidFill>
                  <a:srgbClr val="8F7346"/>
                </a:solidFill>
                <a:latin typeface="Calibri"/>
                <a:ea typeface="Calibri"/>
                <a:cs typeface="Calibri"/>
              </a:rPr>
              <a:t>REPORTING &amp; CFO</a:t>
            </a:r>
          </a:p>
        </p:txBody>
      </p:sp>
      <p:sp>
        <p:nvSpPr>
          <p:cNvPr id="22" name="TextBox 21"/>
          <p:cNvSpPr txBox="1"/>
          <p:nvPr/>
        </p:nvSpPr>
        <p:spPr>
          <a:xfrm>
            <a:off x="6487668" y="3236976"/>
            <a:ext cx="2055114" cy="731520"/>
          </a:xfrm>
          <a:prstGeom prst="rect">
            <a:avLst/>
          </a:prstGeom>
          <a:noFill/>
        </p:spPr>
        <p:txBody>
          <a:bodyPr wrap="square" lIns="0" tIns="0" rIns="0" bIns="0" anchor="t"/>
          <a:lstStyle/>
          <a:p>
            <a:pPr algn="l" marL="0" indent="0">
              <a:lnSpc>
                <a:spcPct val="118000"/>
              </a:lnSpc>
              <a:buNone/>
            </a:pPr>
            <a:r>
              <a:rPr sz="1000" b="0" i="0">
                <a:solidFill>
                  <a:srgbClr val="5F5F5F"/>
                </a:solidFill>
                <a:latin typeface="Calibri"/>
                <a:ea typeface="Calibri"/>
                <a:cs typeface="Calibri"/>
              </a:rPr>
              <a:t>Management and Bell Bank reporting, budgeting and forecasting, and CFO-level direction for the team.</a:t>
            </a:r>
          </a:p>
        </p:txBody>
      </p:sp>
      <p:sp>
        <p:nvSpPr>
          <p:cNvPr id="23" name="Rectangle 22"/>
          <p:cNvSpPr/>
          <p:nvPr/>
        </p:nvSpPr>
        <p:spPr>
          <a:xfrm>
            <a:off x="9073134" y="1938528"/>
            <a:ext cx="2567178" cy="2139696"/>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73134" y="1938528"/>
            <a:ext cx="2567178"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329165" y="2212848"/>
            <a:ext cx="402336" cy="40233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9165" y="2212848"/>
            <a:ext cx="402336" cy="402336"/>
          </a:xfrm>
          <a:prstGeom prst="rect">
            <a:avLst/>
          </a:prstGeom>
          <a:noFill/>
        </p:spPr>
        <p:txBody>
          <a:bodyPr wrap="square" lIns="0" tIns="0" rIns="0" bIns="0" anchor="ctr"/>
          <a:lstStyle/>
          <a:p>
            <a:pPr algn="ctr" marL="0" indent="0">
              <a:buNone/>
            </a:pPr>
            <a:r>
              <a:rPr sz="1300" b="1" i="0">
                <a:solidFill>
                  <a:srgbClr val="FFFFFF"/>
                </a:solidFill>
                <a:latin typeface="Calibri"/>
                <a:ea typeface="Calibri"/>
                <a:cs typeface="Calibri"/>
              </a:rPr>
              <a:t>04</a:t>
            </a:r>
          </a:p>
        </p:txBody>
      </p:sp>
      <p:sp>
        <p:nvSpPr>
          <p:cNvPr id="27" name="TextBox 26"/>
          <p:cNvSpPr txBox="1"/>
          <p:nvPr/>
        </p:nvSpPr>
        <p:spPr>
          <a:xfrm>
            <a:off x="9329165" y="2779776"/>
            <a:ext cx="2055114" cy="420624"/>
          </a:xfrm>
          <a:prstGeom prst="rect">
            <a:avLst/>
          </a:prstGeom>
          <a:noFill/>
        </p:spPr>
        <p:txBody>
          <a:bodyPr wrap="square" lIns="0" tIns="0" rIns="0" bIns="0" anchor="t"/>
          <a:lstStyle/>
          <a:p>
            <a:pPr algn="l" marL="0" indent="0">
              <a:lnSpc>
                <a:spcPct val="105000"/>
              </a:lnSpc>
              <a:buNone/>
            </a:pPr>
            <a:r>
              <a:rPr sz="1150" b="1" i="0">
                <a:solidFill>
                  <a:srgbClr val="8F7346"/>
                </a:solidFill>
                <a:latin typeface="Calibri"/>
                <a:ea typeface="Calibri"/>
                <a:cs typeface="Calibri"/>
              </a:rPr>
              <a:t>SYSTEMS &amp; AUTOMATION</a:t>
            </a:r>
          </a:p>
        </p:txBody>
      </p:sp>
      <p:sp>
        <p:nvSpPr>
          <p:cNvPr id="28" name="TextBox 27"/>
          <p:cNvSpPr txBox="1"/>
          <p:nvPr/>
        </p:nvSpPr>
        <p:spPr>
          <a:xfrm>
            <a:off x="9329165" y="3236976"/>
            <a:ext cx="2055114" cy="731520"/>
          </a:xfrm>
          <a:prstGeom prst="rect">
            <a:avLst/>
          </a:prstGeom>
          <a:noFill/>
        </p:spPr>
        <p:txBody>
          <a:bodyPr wrap="square" lIns="0" tIns="0" rIns="0" bIns="0" anchor="t"/>
          <a:lstStyle/>
          <a:p>
            <a:pPr algn="l" marL="0" indent="0">
              <a:lnSpc>
                <a:spcPct val="118000"/>
              </a:lnSpc>
              <a:buNone/>
            </a:pPr>
            <a:r>
              <a:rPr sz="1000" b="0" i="0">
                <a:solidFill>
                  <a:srgbClr val="5F5F5F"/>
                </a:solidFill>
                <a:latin typeface="Calibri"/>
                <a:ea typeface="Calibri"/>
                <a:cs typeface="Calibri"/>
              </a:rPr>
              <a:t>Less manual work between ServiceTitan, QStock and Sage Intacct, with review controls built in.</a:t>
            </a:r>
          </a:p>
        </p:txBody>
      </p:sp>
      <p:sp>
        <p:nvSpPr>
          <p:cNvPr id="29" name="Rectangle 28"/>
          <p:cNvSpPr/>
          <p:nvPr/>
        </p:nvSpPr>
        <p:spPr>
          <a:xfrm>
            <a:off x="548640" y="4443984"/>
            <a:ext cx="11091672" cy="11887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48640" y="4443984"/>
            <a:ext cx="11091672"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4400" y="4700016"/>
            <a:ext cx="10360152" cy="237744"/>
          </a:xfrm>
          <a:prstGeom prst="rect">
            <a:avLst/>
          </a:prstGeom>
          <a:noFill/>
        </p:spPr>
        <p:txBody>
          <a:bodyPr wrap="square" lIns="0" tIns="0" rIns="0" bIns="0" anchor="t"/>
          <a:lstStyle/>
          <a:p>
            <a:pPr algn="l" marL="0" indent="0">
              <a:buNone/>
            </a:pPr>
            <a:r>
              <a:rPr sz="1050" b="1" i="0">
                <a:solidFill>
                  <a:srgbClr val="B08D57"/>
                </a:solidFill>
                <a:latin typeface="Calibri"/>
                <a:ea typeface="Calibri"/>
                <a:cs typeface="Calibri"/>
              </a:rPr>
              <a:t>THE OBJECTIVE</a:t>
            </a:r>
          </a:p>
        </p:txBody>
      </p:sp>
      <p:sp>
        <p:nvSpPr>
          <p:cNvPr id="32" name="TextBox 31"/>
          <p:cNvSpPr txBox="1"/>
          <p:nvPr/>
        </p:nvSpPr>
        <p:spPr>
          <a:xfrm>
            <a:off x="914400" y="4974336"/>
            <a:ext cx="10360152" cy="530352"/>
          </a:xfrm>
          <a:prstGeom prst="rect">
            <a:avLst/>
          </a:prstGeom>
          <a:noFill/>
        </p:spPr>
        <p:txBody>
          <a:bodyPr wrap="square" lIns="0" tIns="0" rIns="0" bIns="0" anchor="t"/>
          <a:lstStyle/>
          <a:p>
            <a:pPr algn="l" marL="0" indent="0">
              <a:lnSpc>
                <a:spcPct val="112000"/>
              </a:lnSpc>
              <a:buNone/>
            </a:pPr>
            <a:r>
              <a:rPr sz="1400" b="0" i="0">
                <a:solidFill>
                  <a:srgbClr val="FFFFFF"/>
                </a:solidFill>
                <a:latin typeface="Cambria"/>
                <a:ea typeface="Cambria"/>
                <a:cs typeface="Cambria"/>
              </a:rPr>
              <a:t>A dependable, documented finance function on Sage Intacct, led by a team that does not turn over, scaling from controller support to CFO guidance as you grow and convert back to an S corporation in 2028.</a:t>
            </a:r>
          </a:p>
        </p:txBody>
      </p:sp>
      <p:sp>
        <p:nvSpPr>
          <p:cNvPr id="33" name="TextBox 32"/>
          <p:cNvSpPr txBox="1"/>
          <p:nvPr/>
        </p:nvSpPr>
        <p:spPr>
          <a:xfrm>
            <a:off x="548640" y="5989320"/>
            <a:ext cx="11064240" cy="402336"/>
          </a:xfrm>
          <a:prstGeom prst="rect">
            <a:avLst/>
          </a:prstGeom>
          <a:noFill/>
        </p:spPr>
        <p:txBody>
          <a:bodyPr wrap="square" lIns="0" tIns="0" rIns="0" bIns="0" anchor="t"/>
          <a:lstStyle/>
          <a:p>
            <a:pPr algn="l" marL="0" indent="0">
              <a:lnSpc>
                <a:spcPct val="105000"/>
              </a:lnSpc>
              <a:buNone/>
            </a:pPr>
            <a:r>
              <a:rPr sz="1200" b="0" i="0">
                <a:solidFill>
                  <a:srgbClr val="8F7346"/>
                </a:solidFill>
                <a:latin typeface="Calibri"/>
                <a:ea typeface="Calibri"/>
                <a:cs typeface="Calibri"/>
              </a:rPr>
              <a:t>Your CFO left on short notice. The answer is a team, not another single point of failure.</a:t>
            </a:r>
          </a:p>
        </p:txBody>
      </p:sp>
      <p:sp>
        <p:nvSpPr>
          <p:cNvPr id="34" name="TextBox 33"/>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B08D57"/>
                </a:solidFill>
                <a:latin typeface="Calibri"/>
                <a:ea typeface="Calibri"/>
                <a:cs typeface="Calibri"/>
              </a:rPr>
              <a:t>WHY NOW</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FFFFFF"/>
                </a:solidFill>
                <a:latin typeface="Cambria"/>
                <a:ea typeface="Cambria"/>
                <a:cs typeface="Cambria"/>
              </a:rPr>
              <a:t>35 years of growth, a sudden finance gap</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C9C9C9"/>
                </a:solidFill>
                <a:latin typeface="Calibri"/>
                <a:ea typeface="Calibri"/>
                <a:cs typeface="Calibri"/>
              </a:rPr>
              <a:t>Drawn from our meeting with Marc, Shawn and Josh, and the CFO transition notes.</a:t>
            </a:r>
          </a:p>
        </p:txBody>
      </p:sp>
      <p:sp>
        <p:nvSpPr>
          <p:cNvPr id="5" name="Rectangle 4"/>
          <p:cNvSpPr/>
          <p:nvPr/>
        </p:nvSpPr>
        <p:spPr>
          <a:xfrm>
            <a:off x="548640" y="1883664"/>
            <a:ext cx="11091672" cy="13716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81328" y="2139696"/>
            <a:ext cx="9628632" cy="566928"/>
          </a:xfrm>
          <a:prstGeom prst="rect">
            <a:avLst/>
          </a:prstGeom>
          <a:noFill/>
        </p:spPr>
        <p:txBody>
          <a:bodyPr wrap="square" lIns="0" tIns="0" rIns="0" bIns="0" anchor="t"/>
          <a:lstStyle/>
          <a:p>
            <a:pPr algn="l" marL="0" indent="0">
              <a:lnSpc>
                <a:spcPct val="115000"/>
              </a:lnSpc>
              <a:buNone/>
            </a:pPr>
            <a:r>
              <a:rPr sz="1550" b="0" i="1">
                <a:solidFill>
                  <a:srgbClr val="FFFFFF"/>
                </a:solidFill>
                <a:latin typeface="Cambria"/>
                <a:ea typeface="Cambria"/>
                <a:cs typeface="Cambria"/>
              </a:rPr>
              <a:t>The CFO who ran the finance function is gone as of October 2. Your in-house accountant handles the day-to-day and needs training and review; the books, reporting and systems need a steady hand now.</a:t>
            </a:r>
          </a:p>
        </p:txBody>
      </p:sp>
      <p:sp>
        <p:nvSpPr>
          <p:cNvPr id="8" name="TextBox 7"/>
          <p:cNvSpPr txBox="1"/>
          <p:nvPr/>
        </p:nvSpPr>
        <p:spPr>
          <a:xfrm>
            <a:off x="1481328" y="2871216"/>
            <a:ext cx="9628632" cy="256032"/>
          </a:xfrm>
          <a:prstGeom prst="rect">
            <a:avLst/>
          </a:prstGeom>
          <a:noFill/>
        </p:spPr>
        <p:txBody>
          <a:bodyPr wrap="square" lIns="0" tIns="0" rIns="0" bIns="0" anchor="t"/>
          <a:lstStyle/>
          <a:p>
            <a:pPr algn="l" marL="0" indent="0">
              <a:buNone/>
            </a:pPr>
            <a:r>
              <a:rPr sz="1000" b="0" i="0">
                <a:solidFill>
                  <a:srgbClr val="C9B08A"/>
                </a:solidFill>
                <a:latin typeface="Calibri"/>
                <a:ea typeface="Calibri"/>
                <a:cs typeface="Calibri"/>
              </a:rPr>
              <a:t>What we heard</a:t>
            </a:r>
          </a:p>
        </p:txBody>
      </p:sp>
      <p:sp>
        <p:nvSpPr>
          <p:cNvPr id="9" name="Rectangle 8"/>
          <p:cNvSpPr/>
          <p:nvPr/>
        </p:nvSpPr>
        <p:spPr>
          <a:xfrm>
            <a:off x="548640" y="3493008"/>
            <a:ext cx="2567178" cy="148132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2" y="3730752"/>
            <a:ext cx="2055114" cy="566928"/>
          </a:xfrm>
          <a:prstGeom prst="rect">
            <a:avLst/>
          </a:prstGeom>
          <a:noFill/>
        </p:spPr>
        <p:txBody>
          <a:bodyPr wrap="square" lIns="0" tIns="0" rIns="0" bIns="0" anchor="t"/>
          <a:lstStyle/>
          <a:p>
            <a:pPr algn="l" marL="0" indent="0">
              <a:buNone/>
            </a:pPr>
            <a:r>
              <a:rPr sz="3200" b="1" i="0">
                <a:solidFill>
                  <a:srgbClr val="B08D57"/>
                </a:solidFill>
                <a:latin typeface="Cambria"/>
                <a:ea typeface="Cambria"/>
                <a:cs typeface="Cambria"/>
              </a:rPr>
              <a:t>Oct 2</a:t>
            </a:r>
          </a:p>
        </p:txBody>
      </p:sp>
      <p:sp>
        <p:nvSpPr>
          <p:cNvPr id="11" name="TextBox 10"/>
          <p:cNvSpPr txBox="1"/>
          <p:nvPr/>
        </p:nvSpPr>
        <p:spPr>
          <a:xfrm>
            <a:off x="804672" y="4352544"/>
            <a:ext cx="2055114" cy="512064"/>
          </a:xfrm>
          <a:prstGeom prst="rect">
            <a:avLst/>
          </a:prstGeom>
          <a:noFill/>
        </p:spPr>
        <p:txBody>
          <a:bodyPr wrap="square" lIns="0" tIns="0" rIns="0" bIns="0" anchor="t"/>
          <a:lstStyle/>
          <a:p>
            <a:pPr algn="l" marL="0" indent="0">
              <a:lnSpc>
                <a:spcPct val="118000"/>
              </a:lnSpc>
              <a:buNone/>
            </a:pPr>
            <a:r>
              <a:rPr sz="1000" b="0" i="0">
                <a:solidFill>
                  <a:srgbClr val="D6D6D6"/>
                </a:solidFill>
                <a:latin typeface="Calibri"/>
                <a:ea typeface="Calibri"/>
                <a:cs typeface="Calibri"/>
              </a:rPr>
              <a:t>The CFO's last day — the finance gap is now</a:t>
            </a:r>
          </a:p>
        </p:txBody>
      </p:sp>
      <p:sp>
        <p:nvSpPr>
          <p:cNvPr id="12" name="Rectangle 11"/>
          <p:cNvSpPr/>
          <p:nvPr/>
        </p:nvSpPr>
        <p:spPr>
          <a:xfrm>
            <a:off x="3390138" y="3493008"/>
            <a:ext cx="2567178" cy="148132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46170" y="3730752"/>
            <a:ext cx="2055114" cy="566928"/>
          </a:xfrm>
          <a:prstGeom prst="rect">
            <a:avLst/>
          </a:prstGeom>
          <a:noFill/>
        </p:spPr>
        <p:txBody>
          <a:bodyPr wrap="square" lIns="0" tIns="0" rIns="0" bIns="0" anchor="t"/>
          <a:lstStyle/>
          <a:p>
            <a:pPr algn="l" marL="0" indent="0">
              <a:buNone/>
            </a:pPr>
            <a:r>
              <a:rPr sz="3200" b="1" i="0">
                <a:solidFill>
                  <a:srgbClr val="B08D57"/>
                </a:solidFill>
                <a:latin typeface="Cambria"/>
                <a:ea typeface="Cambria"/>
                <a:cs typeface="Cambria"/>
              </a:rPr>
              <a:t>1990</a:t>
            </a:r>
          </a:p>
        </p:txBody>
      </p:sp>
      <p:sp>
        <p:nvSpPr>
          <p:cNvPr id="14" name="TextBox 13"/>
          <p:cNvSpPr txBox="1"/>
          <p:nvPr/>
        </p:nvSpPr>
        <p:spPr>
          <a:xfrm>
            <a:off x="3646170" y="4352544"/>
            <a:ext cx="2055114" cy="512064"/>
          </a:xfrm>
          <a:prstGeom prst="rect">
            <a:avLst/>
          </a:prstGeom>
          <a:noFill/>
        </p:spPr>
        <p:txBody>
          <a:bodyPr wrap="square" lIns="0" tIns="0" rIns="0" bIns="0" anchor="t"/>
          <a:lstStyle/>
          <a:p>
            <a:pPr algn="l" marL="0" indent="0">
              <a:lnSpc>
                <a:spcPct val="118000"/>
              </a:lnSpc>
              <a:buNone/>
            </a:pPr>
            <a:r>
              <a:rPr sz="1000" b="0" i="0">
                <a:solidFill>
                  <a:srgbClr val="D6D6D6"/>
                </a:solidFill>
                <a:latin typeface="Calibri"/>
                <a:ea typeface="Calibri"/>
                <a:cs typeface="Calibri"/>
              </a:rPr>
              <a:t>Founded — employee-owned (ESOP) today</a:t>
            </a:r>
          </a:p>
        </p:txBody>
      </p:sp>
      <p:sp>
        <p:nvSpPr>
          <p:cNvPr id="15" name="Rectangle 14"/>
          <p:cNvSpPr/>
          <p:nvPr/>
        </p:nvSpPr>
        <p:spPr>
          <a:xfrm>
            <a:off x="6231636" y="3493008"/>
            <a:ext cx="2567178" cy="148132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87668" y="3730752"/>
            <a:ext cx="2055114" cy="566928"/>
          </a:xfrm>
          <a:prstGeom prst="rect">
            <a:avLst/>
          </a:prstGeom>
          <a:noFill/>
        </p:spPr>
        <p:txBody>
          <a:bodyPr wrap="square" lIns="0" tIns="0" rIns="0" bIns="0" anchor="t"/>
          <a:lstStyle/>
          <a:p>
            <a:pPr algn="l" marL="0" indent="0">
              <a:buNone/>
            </a:pPr>
            <a:r>
              <a:rPr sz="3200" b="1" i="0">
                <a:solidFill>
                  <a:srgbClr val="B08D57"/>
                </a:solidFill>
                <a:latin typeface="Cambria"/>
                <a:ea typeface="Cambria"/>
                <a:cs typeface="Cambria"/>
              </a:rPr>
              <a:t>3</a:t>
            </a:r>
          </a:p>
        </p:txBody>
      </p:sp>
      <p:sp>
        <p:nvSpPr>
          <p:cNvPr id="17" name="TextBox 16"/>
          <p:cNvSpPr txBox="1"/>
          <p:nvPr/>
        </p:nvSpPr>
        <p:spPr>
          <a:xfrm>
            <a:off x="6487668" y="4352544"/>
            <a:ext cx="2055114" cy="512064"/>
          </a:xfrm>
          <a:prstGeom prst="rect">
            <a:avLst/>
          </a:prstGeom>
          <a:noFill/>
        </p:spPr>
        <p:txBody>
          <a:bodyPr wrap="square" lIns="0" tIns="0" rIns="0" bIns="0" anchor="t"/>
          <a:lstStyle/>
          <a:p>
            <a:pPr algn="l" marL="0" indent="0">
              <a:lnSpc>
                <a:spcPct val="118000"/>
              </a:lnSpc>
              <a:buNone/>
            </a:pPr>
            <a:r>
              <a:rPr sz="1000" b="0" i="0">
                <a:solidFill>
                  <a:srgbClr val="D6D6D6"/>
                </a:solidFill>
                <a:latin typeface="Calibri"/>
                <a:ea typeface="Calibri"/>
                <a:cs typeface="Calibri"/>
              </a:rPr>
              <a:t>Core systems to connect: ServiceTitan, QStock, Sage Intacct</a:t>
            </a:r>
          </a:p>
        </p:txBody>
      </p:sp>
      <p:sp>
        <p:nvSpPr>
          <p:cNvPr id="18" name="Rectangle 17"/>
          <p:cNvSpPr/>
          <p:nvPr/>
        </p:nvSpPr>
        <p:spPr>
          <a:xfrm>
            <a:off x="9073134" y="3493008"/>
            <a:ext cx="2567178" cy="148132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9165" y="3730752"/>
            <a:ext cx="2055114" cy="566928"/>
          </a:xfrm>
          <a:prstGeom prst="rect">
            <a:avLst/>
          </a:prstGeom>
          <a:noFill/>
        </p:spPr>
        <p:txBody>
          <a:bodyPr wrap="square" lIns="0" tIns="0" rIns="0" bIns="0" anchor="t"/>
          <a:lstStyle/>
          <a:p>
            <a:pPr algn="l" marL="0" indent="0">
              <a:buNone/>
            </a:pPr>
            <a:r>
              <a:rPr sz="3200" b="1" i="0">
                <a:solidFill>
                  <a:srgbClr val="B08D57"/>
                </a:solidFill>
                <a:latin typeface="Cambria"/>
                <a:ea typeface="Cambria"/>
                <a:cs typeface="Cambria"/>
              </a:rPr>
              <a:t>Oct 15</a:t>
            </a:r>
          </a:p>
        </p:txBody>
      </p:sp>
      <p:sp>
        <p:nvSpPr>
          <p:cNvPr id="20" name="TextBox 19"/>
          <p:cNvSpPr txBox="1"/>
          <p:nvPr/>
        </p:nvSpPr>
        <p:spPr>
          <a:xfrm>
            <a:off x="9329165" y="4352544"/>
            <a:ext cx="2055114" cy="512064"/>
          </a:xfrm>
          <a:prstGeom prst="rect">
            <a:avLst/>
          </a:prstGeom>
          <a:noFill/>
        </p:spPr>
        <p:txBody>
          <a:bodyPr wrap="square" lIns="0" tIns="0" rIns="0" bIns="0" anchor="t"/>
          <a:lstStyle/>
          <a:p>
            <a:pPr algn="l" marL="0" indent="0">
              <a:lnSpc>
                <a:spcPct val="118000"/>
              </a:lnSpc>
              <a:buNone/>
            </a:pPr>
            <a:r>
              <a:rPr sz="1000" b="0" i="0">
                <a:solidFill>
                  <a:srgbClr val="D6D6D6"/>
                </a:solidFill>
                <a:latin typeface="Calibri"/>
                <a:ea typeface="Calibri"/>
                <a:cs typeface="Calibri"/>
              </a:rPr>
              <a:t>401(k) plan audit deadline</a:t>
            </a:r>
          </a:p>
        </p:txBody>
      </p:sp>
      <p:sp>
        <p:nvSpPr>
          <p:cNvPr id="21" name="TextBox 20"/>
          <p:cNvSpPr txBox="1"/>
          <p:nvPr/>
        </p:nvSpPr>
        <p:spPr>
          <a:xfrm>
            <a:off x="548640" y="5175504"/>
            <a:ext cx="11091672" cy="402336"/>
          </a:xfrm>
          <a:prstGeom prst="rect">
            <a:avLst/>
          </a:prstGeom>
          <a:noFill/>
        </p:spPr>
        <p:txBody>
          <a:bodyPr wrap="square" lIns="0" tIns="0" rIns="0" bIns="0" anchor="t"/>
          <a:lstStyle/>
          <a:p>
            <a:pPr algn="l" marL="0" indent="0">
              <a:buNone/>
            </a:pPr>
            <a:r>
              <a:rPr sz="1500" b="1" i="0">
                <a:solidFill>
                  <a:srgbClr val="FFFFFF"/>
                </a:solidFill>
                <a:latin typeface="Cambria"/>
                <a:ea typeface="Cambria"/>
                <a:cs typeface="Cambria"/>
              </a:rPr>
              <a:t>Every month without a documented close is a month of knowledge that lives in one person’s head.</a:t>
            </a:r>
          </a:p>
        </p:txBody>
      </p:sp>
      <p:sp>
        <p:nvSpPr>
          <p:cNvPr id="22" name="TextBox 21"/>
          <p:cNvSpPr txBox="1"/>
          <p:nvPr/>
        </p:nvSpPr>
        <p:spPr>
          <a:xfrm>
            <a:off x="548640" y="5669280"/>
            <a:ext cx="11064240" cy="402336"/>
          </a:xfrm>
          <a:prstGeom prst="rect">
            <a:avLst/>
          </a:prstGeom>
          <a:noFill/>
        </p:spPr>
        <p:txBody>
          <a:bodyPr wrap="square" lIns="0" tIns="0" rIns="0" bIns="0" anchor="t"/>
          <a:lstStyle/>
          <a:p>
            <a:pPr algn="l" marL="0" indent="0">
              <a:lnSpc>
                <a:spcPct val="105000"/>
              </a:lnSpc>
              <a:buNone/>
            </a:pPr>
            <a:r>
              <a:rPr sz="1200" b="0" i="0">
                <a:solidFill>
                  <a:srgbClr val="C9B08A"/>
                </a:solidFill>
                <a:latin typeface="Calibri"/>
                <a:ea typeface="Calibri"/>
                <a:cs typeface="Calibri"/>
              </a:rPr>
              <a:t>The tax return is ready for your preparer, the 401(k) audit is days away, and Bell Bank's quarterly report is due in November. These do not wait for a hire to ramp.</a:t>
            </a:r>
          </a:p>
        </p:txBody>
      </p:sp>
      <p:sp>
        <p:nvSpPr>
          <p:cNvPr id="23" name="TextBox 22"/>
          <p:cNvSpPr txBox="1"/>
          <p:nvPr/>
        </p:nvSpPr>
        <p:spPr>
          <a:xfrm>
            <a:off x="548640" y="6400800"/>
            <a:ext cx="8961120" cy="237744"/>
          </a:xfrm>
          <a:prstGeom prst="rect">
            <a:avLst/>
          </a:prstGeom>
          <a:noFill/>
        </p:spPr>
        <p:txBody>
          <a:bodyPr wrap="square" lIns="0" tIns="0" rIns="0" bIns="0" anchor="t"/>
          <a:lstStyle/>
          <a:p>
            <a:pPr algn="l" marL="0" indent="0">
              <a:buNone/>
            </a:pPr>
            <a:r>
              <a:rPr sz="800" b="0" i="0">
                <a:solidFill>
                  <a:srgbClr val="6E6E6E"/>
                </a:solidFill>
                <a:latin typeface="Calibri"/>
                <a:ea typeface="Calibri"/>
                <a:cs typeface="Calibri"/>
              </a:rPr>
              <a:t>Source: meeting with Marc, Shawn and Josh, and the CFO transition memo. All figures to be confirmed during onboarding.</a:t>
            </a:r>
          </a:p>
        </p:txBody>
      </p:sp>
      <p:sp>
        <p:nvSpPr>
          <p:cNvPr id="24" name="TextBox 23"/>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6E6E6E"/>
                </a:solidFill>
                <a:latin typeface="Calibri"/>
                <a:ea typeface="Calibri"/>
                <a:cs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WHO WE ARE · THE FIRM</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A boutique firm with big-firm experience</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Scottsdale-based. Partner-level work, delivered by the people you actually talk to.</a:t>
            </a:r>
          </a:p>
        </p:txBody>
      </p:sp>
      <p:sp>
        <p:nvSpPr>
          <p:cNvPr id="5" name="Rectangle 4"/>
          <p:cNvSpPr/>
          <p:nvPr/>
        </p:nvSpPr>
        <p:spPr>
          <a:xfrm>
            <a:off x="548640" y="1883664"/>
            <a:ext cx="3514344" cy="148132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88366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2157984"/>
            <a:ext cx="2965704" cy="420624"/>
          </a:xfrm>
          <a:prstGeom prst="rect">
            <a:avLst/>
          </a:prstGeom>
          <a:noFill/>
        </p:spPr>
        <p:txBody>
          <a:bodyPr wrap="square" lIns="0" tIns="0" rIns="0" bIns="0" anchor="t"/>
          <a:lstStyle/>
          <a:p>
            <a:pPr algn="l" marL="0" indent="0">
              <a:lnSpc>
                <a:spcPct val="105000"/>
              </a:lnSpc>
              <a:buNone/>
            </a:pPr>
            <a:r>
              <a:rPr sz="1200" b="1" i="0">
                <a:solidFill>
                  <a:srgbClr val="B08D57"/>
                </a:solidFill>
                <a:latin typeface="Calibri"/>
                <a:ea typeface="Calibri"/>
                <a:cs typeface="Calibri"/>
              </a:rPr>
              <a:t>TOP 10 FIRM EXPERIENCE</a:t>
            </a:r>
          </a:p>
        </p:txBody>
      </p:sp>
      <p:sp>
        <p:nvSpPr>
          <p:cNvPr id="8" name="TextBox 7"/>
          <p:cNvSpPr txBox="1"/>
          <p:nvPr/>
        </p:nvSpPr>
        <p:spPr>
          <a:xfrm>
            <a:off x="822959" y="2633472"/>
            <a:ext cx="2965704" cy="603504"/>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Directors and Managers from top 10 national accounting firms — the tier above regional practices.</a:t>
            </a:r>
          </a:p>
        </p:txBody>
      </p:sp>
      <p:sp>
        <p:nvSpPr>
          <p:cNvPr id="9" name="Rectangle 8"/>
          <p:cNvSpPr/>
          <p:nvPr/>
        </p:nvSpPr>
        <p:spPr>
          <a:xfrm>
            <a:off x="4337304" y="1883664"/>
            <a:ext cx="3514344" cy="148132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337304" y="188366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11624" y="2157984"/>
            <a:ext cx="2965704" cy="420624"/>
          </a:xfrm>
          <a:prstGeom prst="rect">
            <a:avLst/>
          </a:prstGeom>
          <a:noFill/>
        </p:spPr>
        <p:txBody>
          <a:bodyPr wrap="square" lIns="0" tIns="0" rIns="0" bIns="0" anchor="t"/>
          <a:lstStyle/>
          <a:p>
            <a:pPr algn="l" marL="0" indent="0">
              <a:lnSpc>
                <a:spcPct val="105000"/>
              </a:lnSpc>
              <a:buNone/>
            </a:pPr>
            <a:r>
              <a:rPr sz="1200" b="1" i="0">
                <a:solidFill>
                  <a:srgbClr val="B08D57"/>
                </a:solidFill>
                <a:latin typeface="Calibri"/>
                <a:ea typeface="Calibri"/>
                <a:cs typeface="Calibri"/>
              </a:rPr>
              <a:t>MULTI-INDUSTRY</a:t>
            </a:r>
          </a:p>
        </p:txBody>
      </p:sp>
      <p:sp>
        <p:nvSpPr>
          <p:cNvPr id="12" name="TextBox 11"/>
          <p:cNvSpPr txBox="1"/>
          <p:nvPr/>
        </p:nvSpPr>
        <p:spPr>
          <a:xfrm>
            <a:off x="4611624" y="2633472"/>
            <a:ext cx="2965704" cy="603504"/>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Construction · real estate · property management · professional services · distribution &amp; retail · hospitality.</a:t>
            </a:r>
          </a:p>
        </p:txBody>
      </p:sp>
      <p:sp>
        <p:nvSpPr>
          <p:cNvPr id="13" name="Rectangle 12"/>
          <p:cNvSpPr/>
          <p:nvPr/>
        </p:nvSpPr>
        <p:spPr>
          <a:xfrm>
            <a:off x="8125968" y="1883664"/>
            <a:ext cx="3514344" cy="148132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125968" y="188366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00288" y="2157984"/>
            <a:ext cx="2965704" cy="420624"/>
          </a:xfrm>
          <a:prstGeom prst="rect">
            <a:avLst/>
          </a:prstGeom>
          <a:noFill/>
        </p:spPr>
        <p:txBody>
          <a:bodyPr wrap="square" lIns="0" tIns="0" rIns="0" bIns="0" anchor="t"/>
          <a:lstStyle/>
          <a:p>
            <a:pPr algn="l" marL="0" indent="0">
              <a:lnSpc>
                <a:spcPct val="105000"/>
              </a:lnSpc>
              <a:buNone/>
            </a:pPr>
            <a:r>
              <a:rPr sz="1200" b="1" i="0">
                <a:solidFill>
                  <a:srgbClr val="B08D57"/>
                </a:solidFill>
                <a:latin typeface="Calibri"/>
                <a:ea typeface="Calibri"/>
                <a:cs typeface="Calibri"/>
              </a:rPr>
              <a:t>PRIVATE EQUITY / FAMILY OFFICE</a:t>
            </a:r>
          </a:p>
        </p:txBody>
      </p:sp>
      <p:sp>
        <p:nvSpPr>
          <p:cNvPr id="16" name="TextBox 15"/>
          <p:cNvSpPr txBox="1"/>
          <p:nvPr/>
        </p:nvSpPr>
        <p:spPr>
          <a:xfrm>
            <a:off x="8400288" y="2633472"/>
            <a:ext cx="2965704" cy="603504"/>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PE-backed and private-industry operating experience, including transaction and investor reporting support.</a:t>
            </a:r>
          </a:p>
        </p:txBody>
      </p:sp>
      <p:sp>
        <p:nvSpPr>
          <p:cNvPr id="17" name="Rectangle 16"/>
          <p:cNvSpPr/>
          <p:nvPr/>
        </p:nvSpPr>
        <p:spPr>
          <a:xfrm>
            <a:off x="548640" y="3621024"/>
            <a:ext cx="11091672" cy="1975104"/>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40480"/>
            <a:ext cx="10506456" cy="237744"/>
          </a:xfrm>
          <a:prstGeom prst="rect">
            <a:avLst/>
          </a:prstGeom>
          <a:noFill/>
        </p:spPr>
        <p:txBody>
          <a:bodyPr wrap="square" lIns="0" tIns="0" rIns="0" bIns="0" anchor="t"/>
          <a:lstStyle/>
          <a:p>
            <a:pPr algn="l" marL="0" indent="0">
              <a:buNone/>
            </a:pPr>
            <a:r>
              <a:rPr sz="1050" b="1" i="0">
                <a:solidFill>
                  <a:srgbClr val="8F7346"/>
                </a:solidFill>
                <a:latin typeface="Calibri"/>
                <a:ea typeface="Calibri"/>
                <a:cs typeface="Calibri"/>
              </a:rPr>
              <a:t>HOW THIS ENGAGEMENT IS STAFFED</a:t>
            </a:r>
          </a:p>
        </p:txBody>
      </p:sp>
      <p:cxnSp>
        <p:nvCxnSpPr>
          <p:cNvPr id="19" name="Connector 18"/>
          <p:cNvCxnSpPr/>
          <p:nvPr/>
        </p:nvCxnSpPr>
        <p:spPr>
          <a:xfrm>
            <a:off x="841247" y="4169663"/>
            <a:ext cx="10506457" cy="0"/>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94476" y="4334256"/>
            <a:ext cx="0" cy="1078992"/>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841247" y="4370832"/>
            <a:ext cx="146304" cy="146304"/>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115568" y="4334256"/>
            <a:ext cx="4754880" cy="256032"/>
          </a:xfrm>
          <a:prstGeom prst="rect">
            <a:avLst/>
          </a:prstGeom>
          <a:noFill/>
        </p:spPr>
        <p:txBody>
          <a:bodyPr wrap="square" lIns="0" tIns="0" rIns="0" bIns="0" anchor="t"/>
          <a:lstStyle/>
          <a:p>
            <a:pPr algn="l" marL="0" indent="0">
              <a:buNone/>
            </a:pPr>
            <a:r>
              <a:rPr sz="1150" b="1" i="0">
                <a:solidFill>
                  <a:srgbClr val="8F7346"/>
                </a:solidFill>
                <a:latin typeface="Calibri"/>
                <a:ea typeface="Calibri"/>
                <a:cs typeface="Calibri"/>
              </a:rPr>
              <a:t>US TEAM · MANAGEMENT &amp; STAFF</a:t>
            </a:r>
          </a:p>
        </p:txBody>
      </p:sp>
      <p:sp>
        <p:nvSpPr>
          <p:cNvPr id="23" name="TextBox 22"/>
          <p:cNvSpPr txBox="1"/>
          <p:nvPr/>
        </p:nvSpPr>
        <p:spPr>
          <a:xfrm>
            <a:off x="841247" y="4663440"/>
            <a:ext cx="4901184" cy="822960"/>
          </a:xfrm>
          <a:prstGeom prst="rect">
            <a:avLst/>
          </a:prstGeom>
          <a:noFill/>
        </p:spPr>
        <p:txBody>
          <a:bodyPr wrap="square" lIns="0" tIns="0" rIns="0" bIns="0" anchor="t"/>
          <a:lstStyle/>
          <a:p>
            <a:pPr algn="l" marL="0" indent="0">
              <a:lnSpc>
                <a:spcPct val="120000"/>
              </a:lnSpc>
              <a:buNone/>
            </a:pPr>
            <a:r>
              <a:rPr sz="1000" b="0" i="0">
                <a:solidFill>
                  <a:srgbClr val="5F5F5F"/>
                </a:solidFill>
                <a:latin typeface="Calibri"/>
                <a:ea typeface="Calibri"/>
                <a:cs typeface="Calibri"/>
              </a:rPr>
              <a:t>Engagement leadership, the controller and CFO roles, and every judgment call. Scottsdale-based, and on-site in Phoenix for onboarding and training your team.</a:t>
            </a:r>
          </a:p>
        </p:txBody>
      </p:sp>
      <p:sp>
        <p:nvSpPr>
          <p:cNvPr id="24" name="Rectangle 23"/>
          <p:cNvSpPr/>
          <p:nvPr/>
        </p:nvSpPr>
        <p:spPr>
          <a:xfrm>
            <a:off x="6391656" y="4370832"/>
            <a:ext cx="146304" cy="146304"/>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665976" y="4334256"/>
            <a:ext cx="4754880" cy="256032"/>
          </a:xfrm>
          <a:prstGeom prst="rect">
            <a:avLst/>
          </a:prstGeom>
          <a:noFill/>
        </p:spPr>
        <p:txBody>
          <a:bodyPr wrap="square" lIns="0" tIns="0" rIns="0" bIns="0" anchor="t"/>
          <a:lstStyle/>
          <a:p>
            <a:pPr algn="l" marL="0" indent="0">
              <a:buNone/>
            </a:pPr>
            <a:r>
              <a:rPr sz="1150" b="1" i="0">
                <a:solidFill>
                  <a:srgbClr val="8F7346"/>
                </a:solidFill>
                <a:latin typeface="Calibri"/>
                <a:ea typeface="Calibri"/>
                <a:cs typeface="Calibri"/>
              </a:rPr>
              <a:t>EUROPE · STAFF &amp; GLOBAL IT</a:t>
            </a:r>
          </a:p>
        </p:txBody>
      </p:sp>
      <p:sp>
        <p:nvSpPr>
          <p:cNvPr id="26" name="TextBox 25"/>
          <p:cNvSpPr txBox="1"/>
          <p:nvPr/>
        </p:nvSpPr>
        <p:spPr>
          <a:xfrm>
            <a:off x="6391656" y="4663440"/>
            <a:ext cx="4901184" cy="822960"/>
          </a:xfrm>
          <a:prstGeom prst="rect">
            <a:avLst/>
          </a:prstGeom>
          <a:noFill/>
        </p:spPr>
        <p:txBody>
          <a:bodyPr wrap="square" lIns="0" tIns="0" rIns="0" bIns="0" anchor="t"/>
          <a:lstStyle/>
          <a:p>
            <a:pPr algn="l" marL="0" indent="0">
              <a:lnSpc>
                <a:spcPct val="120000"/>
              </a:lnSpc>
              <a:buNone/>
            </a:pPr>
            <a:r>
              <a:rPr sz="1000" b="0" i="0">
                <a:solidFill>
                  <a:srgbClr val="5F5F5F"/>
                </a:solidFill>
                <a:latin typeface="Calibri"/>
                <a:ea typeface="Calibri"/>
                <a:cs typeface="Calibri"/>
              </a:rPr>
              <a:t>Reconciliations, schedule preparation and transaction support behind the engagement: a distributed team on our systems and our review process.</a:t>
            </a:r>
          </a:p>
        </p:txBody>
      </p:sp>
      <p:sp>
        <p:nvSpPr>
          <p:cNvPr id="27" name="TextBox 26"/>
          <p:cNvSpPr txBox="1"/>
          <p:nvPr/>
        </p:nvSpPr>
        <p:spPr>
          <a:xfrm>
            <a:off x="548640" y="5989320"/>
            <a:ext cx="11064240" cy="402336"/>
          </a:xfrm>
          <a:prstGeom prst="rect">
            <a:avLst/>
          </a:prstGeom>
          <a:noFill/>
        </p:spPr>
        <p:txBody>
          <a:bodyPr wrap="square" lIns="0" tIns="0" rIns="0" bIns="0" anchor="t"/>
          <a:lstStyle/>
          <a:p>
            <a:pPr algn="l" marL="0" indent="0">
              <a:lnSpc>
                <a:spcPct val="105000"/>
              </a:lnSpc>
              <a:buNone/>
            </a:pPr>
            <a:r>
              <a:rPr sz="1200" b="0" i="0">
                <a:solidFill>
                  <a:srgbClr val="8F7346"/>
                </a:solidFill>
                <a:latin typeface="Calibri"/>
                <a:ea typeface="Calibri"/>
                <a:cs typeface="Calibri"/>
              </a:rPr>
              <a:t>Every accountant on the team carries 10+ years. One firm, scaled from transaction detail to the boardroom.</a:t>
            </a:r>
          </a:p>
        </p:txBody>
      </p:sp>
      <p:sp>
        <p:nvSpPr>
          <p:cNvPr id="28" name="TextBox 27"/>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YOUR ENGAGEMENT LEAD</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Steven Nikolov</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Founder, Principal &amp; Outsourced CFO  ·  steven@onyxcfo.com  ·  (480) 999-5509</a:t>
            </a:r>
          </a:p>
        </p:txBody>
      </p:sp>
      <p:sp>
        <p:nvSpPr>
          <p:cNvPr id="5" name="TextBox 4"/>
          <p:cNvSpPr txBox="1"/>
          <p:nvPr/>
        </p:nvSpPr>
        <p:spPr>
          <a:xfrm>
            <a:off x="548640" y="1883664"/>
            <a:ext cx="6446520" cy="274320"/>
          </a:xfrm>
          <a:prstGeom prst="rect">
            <a:avLst/>
          </a:prstGeom>
          <a:noFill/>
        </p:spPr>
        <p:txBody>
          <a:bodyPr wrap="square" lIns="0" tIns="0" rIns="0" bIns="0" anchor="t"/>
          <a:lstStyle/>
          <a:p>
            <a:pPr algn="l" marL="0" indent="0">
              <a:buNone/>
            </a:pPr>
            <a:r>
              <a:rPr sz="1050" b="1" i="0">
                <a:solidFill>
                  <a:srgbClr val="8F7346"/>
                </a:solidFill>
                <a:latin typeface="Calibri"/>
                <a:ea typeface="Calibri"/>
                <a:cs typeface="Calibri"/>
              </a:rPr>
              <a:t>BACKGROUND</a:t>
            </a:r>
          </a:p>
        </p:txBody>
      </p:sp>
      <p:cxnSp>
        <p:nvCxnSpPr>
          <p:cNvPr id="6" name="Connector 5"/>
          <p:cNvCxnSpPr/>
          <p:nvPr/>
        </p:nvCxnSpPr>
        <p:spPr>
          <a:xfrm>
            <a:off x="548640" y="2194560"/>
            <a:ext cx="6446519" cy="0"/>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2359152"/>
            <a:ext cx="6446520" cy="3017520"/>
          </a:xfrm>
          <a:prstGeom prst="rect">
            <a:avLst/>
          </a:prstGeom>
          <a:noFill/>
        </p:spPr>
        <p:txBody>
          <a:bodyPr wrap="square" lIns="0" tIns="0" rIns="0" bIns="0" anchor="t"/>
          <a:lstStyle/>
          <a:p>
            <a:pPr algn="l" marL="152704" indent="-152704">
              <a:spcAft>
                <a:spcPts val="900"/>
              </a:spcAft>
              <a:buSzPct val="100000"/>
              <a:buChar char="•"/>
            </a:pPr>
            <a:r>
              <a:rPr sz="1100" b="0" i="0">
                <a:solidFill>
                  <a:srgbClr val="5F5F5F"/>
                </a:solidFill>
                <a:latin typeface="Calibri"/>
                <a:ea typeface="Calibri"/>
                <a:cs typeface="Calibri"/>
              </a:rPr>
              <a:t>Top 10 national accounting firm background at Director and Manager level, the tier above regional practices.</a:t>
            </a:r>
          </a:p>
          <a:p>
            <a:pPr algn="l" marL="152704" indent="-152704">
              <a:spcAft>
                <a:spcPts val="900"/>
              </a:spcAft>
              <a:buSzPct val="100000"/>
              <a:buChar char="•"/>
            </a:pPr>
            <a:r>
              <a:rPr sz="1100" b="0" i="0">
                <a:solidFill>
                  <a:srgbClr val="5F5F5F"/>
                </a:solidFill>
                <a:latin typeface="Calibri"/>
                <a:ea typeface="Calibri"/>
                <a:cs typeface="Calibri"/>
              </a:rPr>
              <a:t>Outsourced CFO and controller to owner-led and PE-backed companies across distribution and retail, construction, real estate and professional services.</a:t>
            </a:r>
          </a:p>
          <a:p>
            <a:pPr algn="l" marL="152704" indent="-152704">
              <a:spcAft>
                <a:spcPts val="900"/>
              </a:spcAft>
              <a:buSzPct val="100000"/>
              <a:buChar char="•"/>
            </a:pPr>
            <a:r>
              <a:rPr sz="1100" b="0" i="0">
                <a:solidFill>
                  <a:srgbClr val="5F5F5F"/>
                </a:solidFill>
                <a:latin typeface="Calibri"/>
                <a:ea typeface="Calibri"/>
                <a:cs typeface="Calibri"/>
              </a:rPr>
              <a:t>Builds books for outside scrutiny: owners, boards, lenders and auditors. The standard does not change, only who is reading.</a:t>
            </a:r>
          </a:p>
          <a:p>
            <a:pPr algn="l" marL="152704" indent="-152704">
              <a:spcAft>
                <a:spcPts val="900"/>
              </a:spcAft>
              <a:buSzPct val="100000"/>
              <a:buChar char="•"/>
            </a:pPr>
            <a:r>
              <a:rPr sz="1100" b="0" i="0">
                <a:solidFill>
                  <a:srgbClr val="5F5F5F"/>
                </a:solidFill>
                <a:latin typeface="Calibri"/>
                <a:ea typeface="Calibri"/>
                <a:cs typeface="Calibri"/>
              </a:rPr>
              <a:t>Leads the controller and CFO work personally: close design, management and board reporting, budgeting and forecasting, and lender reporting.</a:t>
            </a:r>
          </a:p>
          <a:p>
            <a:pPr algn="l" marL="152704" indent="-152704">
              <a:spcAft>
                <a:spcPts val="900"/>
              </a:spcAft>
              <a:buSzPct val="100000"/>
              <a:buChar char="•"/>
            </a:pPr>
            <a:r>
              <a:rPr sz="1100" b="0" i="0">
                <a:solidFill>
                  <a:srgbClr val="5F5F5F"/>
                </a:solidFill>
                <a:latin typeface="Calibri"/>
                <a:ea typeface="Calibri"/>
                <a:cs typeface="Calibri"/>
              </a:rPr>
              <a:t>Uses automation and AI as controlled tools, with documented human review of every material output.</a:t>
            </a:r>
          </a:p>
        </p:txBody>
      </p:sp>
      <p:sp>
        <p:nvSpPr>
          <p:cNvPr id="8" name="Rectangle 7"/>
          <p:cNvSpPr/>
          <p:nvPr/>
        </p:nvSpPr>
        <p:spPr>
          <a:xfrm>
            <a:off x="548640" y="5504688"/>
            <a:ext cx="6446520" cy="475488"/>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68096" y="5614416"/>
            <a:ext cx="6007608" cy="292608"/>
          </a:xfrm>
          <a:prstGeom prst="rect">
            <a:avLst/>
          </a:prstGeom>
          <a:noFill/>
        </p:spPr>
        <p:txBody>
          <a:bodyPr wrap="square" lIns="0" tIns="0" rIns="0" bIns="0" anchor="t"/>
          <a:lstStyle/>
          <a:p>
            <a:pPr algn="l" marL="0" indent="0">
              <a:buNone/>
            </a:pPr>
            <a:r>
              <a:rPr sz="950" b="0" i="1">
                <a:solidFill>
                  <a:srgbClr val="8F7346"/>
                </a:solidFill>
                <a:latin typeface="Calibri"/>
                <a:ea typeface="Calibri"/>
                <a:cs typeface="Calibri"/>
              </a:rPr>
              <a:t>[ Steven to confirm before sending: CPA licence and state, years in practice, and any contractor or ESOP engagements to name. ]</a:t>
            </a:r>
          </a:p>
        </p:txBody>
      </p:sp>
      <p:sp>
        <p:nvSpPr>
          <p:cNvPr id="10" name="Rectangle 9"/>
          <p:cNvSpPr/>
          <p:nvPr/>
        </p:nvSpPr>
        <p:spPr>
          <a:xfrm>
            <a:off x="7360920" y="1883664"/>
            <a:ext cx="4279392" cy="371246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360920" y="1883664"/>
            <a:ext cx="4279392"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653528" y="2157984"/>
            <a:ext cx="3694176" cy="274320"/>
          </a:xfrm>
          <a:prstGeom prst="rect">
            <a:avLst/>
          </a:prstGeom>
          <a:noFill/>
        </p:spPr>
        <p:txBody>
          <a:bodyPr wrap="square" lIns="0" tIns="0" rIns="0" bIns="0" anchor="t"/>
          <a:lstStyle/>
          <a:p>
            <a:pPr algn="l" marL="0" indent="0">
              <a:buNone/>
            </a:pPr>
            <a:r>
              <a:rPr sz="1150" b="1" i="0">
                <a:solidFill>
                  <a:srgbClr val="B08D57"/>
                </a:solidFill>
                <a:latin typeface="Calibri"/>
                <a:ea typeface="Calibri"/>
                <a:cs typeface="Calibri"/>
              </a:rPr>
              <a:t>WHY THIS ENGAGEMENT FITS</a:t>
            </a:r>
          </a:p>
        </p:txBody>
      </p:sp>
      <p:sp>
        <p:nvSpPr>
          <p:cNvPr id="13" name="TextBox 12"/>
          <p:cNvSpPr txBox="1"/>
          <p:nvPr/>
        </p:nvSpPr>
        <p:spPr>
          <a:xfrm>
            <a:off x="7653528" y="2560320"/>
            <a:ext cx="3694176" cy="2377440"/>
          </a:xfrm>
          <a:prstGeom prst="rect">
            <a:avLst/>
          </a:prstGeom>
          <a:noFill/>
        </p:spPr>
        <p:txBody>
          <a:bodyPr wrap="square" lIns="0" tIns="0" rIns="0" bIns="0" anchor="t"/>
          <a:lstStyle/>
          <a:p>
            <a:pPr algn="l" marL="152704" indent="-152704">
              <a:spcAft>
                <a:spcPts val="1000"/>
              </a:spcAft>
              <a:buSzPct val="100000"/>
              <a:buChar char="•"/>
            </a:pPr>
            <a:r>
              <a:rPr sz="1050" b="0" i="0">
                <a:solidFill>
                  <a:srgbClr val="D6D6D6"/>
                </a:solidFill>
                <a:latin typeface="Calibri"/>
                <a:ea typeface="Calibri"/>
                <a:cs typeface="Calibri"/>
              </a:rPr>
              <a:t>An established contractor on Sage Intacct with ServiceTitan and inventory, stepping in after a CFO departure. | A company with an ESOP, an external audit, a bank relationship and a planned S-corp conversion. | A finance team that does not turn over, so the knowledge that just left gets rebuilt and stays.</a:t>
            </a:r>
          </a:p>
        </p:txBody>
      </p:sp>
      <p:cxnSp>
        <p:nvCxnSpPr>
          <p:cNvPr id="14" name="Connector 13"/>
          <p:cNvCxnSpPr/>
          <p:nvPr/>
        </p:nvCxnSpPr>
        <p:spPr>
          <a:xfrm>
            <a:off x="7653528" y="5047488"/>
            <a:ext cx="3694176" cy="0"/>
          </a:xfrm>
          <a:prstGeom prst="line">
            <a:avLst/>
          </a:prstGeom>
          <a:ln w="12700">
            <a:solidFill>
              <a:srgbClr val="3A3A3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53528" y="5193792"/>
            <a:ext cx="3694176" cy="310896"/>
          </a:xfrm>
          <a:prstGeom prst="rect">
            <a:avLst/>
          </a:prstGeom>
          <a:noFill/>
        </p:spPr>
        <p:txBody>
          <a:bodyPr wrap="square" lIns="0" tIns="0" rIns="0" bIns="0" anchor="t"/>
          <a:lstStyle/>
          <a:p>
            <a:pPr algn="l" marL="0" indent="0">
              <a:buNone/>
            </a:pPr>
            <a:r>
              <a:rPr sz="1050" b="0" i="1">
                <a:solidFill>
                  <a:srgbClr val="C9B08A"/>
                </a:solidFill>
                <a:latin typeface="Calibri"/>
                <a:ea typeface="Calibri"/>
                <a:cs typeface="Calibri"/>
              </a:rPr>
              <a:t>You get the principal on the file, not a hand-off after the sale.</a:t>
            </a:r>
          </a:p>
        </p:txBody>
      </p:sp>
      <p:sp>
        <p:nvSpPr>
          <p:cNvPr id="16" name="TextBox 15"/>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SCOPE DISCIPLINE</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Finance leadership, with clear lines on authority</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You asked for dependable controller and CFO leadership. That is exactly the scope. Here is the line.</a:t>
            </a:r>
          </a:p>
        </p:txBody>
      </p:sp>
      <p:sp>
        <p:nvSpPr>
          <p:cNvPr id="5" name="Rectangle 4"/>
          <p:cNvSpPr/>
          <p:nvPr/>
        </p:nvSpPr>
        <p:spPr>
          <a:xfrm>
            <a:off x="548640" y="1920240"/>
            <a:ext cx="5408676" cy="3657600"/>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920240"/>
            <a:ext cx="5408676"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41247" y="2157984"/>
            <a:ext cx="4823460" cy="274320"/>
          </a:xfrm>
          <a:prstGeom prst="rect">
            <a:avLst/>
          </a:prstGeom>
          <a:noFill/>
        </p:spPr>
        <p:txBody>
          <a:bodyPr wrap="square" lIns="0" tIns="0" rIns="0" bIns="0" anchor="t"/>
          <a:lstStyle/>
          <a:p>
            <a:pPr algn="l" marL="0" indent="0">
              <a:buNone/>
            </a:pPr>
            <a:r>
              <a:rPr sz="1200" b="1" i="0">
                <a:solidFill>
                  <a:srgbClr val="8F7346"/>
                </a:solidFill>
                <a:latin typeface="Calibri"/>
                <a:ea typeface="Calibri"/>
                <a:cs typeface="Calibri"/>
              </a:rPr>
              <a:t>IN SCOPE: WHAT WE DO</a:t>
            </a:r>
          </a:p>
        </p:txBody>
      </p:sp>
      <p:sp>
        <p:nvSpPr>
          <p:cNvPr id="8" name="TextBox 7"/>
          <p:cNvSpPr txBox="1"/>
          <p:nvPr/>
        </p:nvSpPr>
        <p:spPr>
          <a:xfrm>
            <a:off x="841247" y="2560320"/>
            <a:ext cx="4823460" cy="2834640"/>
          </a:xfrm>
          <a:prstGeom prst="rect">
            <a:avLst/>
          </a:prstGeom>
          <a:noFill/>
        </p:spPr>
        <p:txBody>
          <a:bodyPr wrap="square" lIns="0" tIns="0" rIns="0" bIns="0" anchor="t"/>
          <a:lstStyle/>
          <a:p>
            <a:pPr algn="l" marL="152704" indent="-152704">
              <a:spcAft>
                <a:spcPts val="1000"/>
              </a:spcAft>
              <a:buSzPct val="100000"/>
              <a:buChar char="•"/>
            </a:pPr>
            <a:r>
              <a:rPr sz="1050" b="0" i="0">
                <a:solidFill>
                  <a:srgbClr val="5F5F5F"/>
                </a:solidFill>
                <a:latin typeface="Calibri"/>
                <a:ea typeface="Calibri"/>
                <a:cs typeface="Calibri"/>
              </a:rPr>
              <a:t>Drive the monthly close and review reconciliations and journal entries. | Train and support your in-house accountant and review the day-to-day work. | Deliver management and Bell Bank reporting. | Simplify the general ledger, streamline AP, and connect the systems. | Provide CFO reporting, budgeting, forecasting and direction. | Support the 401(k) and financial audits by preparing what they ask for.</a:t>
            </a:r>
          </a:p>
        </p:txBody>
      </p:sp>
      <p:sp>
        <p:nvSpPr>
          <p:cNvPr id="9" name="Rectangle 8"/>
          <p:cNvSpPr/>
          <p:nvPr/>
        </p:nvSpPr>
        <p:spPr>
          <a:xfrm>
            <a:off x="6231636" y="1920240"/>
            <a:ext cx="5408676" cy="36576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231636" y="1920240"/>
            <a:ext cx="5408676"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24244" y="2157984"/>
            <a:ext cx="4823460" cy="274320"/>
          </a:xfrm>
          <a:prstGeom prst="rect">
            <a:avLst/>
          </a:prstGeom>
          <a:noFill/>
        </p:spPr>
        <p:txBody>
          <a:bodyPr wrap="square" lIns="0" tIns="0" rIns="0" bIns="0" anchor="t"/>
          <a:lstStyle/>
          <a:p>
            <a:pPr algn="l" marL="0" indent="0">
              <a:buNone/>
            </a:pPr>
            <a:r>
              <a:rPr sz="1200" b="1" i="0">
                <a:solidFill>
                  <a:srgbClr val="B08D57"/>
                </a:solidFill>
                <a:latin typeface="Calibri"/>
                <a:ea typeface="Calibri"/>
                <a:cs typeface="Calibri"/>
              </a:rPr>
              <a:t>NOT IN SCOPE: AND WHY</a:t>
            </a:r>
          </a:p>
        </p:txBody>
      </p:sp>
      <p:sp>
        <p:nvSpPr>
          <p:cNvPr id="12" name="TextBox 11"/>
          <p:cNvSpPr txBox="1"/>
          <p:nvPr/>
        </p:nvSpPr>
        <p:spPr>
          <a:xfrm>
            <a:off x="6524244" y="2560320"/>
            <a:ext cx="4823460" cy="2468880"/>
          </a:xfrm>
          <a:prstGeom prst="rect">
            <a:avLst/>
          </a:prstGeom>
          <a:noFill/>
        </p:spPr>
        <p:txBody>
          <a:bodyPr wrap="square" lIns="0" tIns="0" rIns="0" bIns="0" anchor="t"/>
          <a:lstStyle/>
          <a:p>
            <a:pPr algn="l" marL="152704" indent="-152704">
              <a:spcAft>
                <a:spcPts val="1000"/>
              </a:spcAft>
              <a:buSzPct val="100000"/>
              <a:buChar char="•"/>
            </a:pPr>
            <a:r>
              <a:rPr sz="1050" b="0" i="0">
                <a:solidFill>
                  <a:srgbClr val="D6D6D6"/>
                </a:solidFill>
                <a:latin typeface="Calibri"/>
                <a:ea typeface="Calibri"/>
                <a:cs typeface="Calibri"/>
              </a:rPr>
              <a:t>Signing authority or moving money. Your team keeps every approval and payment. | Tax work or filing any returns. We hand the books to your tax preparer, who files. | Performing the audit. We support it and provide no opinion or assurance. | A forensic or fraud investigation.</a:t>
            </a:r>
          </a:p>
        </p:txBody>
      </p:sp>
      <p:cxnSp>
        <p:nvCxnSpPr>
          <p:cNvPr id="13" name="Connector 12"/>
          <p:cNvCxnSpPr/>
          <p:nvPr/>
        </p:nvCxnSpPr>
        <p:spPr>
          <a:xfrm>
            <a:off x="6524244" y="4901184"/>
            <a:ext cx="4823460" cy="0"/>
          </a:xfrm>
          <a:prstGeom prst="line">
            <a:avLst/>
          </a:prstGeom>
          <a:ln w="12700">
            <a:solidFill>
              <a:srgbClr val="3A3A3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24244" y="5047488"/>
            <a:ext cx="4823460" cy="438912"/>
          </a:xfrm>
          <a:prstGeom prst="rect">
            <a:avLst/>
          </a:prstGeom>
          <a:noFill/>
        </p:spPr>
        <p:txBody>
          <a:bodyPr wrap="square" lIns="0" tIns="0" rIns="0" bIns="0" anchor="t"/>
          <a:lstStyle/>
          <a:p>
            <a:pPr algn="l" marL="0" indent="0">
              <a:lnSpc>
                <a:spcPct val="118000"/>
              </a:lnSpc>
              <a:buNone/>
            </a:pPr>
            <a:r>
              <a:rPr sz="1000" b="0" i="0">
                <a:solidFill>
                  <a:srgbClr val="C9B08A"/>
                </a:solidFill>
                <a:latin typeface="Calibri"/>
                <a:ea typeface="Calibri"/>
                <a:cs typeface="Calibri"/>
              </a:rPr>
              <a:t>If something looks irregular, we escalate it to you in writing immediately. Investigating it is a separate engagement.</a:t>
            </a:r>
          </a:p>
        </p:txBody>
      </p:sp>
      <p:sp>
        <p:nvSpPr>
          <p:cNvPr id="15" name="TextBox 14"/>
          <p:cNvSpPr txBox="1"/>
          <p:nvPr/>
        </p:nvSpPr>
        <p:spPr>
          <a:xfrm>
            <a:off x="548640" y="5989320"/>
            <a:ext cx="11064240" cy="402336"/>
          </a:xfrm>
          <a:prstGeom prst="rect">
            <a:avLst/>
          </a:prstGeom>
          <a:noFill/>
        </p:spPr>
        <p:txBody>
          <a:bodyPr wrap="square" lIns="0" tIns="0" rIns="0" bIns="0" anchor="t"/>
          <a:lstStyle/>
          <a:p>
            <a:pPr algn="l" marL="0" indent="0">
              <a:lnSpc>
                <a:spcPct val="105000"/>
              </a:lnSpc>
              <a:buNone/>
            </a:pPr>
            <a:r>
              <a:rPr sz="1200" b="0" i="0">
                <a:solidFill>
                  <a:srgbClr val="8F7346"/>
                </a:solidFill>
                <a:latin typeface="Calibri"/>
                <a:ea typeface="Calibri"/>
                <a:cs typeface="Calibri"/>
              </a:rPr>
              <a:t>Naming the boundary up front keeps approvals, payments and filings where they belong: with the company and its tax preparer.</a:t>
            </a:r>
          </a:p>
        </p:txBody>
      </p:sp>
      <p:sp>
        <p:nvSpPr>
          <p:cNvPr id="16" name="TextBox 15"/>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B08D57"/>
                </a:solidFill>
                <a:latin typeface="Calibri"/>
                <a:ea typeface="Calibri"/>
                <a:cs typeface="Calibri"/>
              </a:rPr>
              <a:t>WHAT MAKES IT DIFFERENT</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FFFFFF"/>
                </a:solidFill>
                <a:latin typeface="Cambria"/>
                <a:ea typeface="Cambria"/>
                <a:cs typeface="Cambria"/>
              </a:rPr>
              <a:t>What makes a contractor's books different</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C9C9C9"/>
                </a:solidFill>
                <a:latin typeface="Calibri"/>
                <a:ea typeface="Calibri"/>
                <a:cs typeface="Calibri"/>
              </a:rPr>
              <a:t>The six areas where a growing contractor's finance function is won or lost.</a:t>
            </a:r>
          </a:p>
        </p:txBody>
      </p:sp>
      <p:sp>
        <p:nvSpPr>
          <p:cNvPr id="5" name="Rectangle 4"/>
          <p:cNvSpPr/>
          <p:nvPr/>
        </p:nvSpPr>
        <p:spPr>
          <a:xfrm>
            <a:off x="548640" y="1883664"/>
            <a:ext cx="3514344" cy="1792224"/>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88366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2121408"/>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JOB COSTING &amp; WIP</a:t>
            </a:r>
          </a:p>
        </p:txBody>
      </p:sp>
      <p:sp>
        <p:nvSpPr>
          <p:cNvPr id="8" name="TextBox 7"/>
          <p:cNvSpPr txBox="1"/>
          <p:nvPr/>
        </p:nvSpPr>
        <p:spPr>
          <a:xfrm>
            <a:off x="822959" y="2578608"/>
            <a:ext cx="2965704" cy="201168"/>
          </a:xfrm>
          <a:prstGeom prst="rect">
            <a:avLst/>
          </a:prstGeom>
          <a:noFill/>
        </p:spPr>
        <p:txBody>
          <a:bodyPr wrap="square" lIns="0" tIns="0" rIns="0" bIns="0" anchor="t"/>
          <a:lstStyle/>
          <a:p>
            <a:pPr algn="l" marL="0" indent="0">
              <a:buNone/>
            </a:pPr>
            <a:r>
              <a:rPr sz="850" b="1" i="0">
                <a:solidFill>
                  <a:srgbClr val="C9B08A"/>
                </a:solidFill>
                <a:latin typeface="Calibri"/>
                <a:ea typeface="Calibri"/>
                <a:cs typeface="Calibri"/>
              </a:rPr>
              <a:t>SERVICETITAN</a:t>
            </a:r>
          </a:p>
        </p:txBody>
      </p:sp>
      <p:sp>
        <p:nvSpPr>
          <p:cNvPr id="9" name="TextBox 8"/>
          <p:cNvSpPr txBox="1"/>
          <p:nvPr/>
        </p:nvSpPr>
        <p:spPr>
          <a:xfrm>
            <a:off x="822959" y="2816352"/>
            <a:ext cx="2965704" cy="749808"/>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Job and project costing, work-in-progress, and tying field activity in ServiceTitan back to the general ledger.</a:t>
            </a:r>
          </a:p>
        </p:txBody>
      </p:sp>
      <p:sp>
        <p:nvSpPr>
          <p:cNvPr id="10" name="Rectangle 9"/>
          <p:cNvSpPr/>
          <p:nvPr/>
        </p:nvSpPr>
        <p:spPr>
          <a:xfrm>
            <a:off x="4337304" y="1883664"/>
            <a:ext cx="3514344" cy="1792224"/>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37304" y="188366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1624" y="2121408"/>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INVENTORY</a:t>
            </a:r>
          </a:p>
        </p:txBody>
      </p:sp>
      <p:sp>
        <p:nvSpPr>
          <p:cNvPr id="13" name="TextBox 12"/>
          <p:cNvSpPr txBox="1"/>
          <p:nvPr/>
        </p:nvSpPr>
        <p:spPr>
          <a:xfrm>
            <a:off x="4611624" y="2578608"/>
            <a:ext cx="2965704" cy="201168"/>
          </a:xfrm>
          <a:prstGeom prst="rect">
            <a:avLst/>
          </a:prstGeom>
          <a:noFill/>
        </p:spPr>
        <p:txBody>
          <a:bodyPr wrap="square" lIns="0" tIns="0" rIns="0" bIns="0" anchor="t"/>
          <a:lstStyle/>
          <a:p>
            <a:pPr algn="l" marL="0" indent="0">
              <a:buNone/>
            </a:pPr>
            <a:r>
              <a:rPr sz="850" b="1" i="0">
                <a:solidFill>
                  <a:srgbClr val="C9B08A"/>
                </a:solidFill>
                <a:latin typeface="Calibri"/>
                <a:ea typeface="Calibri"/>
                <a:cs typeface="Calibri"/>
              </a:rPr>
              <a:t>QSTOCK · SAGE INTACCT</a:t>
            </a:r>
          </a:p>
        </p:txBody>
      </p:sp>
      <p:sp>
        <p:nvSpPr>
          <p:cNvPr id="14" name="TextBox 13"/>
          <p:cNvSpPr txBox="1"/>
          <p:nvPr/>
        </p:nvSpPr>
        <p:spPr>
          <a:xfrm>
            <a:off x="4611624" y="2816352"/>
            <a:ext cx="2965704" cy="749808"/>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Parts and materials inventory in QStock, valued and reconciled into Sage Intacct each month.</a:t>
            </a:r>
          </a:p>
        </p:txBody>
      </p:sp>
      <p:sp>
        <p:nvSpPr>
          <p:cNvPr id="15" name="Rectangle 14"/>
          <p:cNvSpPr/>
          <p:nvPr/>
        </p:nvSpPr>
        <p:spPr>
          <a:xfrm>
            <a:off x="8125968" y="1883664"/>
            <a:ext cx="3514344" cy="1792224"/>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25968" y="188366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00288" y="2121408"/>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ACCOUNTS PAYABLE</a:t>
            </a:r>
          </a:p>
        </p:txBody>
      </p:sp>
      <p:sp>
        <p:nvSpPr>
          <p:cNvPr id="18" name="TextBox 17"/>
          <p:cNvSpPr txBox="1"/>
          <p:nvPr/>
        </p:nvSpPr>
        <p:spPr>
          <a:xfrm>
            <a:off x="8400288" y="2578608"/>
            <a:ext cx="2965704" cy="201168"/>
          </a:xfrm>
          <a:prstGeom prst="rect">
            <a:avLst/>
          </a:prstGeom>
          <a:noFill/>
        </p:spPr>
        <p:txBody>
          <a:bodyPr wrap="square" lIns="0" tIns="0" rIns="0" bIns="0" anchor="t"/>
          <a:lstStyle/>
          <a:p>
            <a:pPr algn="l" marL="0" indent="0">
              <a:buNone/>
            </a:pPr>
            <a:r>
              <a:rPr sz="850" b="1" i="0">
                <a:solidFill>
                  <a:srgbClr val="C9B08A"/>
                </a:solidFill>
                <a:latin typeface="Calibri"/>
                <a:ea typeface="Calibri"/>
                <a:cs typeface="Calibri"/>
              </a:rPr>
              <a:t>BILL.COM · INTACCT</a:t>
            </a:r>
          </a:p>
        </p:txBody>
      </p:sp>
      <p:sp>
        <p:nvSpPr>
          <p:cNvPr id="19" name="TextBox 18"/>
          <p:cNvSpPr txBox="1"/>
          <p:nvPr/>
        </p:nvSpPr>
        <p:spPr>
          <a:xfrm>
            <a:off x="8400288" y="2816352"/>
            <a:ext cx="2965704" cy="749808"/>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The check run and positive-pay file today, moving to a smoother, more automated AP process next.</a:t>
            </a:r>
          </a:p>
        </p:txBody>
      </p:sp>
      <p:sp>
        <p:nvSpPr>
          <p:cNvPr id="20" name="Rectangle 19"/>
          <p:cNvSpPr/>
          <p:nvPr/>
        </p:nvSpPr>
        <p:spPr>
          <a:xfrm>
            <a:off x="548640" y="3803904"/>
            <a:ext cx="3514344" cy="1792224"/>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48640" y="380390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59" y="4041648"/>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MONTH-END CLOSE</a:t>
            </a:r>
          </a:p>
        </p:txBody>
      </p:sp>
      <p:sp>
        <p:nvSpPr>
          <p:cNvPr id="23" name="TextBox 22"/>
          <p:cNvSpPr txBox="1"/>
          <p:nvPr/>
        </p:nvSpPr>
        <p:spPr>
          <a:xfrm>
            <a:off x="822959" y="4498848"/>
            <a:ext cx="2965704" cy="201168"/>
          </a:xfrm>
          <a:prstGeom prst="rect">
            <a:avLst/>
          </a:prstGeom>
          <a:noFill/>
        </p:spPr>
        <p:txBody>
          <a:bodyPr wrap="square" lIns="0" tIns="0" rIns="0" bIns="0" anchor="t"/>
          <a:lstStyle/>
          <a:p>
            <a:pPr algn="l" marL="0" indent="0">
              <a:buNone/>
            </a:pPr>
            <a:r>
              <a:rPr sz="850" b="1" i="0">
                <a:solidFill>
                  <a:srgbClr val="C9B08A"/>
                </a:solidFill>
                <a:latin typeface="Calibri"/>
                <a:ea typeface="Calibri"/>
                <a:cs typeface="Calibri"/>
              </a:rPr>
              <a:t>SAGE INTACCT</a:t>
            </a:r>
          </a:p>
        </p:txBody>
      </p:sp>
      <p:sp>
        <p:nvSpPr>
          <p:cNvPr id="24" name="TextBox 23"/>
          <p:cNvSpPr txBox="1"/>
          <p:nvPr/>
        </p:nvSpPr>
        <p:spPr>
          <a:xfrm>
            <a:off x="822959" y="4736592"/>
            <a:ext cx="2965704" cy="749808"/>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A documented close with reviewed reconciliations, so management and Bell Bank see numbers that tie.</a:t>
            </a:r>
          </a:p>
        </p:txBody>
      </p:sp>
      <p:sp>
        <p:nvSpPr>
          <p:cNvPr id="25" name="Rectangle 24"/>
          <p:cNvSpPr/>
          <p:nvPr/>
        </p:nvSpPr>
        <p:spPr>
          <a:xfrm>
            <a:off x="4337304" y="3803904"/>
            <a:ext cx="3514344" cy="1792224"/>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37304" y="380390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611624" y="4041648"/>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PAYROLL &amp; BENEFITS</a:t>
            </a:r>
          </a:p>
        </p:txBody>
      </p:sp>
      <p:sp>
        <p:nvSpPr>
          <p:cNvPr id="28" name="TextBox 27"/>
          <p:cNvSpPr txBox="1"/>
          <p:nvPr/>
        </p:nvSpPr>
        <p:spPr>
          <a:xfrm>
            <a:off x="4611624" y="4498848"/>
            <a:ext cx="2965704" cy="201168"/>
          </a:xfrm>
          <a:prstGeom prst="rect">
            <a:avLst/>
          </a:prstGeom>
          <a:noFill/>
        </p:spPr>
        <p:txBody>
          <a:bodyPr wrap="square" lIns="0" tIns="0" rIns="0" bIns="0" anchor="t"/>
          <a:lstStyle/>
          <a:p>
            <a:pPr algn="l" marL="0" indent="0">
              <a:buNone/>
            </a:pPr>
            <a:r>
              <a:rPr sz="850" b="1" i="0">
                <a:solidFill>
                  <a:srgbClr val="C9B08A"/>
                </a:solidFill>
                <a:latin typeface="Calibri"/>
                <a:ea typeface="Calibri"/>
                <a:cs typeface="Calibri"/>
              </a:rPr>
              <a:t>BAMBOOHR · TRAX</a:t>
            </a:r>
          </a:p>
        </p:txBody>
      </p:sp>
      <p:sp>
        <p:nvSpPr>
          <p:cNvPr id="29" name="TextBox 28"/>
          <p:cNvSpPr txBox="1"/>
          <p:nvPr/>
        </p:nvSpPr>
        <p:spPr>
          <a:xfrm>
            <a:off x="4611624" y="4736592"/>
            <a:ext cx="2965704" cy="749808"/>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Weekly payroll and benefit submissions across six carriers, plus the 401(k) and HSA.</a:t>
            </a:r>
          </a:p>
        </p:txBody>
      </p:sp>
      <p:sp>
        <p:nvSpPr>
          <p:cNvPr id="30" name="Rectangle 29"/>
          <p:cNvSpPr/>
          <p:nvPr/>
        </p:nvSpPr>
        <p:spPr>
          <a:xfrm>
            <a:off x="8125968" y="3803904"/>
            <a:ext cx="3514344" cy="1792224"/>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125968" y="380390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400288" y="4041648"/>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ESOP &amp; STRUCTURE</a:t>
            </a:r>
          </a:p>
        </p:txBody>
      </p:sp>
      <p:sp>
        <p:nvSpPr>
          <p:cNvPr id="33" name="TextBox 32"/>
          <p:cNvSpPr txBox="1"/>
          <p:nvPr/>
        </p:nvSpPr>
        <p:spPr>
          <a:xfrm>
            <a:off x="8400288" y="4498848"/>
            <a:ext cx="2965704" cy="201168"/>
          </a:xfrm>
          <a:prstGeom prst="rect">
            <a:avLst/>
          </a:prstGeom>
          <a:noFill/>
        </p:spPr>
        <p:txBody>
          <a:bodyPr wrap="square" lIns="0" tIns="0" rIns="0" bIns="0" anchor="t"/>
          <a:lstStyle/>
          <a:p>
            <a:pPr algn="l" marL="0" indent="0">
              <a:buNone/>
            </a:pPr>
            <a:r>
              <a:rPr sz="850" b="1" i="0">
                <a:solidFill>
                  <a:srgbClr val="C9B08A"/>
                </a:solidFill>
                <a:latin typeface="Calibri"/>
                <a:ea typeface="Calibri"/>
                <a:cs typeface="Calibri"/>
              </a:rPr>
              <a:t>C-CORP → S-CORP 2028</a:t>
            </a:r>
          </a:p>
        </p:txBody>
      </p:sp>
      <p:sp>
        <p:nvSpPr>
          <p:cNvPr id="34" name="TextBox 33"/>
          <p:cNvSpPr txBox="1"/>
          <p:nvPr/>
        </p:nvSpPr>
        <p:spPr>
          <a:xfrm>
            <a:off x="8400288" y="4736592"/>
            <a:ext cx="2965704" cy="749808"/>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An ESOP, an external audit, and a planned conversion back to an S corporation that has to be modeled and supported.</a:t>
            </a:r>
          </a:p>
        </p:txBody>
      </p:sp>
      <p:sp>
        <p:nvSpPr>
          <p:cNvPr id="35" name="TextBox 34"/>
          <p:cNvSpPr txBox="1"/>
          <p:nvPr/>
        </p:nvSpPr>
        <p:spPr>
          <a:xfrm>
            <a:off x="548640" y="5806440"/>
            <a:ext cx="11064240" cy="402336"/>
          </a:xfrm>
          <a:prstGeom prst="rect">
            <a:avLst/>
          </a:prstGeom>
          <a:noFill/>
        </p:spPr>
        <p:txBody>
          <a:bodyPr wrap="square" lIns="0" tIns="0" rIns="0" bIns="0" anchor="t"/>
          <a:lstStyle/>
          <a:p>
            <a:pPr algn="l" marL="0" indent="0">
              <a:lnSpc>
                <a:spcPct val="105000"/>
              </a:lnSpc>
              <a:buNone/>
            </a:pPr>
            <a:r>
              <a:rPr sz="1200" b="0" i="0">
                <a:solidFill>
                  <a:srgbClr val="C9B08A"/>
                </a:solidFill>
                <a:latin typeface="Calibri"/>
                <a:ea typeface="Calibri"/>
                <a:cs typeface="Calibri"/>
              </a:rPr>
              <a:t>None of this is exotic. All of it is where a lean team runs out of hours, and where a new hire takes months to learn the business.</a:t>
            </a:r>
          </a:p>
        </p:txBody>
      </p:sp>
      <p:sp>
        <p:nvSpPr>
          <p:cNvPr id="36" name="TextBox 35"/>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6E6E6E"/>
                </a:solidFill>
                <a:latin typeface="Calibri"/>
                <a:ea typeface="Calibri"/>
                <a:cs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THE FIRST 90 DAYS</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A 30/60/90-day plan, then a steady rhythm</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Each phase ends with a check-in with Marc and the leadership team.</a:t>
            </a:r>
          </a:p>
        </p:txBody>
      </p:sp>
      <p:sp>
        <p:nvSpPr>
          <p:cNvPr id="5" name="Rectangle 4"/>
          <p:cNvSpPr/>
          <p:nvPr/>
        </p:nvSpPr>
        <p:spPr>
          <a:xfrm>
            <a:off x="548640" y="1865376"/>
            <a:ext cx="2567178" cy="3749039"/>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865376"/>
            <a:ext cx="2567178"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86384" y="2121408"/>
            <a:ext cx="384048" cy="384048"/>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86384" y="2121408"/>
            <a:ext cx="384048" cy="384048"/>
          </a:xfrm>
          <a:prstGeom prst="rect">
            <a:avLst/>
          </a:prstGeom>
          <a:noFill/>
        </p:spPr>
        <p:txBody>
          <a:bodyPr wrap="square" lIns="0" tIns="0" rIns="0" bIns="0" anchor="ctr"/>
          <a:lstStyle/>
          <a:p>
            <a:pPr algn="ctr" marL="0" indent="0">
              <a:buNone/>
            </a:pPr>
            <a:r>
              <a:rPr sz="1250" b="1" i="0">
                <a:solidFill>
                  <a:srgbClr val="FFFFFF"/>
                </a:solidFill>
                <a:latin typeface="Calibri"/>
                <a:ea typeface="Calibri"/>
                <a:cs typeface="Calibri"/>
              </a:rPr>
              <a:t>01</a:t>
            </a:r>
          </a:p>
        </p:txBody>
      </p:sp>
      <p:sp>
        <p:nvSpPr>
          <p:cNvPr id="9" name="TextBox 8"/>
          <p:cNvSpPr txBox="1"/>
          <p:nvPr/>
        </p:nvSpPr>
        <p:spPr>
          <a:xfrm>
            <a:off x="786384" y="2651760"/>
            <a:ext cx="2091690" cy="310896"/>
          </a:xfrm>
          <a:prstGeom prst="rect">
            <a:avLst/>
          </a:prstGeom>
          <a:noFill/>
        </p:spPr>
        <p:txBody>
          <a:bodyPr wrap="square" lIns="0" tIns="0" rIns="0" bIns="0" anchor="t"/>
          <a:lstStyle/>
          <a:p>
            <a:pPr algn="l" marL="0" indent="0">
              <a:lnSpc>
                <a:spcPct val="102000"/>
              </a:lnSpc>
              <a:buNone/>
            </a:pPr>
            <a:r>
              <a:rPr sz="1300" b="1" i="0">
                <a:solidFill>
                  <a:srgbClr val="212121"/>
                </a:solidFill>
                <a:latin typeface="Cambria"/>
                <a:ea typeface="Cambria"/>
                <a:cs typeface="Cambria"/>
              </a:rPr>
              <a:t>ONBOARDING</a:t>
            </a:r>
          </a:p>
        </p:txBody>
      </p:sp>
      <p:sp>
        <p:nvSpPr>
          <p:cNvPr id="10" name="TextBox 9"/>
          <p:cNvSpPr txBox="1"/>
          <p:nvPr/>
        </p:nvSpPr>
        <p:spPr>
          <a:xfrm>
            <a:off x="786384" y="2980944"/>
            <a:ext cx="2091690" cy="219456"/>
          </a:xfrm>
          <a:prstGeom prst="rect">
            <a:avLst/>
          </a:prstGeom>
          <a:noFill/>
        </p:spPr>
        <p:txBody>
          <a:bodyPr wrap="square" lIns="0" tIns="0" rIns="0" bIns="0" anchor="t"/>
          <a:lstStyle/>
          <a:p>
            <a:pPr algn="l" marL="0" indent="0">
              <a:buNone/>
            </a:pPr>
            <a:r>
              <a:rPr sz="950" b="1" i="0">
                <a:solidFill>
                  <a:srgbClr val="8F7346"/>
                </a:solidFill>
                <a:latin typeface="Calibri"/>
                <a:ea typeface="Calibri"/>
                <a:cs typeface="Calibri"/>
              </a:rPr>
              <a:t>Days 1–30</a:t>
            </a:r>
          </a:p>
        </p:txBody>
      </p:sp>
      <p:sp>
        <p:nvSpPr>
          <p:cNvPr id="11" name="TextBox 10"/>
          <p:cNvSpPr txBox="1"/>
          <p:nvPr/>
        </p:nvSpPr>
        <p:spPr>
          <a:xfrm>
            <a:off x="786384" y="3291840"/>
            <a:ext cx="2091690" cy="1536192"/>
          </a:xfrm>
          <a:prstGeom prst="rect">
            <a:avLst/>
          </a:prstGeom>
          <a:noFill/>
        </p:spPr>
        <p:txBody>
          <a:bodyPr wrap="square" lIns="0" tIns="0" rIns="0" bIns="0" anchor="t"/>
          <a:lstStyle/>
          <a:p>
            <a:pPr algn="l" marL="152704" indent="-152704">
              <a:spcAft>
                <a:spcPts val="800"/>
              </a:spcAft>
              <a:buSzPct val="100000"/>
              <a:buChar char="•"/>
            </a:pPr>
            <a:r>
              <a:rPr sz="950" b="0" i="0">
                <a:solidFill>
                  <a:srgbClr val="5F5F5F"/>
                </a:solidFill>
                <a:latin typeface="Calibri"/>
                <a:ea typeface="Calibri"/>
                <a:cs typeface="Calibri"/>
              </a:rPr>
              <a:t>On-site in Phoenix to onboard and begin training Ian</a:t>
            </a:r>
          </a:p>
          <a:p>
            <a:pPr algn="l" marL="152704" indent="-152704">
              <a:spcAft>
                <a:spcPts val="800"/>
              </a:spcAft>
              <a:buSzPct val="100000"/>
              <a:buChar char="•"/>
            </a:pPr>
            <a:r>
              <a:rPr sz="950" b="0" i="0">
                <a:solidFill>
                  <a:srgbClr val="5F5F5F"/>
                </a:solidFill>
                <a:latin typeface="Calibri"/>
                <a:ea typeface="Calibri"/>
                <a:cs typeface="Calibri"/>
              </a:rPr>
              <a:t>Capture what the CFO knew, before the trail goes cold</a:t>
            </a:r>
          </a:p>
          <a:p>
            <a:pPr algn="l" marL="152704" indent="-152704">
              <a:spcAft>
                <a:spcPts val="800"/>
              </a:spcAft>
              <a:buSzPct val="100000"/>
              <a:buChar char="•"/>
            </a:pPr>
            <a:r>
              <a:rPr sz="950" b="0" i="0">
                <a:solidFill>
                  <a:srgbClr val="5F5F5F"/>
                </a:solidFill>
                <a:latin typeface="Calibri"/>
                <a:ea typeface="Calibri"/>
                <a:cs typeface="Calibri"/>
              </a:rPr>
              <a:t>Document the close, bank-reporting and systems processes</a:t>
            </a:r>
          </a:p>
          <a:p>
            <a:pPr algn="l" marL="152704" indent="-152704">
              <a:spcAft>
                <a:spcPts val="800"/>
              </a:spcAft>
              <a:buSzPct val="100000"/>
              <a:buChar char="•"/>
            </a:pPr>
            <a:r>
              <a:rPr sz="950" b="0" i="0">
                <a:solidFill>
                  <a:srgbClr val="5F5F5F"/>
                </a:solidFill>
                <a:latin typeface="Calibri"/>
                <a:ea typeface="Calibri"/>
                <a:cs typeface="Calibri"/>
              </a:rPr>
              <a:t>Review access and Sage Intacct, and support the 401(k) audit</a:t>
            </a:r>
          </a:p>
        </p:txBody>
      </p:sp>
      <p:cxnSp>
        <p:nvCxnSpPr>
          <p:cNvPr id="12" name="Connector 11"/>
          <p:cNvCxnSpPr/>
          <p:nvPr/>
        </p:nvCxnSpPr>
        <p:spPr>
          <a:xfrm>
            <a:off x="786384" y="4901183"/>
            <a:ext cx="2091690" cy="0"/>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86384" y="5029200"/>
            <a:ext cx="2091690" cy="201168"/>
          </a:xfrm>
          <a:prstGeom prst="rect">
            <a:avLst/>
          </a:prstGeom>
          <a:noFill/>
        </p:spPr>
        <p:txBody>
          <a:bodyPr wrap="square" lIns="0" tIns="0" rIns="0" bIns="0" anchor="t"/>
          <a:lstStyle/>
          <a:p>
            <a:pPr algn="l" marL="0" indent="0">
              <a:buNone/>
            </a:pPr>
            <a:r>
              <a:rPr sz="850" b="1" i="0">
                <a:solidFill>
                  <a:srgbClr val="8F7346"/>
                </a:solidFill>
                <a:latin typeface="Calibri"/>
                <a:ea typeface="Calibri"/>
                <a:cs typeface="Calibri"/>
              </a:rPr>
              <a:t>DELIVERABLE</a:t>
            </a:r>
          </a:p>
        </p:txBody>
      </p:sp>
      <p:sp>
        <p:nvSpPr>
          <p:cNvPr id="14" name="TextBox 13"/>
          <p:cNvSpPr txBox="1"/>
          <p:nvPr/>
        </p:nvSpPr>
        <p:spPr>
          <a:xfrm>
            <a:off x="786384" y="5248656"/>
            <a:ext cx="2091690" cy="310896"/>
          </a:xfrm>
          <a:prstGeom prst="rect">
            <a:avLst/>
          </a:prstGeom>
          <a:noFill/>
        </p:spPr>
        <p:txBody>
          <a:bodyPr wrap="square" lIns="0" tIns="0" rIns="0" bIns="0" anchor="t"/>
          <a:lstStyle/>
          <a:p>
            <a:pPr algn="l" marL="0" indent="0">
              <a:lnSpc>
                <a:spcPct val="112000"/>
              </a:lnSpc>
              <a:buNone/>
            </a:pPr>
            <a:r>
              <a:rPr sz="950" b="1" i="0">
                <a:solidFill>
                  <a:srgbClr val="212121"/>
                </a:solidFill>
                <a:latin typeface="Calibri"/>
                <a:ea typeface="Calibri"/>
                <a:cs typeface="Calibri"/>
              </a:rPr>
              <a:t>Documented close &amp; process map</a:t>
            </a:r>
          </a:p>
        </p:txBody>
      </p:sp>
      <p:sp>
        <p:nvSpPr>
          <p:cNvPr id="15" name="Rectangle 14"/>
          <p:cNvSpPr/>
          <p:nvPr/>
        </p:nvSpPr>
        <p:spPr>
          <a:xfrm>
            <a:off x="3390138" y="1865376"/>
            <a:ext cx="2567178" cy="3749039"/>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390138" y="1865376"/>
            <a:ext cx="2567178"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627882" y="2121408"/>
            <a:ext cx="384048" cy="384048"/>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627882" y="2121408"/>
            <a:ext cx="384048" cy="384048"/>
          </a:xfrm>
          <a:prstGeom prst="rect">
            <a:avLst/>
          </a:prstGeom>
          <a:noFill/>
        </p:spPr>
        <p:txBody>
          <a:bodyPr wrap="square" lIns="0" tIns="0" rIns="0" bIns="0" anchor="ctr"/>
          <a:lstStyle/>
          <a:p>
            <a:pPr algn="ctr" marL="0" indent="0">
              <a:buNone/>
            </a:pPr>
            <a:r>
              <a:rPr sz="1250" b="1" i="0">
                <a:solidFill>
                  <a:srgbClr val="FFFFFF"/>
                </a:solidFill>
                <a:latin typeface="Calibri"/>
                <a:ea typeface="Calibri"/>
                <a:cs typeface="Calibri"/>
              </a:rPr>
              <a:t>02</a:t>
            </a:r>
          </a:p>
        </p:txBody>
      </p:sp>
      <p:sp>
        <p:nvSpPr>
          <p:cNvPr id="19" name="TextBox 18"/>
          <p:cNvSpPr txBox="1"/>
          <p:nvPr/>
        </p:nvSpPr>
        <p:spPr>
          <a:xfrm>
            <a:off x="3627882" y="2651760"/>
            <a:ext cx="2091690" cy="310896"/>
          </a:xfrm>
          <a:prstGeom prst="rect">
            <a:avLst/>
          </a:prstGeom>
          <a:noFill/>
        </p:spPr>
        <p:txBody>
          <a:bodyPr wrap="square" lIns="0" tIns="0" rIns="0" bIns="0" anchor="t"/>
          <a:lstStyle/>
          <a:p>
            <a:pPr algn="l" marL="0" indent="0">
              <a:lnSpc>
                <a:spcPct val="102000"/>
              </a:lnSpc>
              <a:buNone/>
            </a:pPr>
            <a:r>
              <a:rPr sz="1300" b="1" i="0">
                <a:solidFill>
                  <a:srgbClr val="212121"/>
                </a:solidFill>
                <a:latin typeface="Cambria"/>
                <a:ea typeface="Cambria"/>
                <a:cs typeface="Cambria"/>
              </a:rPr>
              <a:t>STABILIZE</a:t>
            </a:r>
          </a:p>
        </p:txBody>
      </p:sp>
      <p:sp>
        <p:nvSpPr>
          <p:cNvPr id="20" name="TextBox 19"/>
          <p:cNvSpPr txBox="1"/>
          <p:nvPr/>
        </p:nvSpPr>
        <p:spPr>
          <a:xfrm>
            <a:off x="3627882" y="2980944"/>
            <a:ext cx="2091690" cy="219456"/>
          </a:xfrm>
          <a:prstGeom prst="rect">
            <a:avLst/>
          </a:prstGeom>
          <a:noFill/>
        </p:spPr>
        <p:txBody>
          <a:bodyPr wrap="square" lIns="0" tIns="0" rIns="0" bIns="0" anchor="t"/>
          <a:lstStyle/>
          <a:p>
            <a:pPr algn="l" marL="0" indent="0">
              <a:buNone/>
            </a:pPr>
            <a:r>
              <a:rPr sz="950" b="1" i="0">
                <a:solidFill>
                  <a:srgbClr val="8F7346"/>
                </a:solidFill>
                <a:latin typeface="Calibri"/>
                <a:ea typeface="Calibri"/>
                <a:cs typeface="Calibri"/>
              </a:rPr>
              <a:t>Days 31–60</a:t>
            </a:r>
          </a:p>
        </p:txBody>
      </p:sp>
      <p:sp>
        <p:nvSpPr>
          <p:cNvPr id="21" name="TextBox 20"/>
          <p:cNvSpPr txBox="1"/>
          <p:nvPr/>
        </p:nvSpPr>
        <p:spPr>
          <a:xfrm>
            <a:off x="3627882" y="3291840"/>
            <a:ext cx="2091690" cy="1536192"/>
          </a:xfrm>
          <a:prstGeom prst="rect">
            <a:avLst/>
          </a:prstGeom>
          <a:noFill/>
        </p:spPr>
        <p:txBody>
          <a:bodyPr wrap="square" lIns="0" tIns="0" rIns="0" bIns="0" anchor="t"/>
          <a:lstStyle/>
          <a:p>
            <a:pPr algn="l" marL="152704" indent="-152704">
              <a:spcAft>
                <a:spcPts val="800"/>
              </a:spcAft>
              <a:buSzPct val="100000"/>
              <a:buChar char="•"/>
            </a:pPr>
            <a:r>
              <a:rPr sz="950" b="0" i="0">
                <a:solidFill>
                  <a:srgbClr val="5F5F5F"/>
                </a:solidFill>
                <a:latin typeface="Calibri"/>
                <a:ea typeface="Calibri"/>
                <a:cs typeface="Calibri"/>
              </a:rPr>
              <a:t>First monthly close driven and reviewed by ONYX | In-house accountant trained and supported | Bell Bank quarterly and management reporting delivered | Gaps and fixes logged with owners</a:t>
            </a:r>
          </a:p>
        </p:txBody>
      </p:sp>
      <p:cxnSp>
        <p:nvCxnSpPr>
          <p:cNvPr id="22" name="Connector 21"/>
          <p:cNvCxnSpPr/>
          <p:nvPr/>
        </p:nvCxnSpPr>
        <p:spPr>
          <a:xfrm>
            <a:off x="3627882" y="4901183"/>
            <a:ext cx="2091690" cy="0"/>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27882" y="5029200"/>
            <a:ext cx="2091690" cy="201168"/>
          </a:xfrm>
          <a:prstGeom prst="rect">
            <a:avLst/>
          </a:prstGeom>
          <a:noFill/>
        </p:spPr>
        <p:txBody>
          <a:bodyPr wrap="square" lIns="0" tIns="0" rIns="0" bIns="0" anchor="t"/>
          <a:lstStyle/>
          <a:p>
            <a:pPr algn="l" marL="0" indent="0">
              <a:buNone/>
            </a:pPr>
            <a:r>
              <a:rPr sz="850" b="1" i="0">
                <a:solidFill>
                  <a:srgbClr val="8F7346"/>
                </a:solidFill>
                <a:latin typeface="Calibri"/>
                <a:ea typeface="Calibri"/>
                <a:cs typeface="Calibri"/>
              </a:rPr>
              <a:t>DELIVERABLE</a:t>
            </a:r>
          </a:p>
        </p:txBody>
      </p:sp>
      <p:sp>
        <p:nvSpPr>
          <p:cNvPr id="24" name="TextBox 23"/>
          <p:cNvSpPr txBox="1"/>
          <p:nvPr/>
        </p:nvSpPr>
        <p:spPr>
          <a:xfrm>
            <a:off x="3627882" y="5248656"/>
            <a:ext cx="2091690" cy="310896"/>
          </a:xfrm>
          <a:prstGeom prst="rect">
            <a:avLst/>
          </a:prstGeom>
          <a:noFill/>
        </p:spPr>
        <p:txBody>
          <a:bodyPr wrap="square" lIns="0" tIns="0" rIns="0" bIns="0" anchor="t"/>
          <a:lstStyle/>
          <a:p>
            <a:pPr algn="l" marL="0" indent="0">
              <a:lnSpc>
                <a:spcPct val="112000"/>
              </a:lnSpc>
              <a:buNone/>
            </a:pPr>
            <a:r>
              <a:rPr sz="950" b="1" i="0">
                <a:solidFill>
                  <a:srgbClr val="212121"/>
                </a:solidFill>
                <a:latin typeface="Calibri"/>
                <a:ea typeface="Calibri"/>
                <a:cs typeface="Calibri"/>
              </a:rPr>
              <a:t>Reviewed close &amp; reporting pack</a:t>
            </a:r>
          </a:p>
        </p:txBody>
      </p:sp>
      <p:sp>
        <p:nvSpPr>
          <p:cNvPr id="25" name="Rectangle 24"/>
          <p:cNvSpPr/>
          <p:nvPr/>
        </p:nvSpPr>
        <p:spPr>
          <a:xfrm>
            <a:off x="6231636" y="1865376"/>
            <a:ext cx="2567178" cy="3749039"/>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231636" y="1865376"/>
            <a:ext cx="2567178"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469379" y="2121408"/>
            <a:ext cx="384048" cy="384048"/>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69379" y="2121408"/>
            <a:ext cx="384048" cy="384048"/>
          </a:xfrm>
          <a:prstGeom prst="rect">
            <a:avLst/>
          </a:prstGeom>
          <a:noFill/>
        </p:spPr>
        <p:txBody>
          <a:bodyPr wrap="square" lIns="0" tIns="0" rIns="0" bIns="0" anchor="ctr"/>
          <a:lstStyle/>
          <a:p>
            <a:pPr algn="ctr" marL="0" indent="0">
              <a:buNone/>
            </a:pPr>
            <a:r>
              <a:rPr sz="1250" b="1" i="0">
                <a:solidFill>
                  <a:srgbClr val="FFFFFF"/>
                </a:solidFill>
                <a:latin typeface="Calibri"/>
                <a:ea typeface="Calibri"/>
                <a:cs typeface="Calibri"/>
              </a:rPr>
              <a:t>03</a:t>
            </a:r>
          </a:p>
        </p:txBody>
      </p:sp>
      <p:sp>
        <p:nvSpPr>
          <p:cNvPr id="29" name="TextBox 28"/>
          <p:cNvSpPr txBox="1"/>
          <p:nvPr/>
        </p:nvSpPr>
        <p:spPr>
          <a:xfrm>
            <a:off x="6469379" y="2651760"/>
            <a:ext cx="2091690" cy="310896"/>
          </a:xfrm>
          <a:prstGeom prst="rect">
            <a:avLst/>
          </a:prstGeom>
          <a:noFill/>
        </p:spPr>
        <p:txBody>
          <a:bodyPr wrap="square" lIns="0" tIns="0" rIns="0" bIns="0" anchor="t"/>
          <a:lstStyle/>
          <a:p>
            <a:pPr algn="l" marL="0" indent="0">
              <a:lnSpc>
                <a:spcPct val="102000"/>
              </a:lnSpc>
              <a:buNone/>
            </a:pPr>
            <a:r>
              <a:rPr sz="1300" b="1" i="0">
                <a:solidFill>
                  <a:srgbClr val="212121"/>
                </a:solidFill>
                <a:latin typeface="Cambria"/>
                <a:ea typeface="Cambria"/>
                <a:cs typeface="Cambria"/>
              </a:rPr>
              <a:t>SYSTEMS</a:t>
            </a:r>
          </a:p>
        </p:txBody>
      </p:sp>
      <p:sp>
        <p:nvSpPr>
          <p:cNvPr id="30" name="TextBox 29"/>
          <p:cNvSpPr txBox="1"/>
          <p:nvPr/>
        </p:nvSpPr>
        <p:spPr>
          <a:xfrm>
            <a:off x="6469379" y="2980944"/>
            <a:ext cx="2091690" cy="219456"/>
          </a:xfrm>
          <a:prstGeom prst="rect">
            <a:avLst/>
          </a:prstGeom>
          <a:noFill/>
        </p:spPr>
        <p:txBody>
          <a:bodyPr wrap="square" lIns="0" tIns="0" rIns="0" bIns="0" anchor="t"/>
          <a:lstStyle/>
          <a:p>
            <a:pPr algn="l" marL="0" indent="0">
              <a:buNone/>
            </a:pPr>
            <a:r>
              <a:rPr sz="950" b="1" i="0">
                <a:solidFill>
                  <a:srgbClr val="8F7346"/>
                </a:solidFill>
                <a:latin typeface="Calibri"/>
                <a:ea typeface="Calibri"/>
                <a:cs typeface="Calibri"/>
              </a:rPr>
              <a:t>Days 61–90</a:t>
            </a:r>
          </a:p>
        </p:txBody>
      </p:sp>
      <p:sp>
        <p:nvSpPr>
          <p:cNvPr id="31" name="TextBox 30"/>
          <p:cNvSpPr txBox="1"/>
          <p:nvPr/>
        </p:nvSpPr>
        <p:spPr>
          <a:xfrm>
            <a:off x="6469379" y="3291840"/>
            <a:ext cx="2091690" cy="1536192"/>
          </a:xfrm>
          <a:prstGeom prst="rect">
            <a:avLst/>
          </a:prstGeom>
          <a:noFill/>
        </p:spPr>
        <p:txBody>
          <a:bodyPr wrap="square" lIns="0" tIns="0" rIns="0" bIns="0" anchor="t"/>
          <a:lstStyle/>
          <a:p>
            <a:pPr algn="l" marL="152704" indent="-152704">
              <a:spcAft>
                <a:spcPts val="800"/>
              </a:spcAft>
              <a:buSzPct val="100000"/>
              <a:buChar char="•"/>
            </a:pPr>
            <a:r>
              <a:rPr sz="950" b="0" i="0">
                <a:solidFill>
                  <a:srgbClr val="5F5F5F"/>
                </a:solidFill>
                <a:latin typeface="Calibri"/>
                <a:ea typeface="Calibri"/>
                <a:cs typeface="Calibri"/>
              </a:rPr>
              <a:t>AP streamlined (Bill.com or Intacct) and the GL simplified</a:t>
            </a:r>
          </a:p>
          <a:p>
            <a:pPr algn="l" marL="152704" indent="-152704">
              <a:spcAft>
                <a:spcPts val="800"/>
              </a:spcAft>
              <a:buSzPct val="100000"/>
              <a:buChar char="•"/>
            </a:pPr>
            <a:r>
              <a:rPr sz="950" b="0" i="0">
                <a:solidFill>
                  <a:srgbClr val="5F5F5F"/>
                </a:solidFill>
                <a:latin typeface="Calibri"/>
                <a:ea typeface="Calibri"/>
                <a:cs typeface="Calibri"/>
              </a:rPr>
              <a:t>ServiceTitan, QStock and Sage Intacct workflows mapped with review controls</a:t>
            </a:r>
          </a:p>
          <a:p>
            <a:pPr algn="l" marL="152704" indent="-152704">
              <a:spcAft>
                <a:spcPts val="800"/>
              </a:spcAft>
              <a:buSzPct val="100000"/>
              <a:buChar char="•"/>
            </a:pPr>
            <a:r>
              <a:rPr sz="950" b="0" i="0">
                <a:solidFill>
                  <a:srgbClr val="5F5F5F"/>
                </a:solidFill>
                <a:latin typeface="Calibri"/>
                <a:ea typeface="Calibri"/>
                <a:cs typeface="Calibri"/>
              </a:rPr>
              <a:t>Inventory project underway</a:t>
            </a:r>
          </a:p>
          <a:p>
            <a:pPr algn="l" marL="152704" indent="-152704">
              <a:spcAft>
                <a:spcPts val="800"/>
              </a:spcAft>
              <a:buSzPct val="100000"/>
              <a:buChar char="•"/>
            </a:pPr>
            <a:r>
              <a:rPr sz="950" b="0" i="0">
                <a:solidFill>
                  <a:srgbClr val="5F5F5F"/>
                </a:solidFill>
                <a:latin typeface="Calibri"/>
                <a:ea typeface="Calibri"/>
                <a:cs typeface="Calibri"/>
              </a:rPr>
              <a:t>Budget and forecast framework defined</a:t>
            </a:r>
          </a:p>
        </p:txBody>
      </p:sp>
      <p:cxnSp>
        <p:nvCxnSpPr>
          <p:cNvPr id="32" name="Connector 31"/>
          <p:cNvCxnSpPr/>
          <p:nvPr/>
        </p:nvCxnSpPr>
        <p:spPr>
          <a:xfrm>
            <a:off x="6469379" y="4901183"/>
            <a:ext cx="2091690" cy="0"/>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69379" y="5029200"/>
            <a:ext cx="2091690" cy="201168"/>
          </a:xfrm>
          <a:prstGeom prst="rect">
            <a:avLst/>
          </a:prstGeom>
          <a:noFill/>
        </p:spPr>
        <p:txBody>
          <a:bodyPr wrap="square" lIns="0" tIns="0" rIns="0" bIns="0" anchor="t"/>
          <a:lstStyle/>
          <a:p>
            <a:pPr algn="l" marL="0" indent="0">
              <a:buNone/>
            </a:pPr>
            <a:r>
              <a:rPr sz="850" b="1" i="0">
                <a:solidFill>
                  <a:srgbClr val="8F7346"/>
                </a:solidFill>
                <a:latin typeface="Calibri"/>
                <a:ea typeface="Calibri"/>
                <a:cs typeface="Calibri"/>
              </a:rPr>
              <a:t>DELIVERABLE</a:t>
            </a:r>
          </a:p>
        </p:txBody>
      </p:sp>
      <p:sp>
        <p:nvSpPr>
          <p:cNvPr id="34" name="TextBox 33"/>
          <p:cNvSpPr txBox="1"/>
          <p:nvPr/>
        </p:nvSpPr>
        <p:spPr>
          <a:xfrm>
            <a:off x="6469379" y="5248656"/>
            <a:ext cx="2091690" cy="310896"/>
          </a:xfrm>
          <a:prstGeom prst="rect">
            <a:avLst/>
          </a:prstGeom>
          <a:noFill/>
        </p:spPr>
        <p:txBody>
          <a:bodyPr wrap="square" lIns="0" tIns="0" rIns="0" bIns="0" anchor="t"/>
          <a:lstStyle/>
          <a:p>
            <a:pPr algn="l" marL="0" indent="0">
              <a:lnSpc>
                <a:spcPct val="112000"/>
              </a:lnSpc>
              <a:buNone/>
            </a:pPr>
            <a:r>
              <a:rPr sz="950" b="1" i="0">
                <a:solidFill>
                  <a:srgbClr val="212121"/>
                </a:solidFill>
                <a:latin typeface="Calibri"/>
                <a:ea typeface="Calibri"/>
                <a:cs typeface="Calibri"/>
              </a:rPr>
              <a:t>Automation roadmap &amp; KPI pack</a:t>
            </a:r>
          </a:p>
        </p:txBody>
      </p:sp>
      <p:sp>
        <p:nvSpPr>
          <p:cNvPr id="35" name="Rectangle 34"/>
          <p:cNvSpPr/>
          <p:nvPr/>
        </p:nvSpPr>
        <p:spPr>
          <a:xfrm>
            <a:off x="9073134" y="1865376"/>
            <a:ext cx="2567178" cy="374903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073134" y="1865376"/>
            <a:ext cx="2567178"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310878" y="2121408"/>
            <a:ext cx="384048" cy="384048"/>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310878" y="2121408"/>
            <a:ext cx="384048" cy="384048"/>
          </a:xfrm>
          <a:prstGeom prst="rect">
            <a:avLst/>
          </a:prstGeom>
          <a:noFill/>
        </p:spPr>
        <p:txBody>
          <a:bodyPr wrap="square" lIns="0" tIns="0" rIns="0" bIns="0" anchor="ctr"/>
          <a:lstStyle/>
          <a:p>
            <a:pPr algn="ctr" marL="0" indent="0">
              <a:buNone/>
            </a:pPr>
            <a:r>
              <a:rPr sz="1250" b="1" i="0">
                <a:solidFill>
                  <a:srgbClr val="FFFFFF"/>
                </a:solidFill>
                <a:latin typeface="Calibri"/>
                <a:ea typeface="Calibri"/>
                <a:cs typeface="Calibri"/>
              </a:rPr>
              <a:t>04</a:t>
            </a:r>
          </a:p>
        </p:txBody>
      </p:sp>
      <p:sp>
        <p:nvSpPr>
          <p:cNvPr id="39" name="TextBox 38"/>
          <p:cNvSpPr txBox="1"/>
          <p:nvPr/>
        </p:nvSpPr>
        <p:spPr>
          <a:xfrm>
            <a:off x="9310878" y="2651760"/>
            <a:ext cx="2091690" cy="310896"/>
          </a:xfrm>
          <a:prstGeom prst="rect">
            <a:avLst/>
          </a:prstGeom>
          <a:noFill/>
        </p:spPr>
        <p:txBody>
          <a:bodyPr wrap="square" lIns="0" tIns="0" rIns="0" bIns="0" anchor="t"/>
          <a:lstStyle/>
          <a:p>
            <a:pPr algn="l" marL="0" indent="0">
              <a:lnSpc>
                <a:spcPct val="102000"/>
              </a:lnSpc>
              <a:buNone/>
            </a:pPr>
            <a:r>
              <a:rPr sz="1300" b="1" i="0">
                <a:solidFill>
                  <a:srgbClr val="FFFFFF"/>
                </a:solidFill>
                <a:latin typeface="Cambria"/>
                <a:ea typeface="Cambria"/>
                <a:cs typeface="Cambria"/>
              </a:rPr>
              <a:t>STEADY STATE</a:t>
            </a:r>
          </a:p>
        </p:txBody>
      </p:sp>
      <p:sp>
        <p:nvSpPr>
          <p:cNvPr id="40" name="TextBox 39"/>
          <p:cNvSpPr txBox="1"/>
          <p:nvPr/>
        </p:nvSpPr>
        <p:spPr>
          <a:xfrm>
            <a:off x="9310878" y="2980944"/>
            <a:ext cx="2091690" cy="219456"/>
          </a:xfrm>
          <a:prstGeom prst="rect">
            <a:avLst/>
          </a:prstGeom>
          <a:noFill/>
        </p:spPr>
        <p:txBody>
          <a:bodyPr wrap="square" lIns="0" tIns="0" rIns="0" bIns="0" anchor="t"/>
          <a:lstStyle/>
          <a:p>
            <a:pPr algn="l" marL="0" indent="0">
              <a:buNone/>
            </a:pPr>
            <a:r>
              <a:rPr sz="950" b="1" i="0">
                <a:solidFill>
                  <a:srgbClr val="C9B08A"/>
                </a:solidFill>
                <a:latin typeface="Calibri"/>
                <a:ea typeface="Calibri"/>
                <a:cs typeface="Calibri"/>
              </a:rPr>
              <a:t>Day 91 onward</a:t>
            </a:r>
          </a:p>
        </p:txBody>
      </p:sp>
      <p:sp>
        <p:nvSpPr>
          <p:cNvPr id="41" name="TextBox 40"/>
          <p:cNvSpPr txBox="1"/>
          <p:nvPr/>
        </p:nvSpPr>
        <p:spPr>
          <a:xfrm>
            <a:off x="9310878" y="3291840"/>
            <a:ext cx="2091690" cy="1536192"/>
          </a:xfrm>
          <a:prstGeom prst="rect">
            <a:avLst/>
          </a:prstGeom>
          <a:noFill/>
        </p:spPr>
        <p:txBody>
          <a:bodyPr wrap="square" lIns="0" tIns="0" rIns="0" bIns="0" anchor="t"/>
          <a:lstStyle/>
          <a:p>
            <a:pPr algn="l" marL="152704" indent="-152704">
              <a:spcAft>
                <a:spcPts val="800"/>
              </a:spcAft>
              <a:buSzPct val="100000"/>
              <a:buChar char="•"/>
            </a:pPr>
            <a:r>
              <a:rPr sz="950" b="0" i="0">
                <a:solidFill>
                  <a:srgbClr val="D6D6D6"/>
                </a:solidFill>
                <a:latin typeface="Calibri"/>
                <a:ea typeface="Calibri"/>
                <a:cs typeface="Calibri"/>
              </a:rPr>
              <a:t>Monthly close and reporting rhythm</a:t>
            </a:r>
          </a:p>
          <a:p>
            <a:pPr algn="l" marL="152704" indent="-152704">
              <a:spcAft>
                <a:spcPts val="800"/>
              </a:spcAft>
              <a:buSzPct val="100000"/>
              <a:buChar char="•"/>
            </a:pPr>
            <a:r>
              <a:rPr sz="950" b="0" i="0">
                <a:solidFill>
                  <a:srgbClr val="D6D6D6"/>
                </a:solidFill>
                <a:latin typeface="Calibri"/>
                <a:ea typeface="Calibri"/>
                <a:cs typeface="Calibri"/>
              </a:rPr>
              <a:t>Budget, forecast and CFO reporting</a:t>
            </a:r>
          </a:p>
          <a:p>
            <a:pPr algn="l" marL="152704" indent="-152704">
              <a:spcAft>
                <a:spcPts val="800"/>
              </a:spcAft>
              <a:buSzPct val="100000"/>
              <a:buChar char="•"/>
            </a:pPr>
            <a:r>
              <a:rPr sz="950" b="0" i="0">
                <a:solidFill>
                  <a:srgbClr val="D6D6D6"/>
                </a:solidFill>
                <a:latin typeface="Calibri"/>
                <a:ea typeface="Calibri"/>
                <a:cs typeface="Calibri"/>
              </a:rPr>
              <a:t>Direction to the team; S-corp conversion planning for 2028</a:t>
            </a:r>
          </a:p>
          <a:p>
            <a:pPr algn="l" marL="152704" indent="-152704">
              <a:spcAft>
                <a:spcPts val="800"/>
              </a:spcAft>
              <a:buSzPct val="100000"/>
              <a:buChar char="•"/>
            </a:pPr>
            <a:r>
              <a:rPr sz="950" b="0" i="0">
                <a:solidFill>
                  <a:srgbClr val="D6D6D6"/>
                </a:solidFill>
                <a:latin typeface="Calibri"/>
                <a:ea typeface="Calibri"/>
                <a:cs typeface="Calibri"/>
              </a:rPr>
              <a:t>Team mix adjusted as needs change</a:t>
            </a:r>
          </a:p>
        </p:txBody>
      </p:sp>
      <p:cxnSp>
        <p:nvCxnSpPr>
          <p:cNvPr id="42" name="Connector 41"/>
          <p:cNvCxnSpPr/>
          <p:nvPr/>
        </p:nvCxnSpPr>
        <p:spPr>
          <a:xfrm>
            <a:off x="9310878" y="4901183"/>
            <a:ext cx="2091689" cy="0"/>
          </a:xfrm>
          <a:prstGeom prst="line">
            <a:avLst/>
          </a:prstGeom>
          <a:ln w="12700">
            <a:solidFill>
              <a:srgbClr val="3A3A3A"/>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310878" y="5029200"/>
            <a:ext cx="2091690" cy="201168"/>
          </a:xfrm>
          <a:prstGeom prst="rect">
            <a:avLst/>
          </a:prstGeom>
          <a:noFill/>
        </p:spPr>
        <p:txBody>
          <a:bodyPr wrap="square" lIns="0" tIns="0" rIns="0" bIns="0" anchor="t"/>
          <a:lstStyle/>
          <a:p>
            <a:pPr algn="l" marL="0" indent="0">
              <a:buNone/>
            </a:pPr>
            <a:r>
              <a:rPr sz="850" b="1" i="0">
                <a:solidFill>
                  <a:srgbClr val="C9B08A"/>
                </a:solidFill>
                <a:latin typeface="Calibri"/>
                <a:ea typeface="Calibri"/>
                <a:cs typeface="Calibri"/>
              </a:rPr>
              <a:t>DELIVERABLE</a:t>
            </a:r>
          </a:p>
        </p:txBody>
      </p:sp>
      <p:sp>
        <p:nvSpPr>
          <p:cNvPr id="44" name="TextBox 43"/>
          <p:cNvSpPr txBox="1"/>
          <p:nvPr/>
        </p:nvSpPr>
        <p:spPr>
          <a:xfrm>
            <a:off x="9310878" y="5248656"/>
            <a:ext cx="2091690" cy="310896"/>
          </a:xfrm>
          <a:prstGeom prst="rect">
            <a:avLst/>
          </a:prstGeom>
          <a:noFill/>
        </p:spPr>
        <p:txBody>
          <a:bodyPr wrap="square" lIns="0" tIns="0" rIns="0" bIns="0" anchor="t"/>
          <a:lstStyle/>
          <a:p>
            <a:pPr algn="l" marL="0" indent="0">
              <a:lnSpc>
                <a:spcPct val="112000"/>
              </a:lnSpc>
              <a:buNone/>
            </a:pPr>
            <a:r>
              <a:rPr sz="950" b="1" i="0">
                <a:solidFill>
                  <a:srgbClr val="FFFFFF"/>
                </a:solidFill>
                <a:latin typeface="Calibri"/>
                <a:ea typeface="Calibri"/>
                <a:cs typeface="Calibri"/>
              </a:rPr>
              <a:t>A finance function run by a team</a:t>
            </a:r>
          </a:p>
        </p:txBody>
      </p:sp>
      <p:sp>
        <p:nvSpPr>
          <p:cNvPr id="45" name="TextBox 44"/>
          <p:cNvSpPr txBox="1"/>
          <p:nvPr/>
        </p:nvSpPr>
        <p:spPr>
          <a:xfrm>
            <a:off x="548640" y="5989320"/>
            <a:ext cx="11064240" cy="402336"/>
          </a:xfrm>
          <a:prstGeom prst="rect">
            <a:avLst/>
          </a:prstGeom>
          <a:noFill/>
        </p:spPr>
        <p:txBody>
          <a:bodyPr wrap="square" lIns="0" tIns="0" rIns="0" bIns="0" anchor="t"/>
          <a:lstStyle/>
          <a:p>
            <a:pPr algn="l" marL="0" indent="0">
              <a:lnSpc>
                <a:spcPct val="105000"/>
              </a:lnSpc>
              <a:buNone/>
            </a:pPr>
            <a:r>
              <a:rPr sz="1200" b="0" i="0">
                <a:solidFill>
                  <a:srgbClr val="8F7346"/>
                </a:solidFill>
                <a:latin typeface="Calibri"/>
                <a:ea typeface="Calibri"/>
                <a:cs typeface="Calibri"/>
              </a:rPr>
              <a:t>The phases overlap by design. Close support starts in week one, not on day 31.</a:t>
            </a:r>
          </a:p>
        </p:txBody>
      </p:sp>
      <p:sp>
        <p:nvSpPr>
          <p:cNvPr id="46" name="TextBox 45"/>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TIMELINE</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Six months to a team-run finance function</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Indicative schedule, confirmed with Marc in the first week.</a:t>
            </a:r>
          </a:p>
        </p:txBody>
      </p:sp>
      <p:cxnSp>
        <p:nvCxnSpPr>
          <p:cNvPr id="5" name="Connector 4"/>
          <p:cNvCxnSpPr/>
          <p:nvPr/>
        </p:nvCxnSpPr>
        <p:spPr>
          <a:xfrm>
            <a:off x="3520440" y="2377440"/>
            <a:ext cx="0" cy="274320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2066543"/>
            <a:ext cx="640080" cy="219456"/>
          </a:xfrm>
          <a:prstGeom prst="rect">
            <a:avLst/>
          </a:prstGeom>
          <a:noFill/>
        </p:spPr>
        <p:txBody>
          <a:bodyPr wrap="square" lIns="0" tIns="0" rIns="0" bIns="0" anchor="t"/>
          <a:lstStyle/>
          <a:p>
            <a:pPr algn="ctr" marL="0" indent="0">
              <a:buNone/>
            </a:pPr>
            <a:r>
              <a:rPr sz="850" b="1" i="0">
                <a:solidFill>
                  <a:srgbClr val="9E9E9E"/>
                </a:solidFill>
                <a:latin typeface="Calibri"/>
                <a:ea typeface="Calibri"/>
                <a:cs typeface="Calibri"/>
              </a:rPr>
              <a:t>DAY 1</a:t>
            </a:r>
          </a:p>
        </p:txBody>
      </p:sp>
      <p:cxnSp>
        <p:nvCxnSpPr>
          <p:cNvPr id="7" name="Connector 6"/>
          <p:cNvCxnSpPr/>
          <p:nvPr/>
        </p:nvCxnSpPr>
        <p:spPr>
          <a:xfrm>
            <a:off x="4781580" y="2377440"/>
            <a:ext cx="0" cy="274320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461540" y="2066543"/>
            <a:ext cx="640080" cy="219456"/>
          </a:xfrm>
          <a:prstGeom prst="rect">
            <a:avLst/>
          </a:prstGeom>
          <a:noFill/>
        </p:spPr>
        <p:txBody>
          <a:bodyPr wrap="square" lIns="0" tIns="0" rIns="0" bIns="0" anchor="t"/>
          <a:lstStyle/>
          <a:p>
            <a:pPr algn="ctr" marL="0" indent="0">
              <a:buNone/>
            </a:pPr>
            <a:r>
              <a:rPr sz="850" b="1" i="0">
                <a:solidFill>
                  <a:srgbClr val="9E9E9E"/>
                </a:solidFill>
                <a:latin typeface="Calibri"/>
                <a:ea typeface="Calibri"/>
                <a:cs typeface="Calibri"/>
              </a:rPr>
              <a:t>DAY 30</a:t>
            </a:r>
          </a:p>
        </p:txBody>
      </p:sp>
      <p:cxnSp>
        <p:nvCxnSpPr>
          <p:cNvPr id="9" name="Connector 8"/>
          <p:cNvCxnSpPr/>
          <p:nvPr/>
        </p:nvCxnSpPr>
        <p:spPr>
          <a:xfrm>
            <a:off x="6042720" y="2377440"/>
            <a:ext cx="0" cy="274320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722680" y="2066543"/>
            <a:ext cx="640080" cy="219456"/>
          </a:xfrm>
          <a:prstGeom prst="rect">
            <a:avLst/>
          </a:prstGeom>
          <a:noFill/>
        </p:spPr>
        <p:txBody>
          <a:bodyPr wrap="square" lIns="0" tIns="0" rIns="0" bIns="0" anchor="t"/>
          <a:lstStyle/>
          <a:p>
            <a:pPr algn="ctr" marL="0" indent="0">
              <a:buNone/>
            </a:pPr>
            <a:r>
              <a:rPr sz="850" b="1" i="0">
                <a:solidFill>
                  <a:srgbClr val="9E9E9E"/>
                </a:solidFill>
                <a:latin typeface="Calibri"/>
                <a:ea typeface="Calibri"/>
                <a:cs typeface="Calibri"/>
              </a:rPr>
              <a:t>DAY 60</a:t>
            </a:r>
          </a:p>
        </p:txBody>
      </p:sp>
      <p:cxnSp>
        <p:nvCxnSpPr>
          <p:cNvPr id="11" name="Connector 10"/>
          <p:cNvCxnSpPr/>
          <p:nvPr/>
        </p:nvCxnSpPr>
        <p:spPr>
          <a:xfrm>
            <a:off x="7303861" y="2377440"/>
            <a:ext cx="0" cy="274320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983821" y="2066543"/>
            <a:ext cx="640080" cy="219456"/>
          </a:xfrm>
          <a:prstGeom prst="rect">
            <a:avLst/>
          </a:prstGeom>
          <a:noFill/>
        </p:spPr>
        <p:txBody>
          <a:bodyPr wrap="square" lIns="0" tIns="0" rIns="0" bIns="0" anchor="t"/>
          <a:lstStyle/>
          <a:p>
            <a:pPr algn="ctr" marL="0" indent="0">
              <a:buNone/>
            </a:pPr>
            <a:r>
              <a:rPr sz="850" b="1" i="0">
                <a:solidFill>
                  <a:srgbClr val="9E9E9E"/>
                </a:solidFill>
                <a:latin typeface="Calibri"/>
                <a:ea typeface="Calibri"/>
                <a:cs typeface="Calibri"/>
              </a:rPr>
              <a:t>DAY 90</a:t>
            </a:r>
          </a:p>
        </p:txBody>
      </p:sp>
      <p:cxnSp>
        <p:nvCxnSpPr>
          <p:cNvPr id="13" name="Connector 12"/>
          <p:cNvCxnSpPr/>
          <p:nvPr/>
        </p:nvCxnSpPr>
        <p:spPr>
          <a:xfrm>
            <a:off x="8565001" y="2377440"/>
            <a:ext cx="0" cy="274320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44961" y="2066543"/>
            <a:ext cx="640080" cy="219456"/>
          </a:xfrm>
          <a:prstGeom prst="rect">
            <a:avLst/>
          </a:prstGeom>
          <a:noFill/>
        </p:spPr>
        <p:txBody>
          <a:bodyPr wrap="square" lIns="0" tIns="0" rIns="0" bIns="0" anchor="t"/>
          <a:lstStyle/>
          <a:p>
            <a:pPr algn="ctr" marL="0" indent="0">
              <a:buNone/>
            </a:pPr>
            <a:r>
              <a:rPr sz="850" b="1" i="0">
                <a:solidFill>
                  <a:srgbClr val="9E9E9E"/>
                </a:solidFill>
                <a:latin typeface="Calibri"/>
                <a:ea typeface="Calibri"/>
                <a:cs typeface="Calibri"/>
              </a:rPr>
              <a:t>DAY 120</a:t>
            </a:r>
          </a:p>
        </p:txBody>
      </p:sp>
      <p:cxnSp>
        <p:nvCxnSpPr>
          <p:cNvPr id="15" name="Connector 14"/>
          <p:cNvCxnSpPr/>
          <p:nvPr/>
        </p:nvCxnSpPr>
        <p:spPr>
          <a:xfrm>
            <a:off x="9826142" y="2377440"/>
            <a:ext cx="0" cy="274320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506102" y="2066543"/>
            <a:ext cx="640080" cy="219456"/>
          </a:xfrm>
          <a:prstGeom prst="rect">
            <a:avLst/>
          </a:prstGeom>
          <a:noFill/>
        </p:spPr>
        <p:txBody>
          <a:bodyPr wrap="square" lIns="0" tIns="0" rIns="0" bIns="0" anchor="t"/>
          <a:lstStyle/>
          <a:p>
            <a:pPr algn="ctr" marL="0" indent="0">
              <a:buNone/>
            </a:pPr>
            <a:r>
              <a:rPr sz="850" b="1" i="0">
                <a:solidFill>
                  <a:srgbClr val="9E9E9E"/>
                </a:solidFill>
                <a:latin typeface="Calibri"/>
                <a:ea typeface="Calibri"/>
                <a:cs typeface="Calibri"/>
              </a:rPr>
              <a:t>DAY 150</a:t>
            </a:r>
          </a:p>
        </p:txBody>
      </p:sp>
      <p:cxnSp>
        <p:nvCxnSpPr>
          <p:cNvPr id="17" name="Connector 16"/>
          <p:cNvCxnSpPr/>
          <p:nvPr/>
        </p:nvCxnSpPr>
        <p:spPr>
          <a:xfrm>
            <a:off x="11087282" y="2377440"/>
            <a:ext cx="0" cy="274320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767242" y="2066543"/>
            <a:ext cx="640080" cy="219456"/>
          </a:xfrm>
          <a:prstGeom prst="rect">
            <a:avLst/>
          </a:prstGeom>
          <a:noFill/>
        </p:spPr>
        <p:txBody>
          <a:bodyPr wrap="square" lIns="0" tIns="0" rIns="0" bIns="0" anchor="t"/>
          <a:lstStyle/>
          <a:p>
            <a:pPr algn="ctr" marL="0" indent="0">
              <a:buNone/>
            </a:pPr>
            <a:r>
              <a:rPr sz="850" b="1" i="0">
                <a:solidFill>
                  <a:srgbClr val="9E9E9E"/>
                </a:solidFill>
                <a:latin typeface="Calibri"/>
                <a:ea typeface="Calibri"/>
                <a:cs typeface="Calibri"/>
              </a:rPr>
              <a:t>DAY 180</a:t>
            </a:r>
          </a:p>
        </p:txBody>
      </p:sp>
      <p:cxnSp>
        <p:nvCxnSpPr>
          <p:cNvPr id="19" name="Connector 18"/>
          <p:cNvCxnSpPr/>
          <p:nvPr/>
        </p:nvCxnSpPr>
        <p:spPr>
          <a:xfrm>
            <a:off x="548640" y="2377440"/>
            <a:ext cx="1109167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48640" y="2377440"/>
            <a:ext cx="11091672" cy="4572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03503" y="2496312"/>
            <a:ext cx="2734056"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On-site onboarding &amp; knowledge capture</a:t>
            </a:r>
          </a:p>
        </p:txBody>
      </p:sp>
      <p:sp>
        <p:nvSpPr>
          <p:cNvPr id="22" name="Rounded Rectangle 21"/>
          <p:cNvSpPr/>
          <p:nvPr/>
        </p:nvSpPr>
        <p:spPr>
          <a:xfrm>
            <a:off x="3520440" y="2487168"/>
            <a:ext cx="2523743" cy="237744"/>
          </a:xfrm>
          <a:prstGeom prst="roundRect">
            <a:avLst>
              <a:gd name="adj" fmla="val 6000"/>
            </a:avLst>
          </a:prstGeom>
          <a:solidFill>
            <a:srgbClr val="8F7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3" name="Connector 22"/>
          <p:cNvCxnSpPr/>
          <p:nvPr/>
        </p:nvCxnSpPr>
        <p:spPr>
          <a:xfrm>
            <a:off x="548640" y="2834640"/>
            <a:ext cx="11091672" cy="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03503" y="2953512"/>
            <a:ext cx="2734056"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Close stabilization &amp; documentation</a:t>
            </a:r>
          </a:p>
        </p:txBody>
      </p:sp>
      <p:sp>
        <p:nvSpPr>
          <p:cNvPr id="25" name="Rounded Rectangle 24"/>
          <p:cNvSpPr/>
          <p:nvPr/>
        </p:nvSpPr>
        <p:spPr>
          <a:xfrm>
            <a:off x="3520440" y="2944368"/>
            <a:ext cx="3785616" cy="237744"/>
          </a:xfrm>
          <a:prstGeom prst="roundRect">
            <a:avLst>
              <a:gd name="adj" fmla="val 6000"/>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6" name="Connector 25"/>
          <p:cNvCxnSpPr/>
          <p:nvPr/>
        </p:nvCxnSpPr>
        <p:spPr>
          <a:xfrm>
            <a:off x="548640" y="3291840"/>
            <a:ext cx="11091672" cy="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48640" y="3291840"/>
            <a:ext cx="11091672" cy="4572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03503" y="3410712"/>
            <a:ext cx="2734056"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Bell Bank &amp; management reporting</a:t>
            </a:r>
          </a:p>
        </p:txBody>
      </p:sp>
      <p:sp>
        <p:nvSpPr>
          <p:cNvPr id="29" name="Rounded Rectangle 28"/>
          <p:cNvSpPr/>
          <p:nvPr/>
        </p:nvSpPr>
        <p:spPr>
          <a:xfrm>
            <a:off x="4782312" y="3401568"/>
            <a:ext cx="3785615" cy="237744"/>
          </a:xfrm>
          <a:prstGeom prst="roundRect">
            <a:avLst>
              <a:gd name="adj" fmla="val 6000"/>
            </a:avLst>
          </a:prstGeom>
          <a:solidFill>
            <a:srgbClr val="CBB3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0" name="Connector 29"/>
          <p:cNvCxnSpPr/>
          <p:nvPr/>
        </p:nvCxnSpPr>
        <p:spPr>
          <a:xfrm>
            <a:off x="548640" y="3749039"/>
            <a:ext cx="11091672" cy="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3503" y="3867911"/>
            <a:ext cx="2734056"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AP, GL &amp; systems optimization</a:t>
            </a:r>
          </a:p>
        </p:txBody>
      </p:sp>
      <p:sp>
        <p:nvSpPr>
          <p:cNvPr id="32" name="Rounded Rectangle 31"/>
          <p:cNvSpPr/>
          <p:nvPr/>
        </p:nvSpPr>
        <p:spPr>
          <a:xfrm>
            <a:off x="6044183" y="3858768"/>
            <a:ext cx="3785616" cy="237744"/>
          </a:xfrm>
          <a:prstGeom prst="roundRect">
            <a:avLst>
              <a:gd name="adj" fmla="val 6000"/>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3" name="Connector 32"/>
          <p:cNvCxnSpPr/>
          <p:nvPr/>
        </p:nvCxnSpPr>
        <p:spPr>
          <a:xfrm>
            <a:off x="548640" y="4206240"/>
            <a:ext cx="11091672" cy="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548640" y="4206240"/>
            <a:ext cx="11091672" cy="4572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03503" y="4325112"/>
            <a:ext cx="2734056"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Inventory project (QStock)</a:t>
            </a:r>
          </a:p>
        </p:txBody>
      </p:sp>
      <p:sp>
        <p:nvSpPr>
          <p:cNvPr id="36" name="Rounded Rectangle 35"/>
          <p:cNvSpPr/>
          <p:nvPr/>
        </p:nvSpPr>
        <p:spPr>
          <a:xfrm>
            <a:off x="7306056" y="4315968"/>
            <a:ext cx="2523744" cy="237744"/>
          </a:xfrm>
          <a:prstGeom prst="roundRect">
            <a:avLst>
              <a:gd name="adj" fmla="val 6000"/>
            </a:avLst>
          </a:prstGeom>
          <a:solidFill>
            <a:srgbClr val="8F7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7" name="Connector 36"/>
          <p:cNvCxnSpPr/>
          <p:nvPr/>
        </p:nvCxnSpPr>
        <p:spPr>
          <a:xfrm>
            <a:off x="548640" y="4663440"/>
            <a:ext cx="11091672" cy="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03503" y="4782312"/>
            <a:ext cx="2734056"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Ongoing controller &amp; CFO work</a:t>
            </a:r>
          </a:p>
        </p:txBody>
      </p:sp>
      <p:sp>
        <p:nvSpPr>
          <p:cNvPr id="39" name="Rounded Rectangle 38"/>
          <p:cNvSpPr/>
          <p:nvPr/>
        </p:nvSpPr>
        <p:spPr>
          <a:xfrm>
            <a:off x="7306056" y="4773168"/>
            <a:ext cx="3785615" cy="237744"/>
          </a:xfrm>
          <a:prstGeom prst="roundRect">
            <a:avLst>
              <a:gd name="adj" fmla="val 6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0" name="Connector 39"/>
          <p:cNvCxnSpPr/>
          <p:nvPr/>
        </p:nvCxnSpPr>
        <p:spPr>
          <a:xfrm>
            <a:off x="548640" y="5120640"/>
            <a:ext cx="11091672" cy="0"/>
          </a:xfrm>
          <a:prstGeom prst="line">
            <a:avLst/>
          </a:prstGeom>
          <a:ln w="12700">
            <a:solidFill>
              <a:srgbClr val="EDEDED"/>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48640" y="5376672"/>
            <a:ext cx="11091672" cy="237744"/>
          </a:xfrm>
          <a:prstGeom prst="rect">
            <a:avLst/>
          </a:prstGeom>
          <a:noFill/>
        </p:spPr>
        <p:txBody>
          <a:bodyPr wrap="square" lIns="0" tIns="0" rIns="0" bIns="0" anchor="t"/>
          <a:lstStyle/>
          <a:p>
            <a:pPr algn="l" marL="0" indent="0">
              <a:buNone/>
            </a:pPr>
            <a:r>
              <a:rPr sz="1000" b="1" i="0">
                <a:solidFill>
                  <a:srgbClr val="8F7346"/>
                </a:solidFill>
                <a:latin typeface="Calibri"/>
                <a:ea typeface="Calibri"/>
                <a:cs typeface="Calibri"/>
              </a:rPr>
              <a:t>KEY CHECKPOINTS</a:t>
            </a:r>
          </a:p>
        </p:txBody>
      </p:sp>
      <p:sp>
        <p:nvSpPr>
          <p:cNvPr id="42" name="Rectangle 41"/>
          <p:cNvSpPr/>
          <p:nvPr/>
        </p:nvSpPr>
        <p:spPr>
          <a:xfrm>
            <a:off x="548640" y="5669280"/>
            <a:ext cx="128016" cy="12801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86384" y="5632704"/>
            <a:ext cx="1819656" cy="219456"/>
          </a:xfrm>
          <a:prstGeom prst="rect">
            <a:avLst/>
          </a:prstGeom>
          <a:noFill/>
        </p:spPr>
        <p:txBody>
          <a:bodyPr wrap="square" lIns="0" tIns="0" rIns="0" bIns="0" anchor="t"/>
          <a:lstStyle/>
          <a:p>
            <a:pPr algn="l" marL="0" indent="0">
              <a:buNone/>
            </a:pPr>
            <a:r>
              <a:rPr sz="950" b="1" i="0">
                <a:solidFill>
                  <a:srgbClr val="212121"/>
                </a:solidFill>
                <a:latin typeface="Calibri"/>
                <a:ea typeface="Calibri"/>
                <a:cs typeface="Calibri"/>
              </a:rPr>
              <a:t>DAY 1</a:t>
            </a:r>
          </a:p>
        </p:txBody>
      </p:sp>
      <p:sp>
        <p:nvSpPr>
          <p:cNvPr id="44" name="TextBox 43"/>
          <p:cNvSpPr txBox="1"/>
          <p:nvPr/>
        </p:nvSpPr>
        <p:spPr>
          <a:xfrm>
            <a:off x="786384" y="5870448"/>
            <a:ext cx="1819656" cy="402336"/>
          </a:xfrm>
          <a:prstGeom prst="rect">
            <a:avLst/>
          </a:prstGeom>
          <a:noFill/>
        </p:spPr>
        <p:txBody>
          <a:bodyPr wrap="square" lIns="0" tIns="0" rIns="0" bIns="0" anchor="t"/>
          <a:lstStyle/>
          <a:p>
            <a:pPr algn="l" marL="0" indent="0">
              <a:buNone/>
            </a:pPr>
            <a:r>
              <a:rPr sz="900" b="0" i="0">
                <a:solidFill>
                  <a:srgbClr val="5F5F5F"/>
                </a:solidFill>
                <a:latin typeface="Calibri"/>
                <a:ea typeface="Calibri"/>
                <a:cs typeface="Calibri"/>
              </a:rPr>
              <a:t>Kickoff, access</a:t>
            </a:r>
          </a:p>
          <a:p>
            <a:pPr algn="l" marL="0" indent="0">
              <a:buNone/>
            </a:pPr>
            <a:r>
              <a:rPr sz="900" b="0" i="0">
                <a:solidFill>
                  <a:srgbClr val="5F5F5F"/>
                </a:solidFill>
                <a:latin typeface="Calibri"/>
                <a:ea typeface="Calibri"/>
                <a:cs typeface="Calibri"/>
              </a:rPr>
              <a:t>&amp; discovery materials</a:t>
            </a:r>
          </a:p>
        </p:txBody>
      </p:sp>
      <p:sp>
        <p:nvSpPr>
          <p:cNvPr id="45" name="Rectangle 44"/>
          <p:cNvSpPr/>
          <p:nvPr/>
        </p:nvSpPr>
        <p:spPr>
          <a:xfrm>
            <a:off x="2807208" y="5669280"/>
            <a:ext cx="128016" cy="12801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044952" y="5632704"/>
            <a:ext cx="1819656" cy="219456"/>
          </a:xfrm>
          <a:prstGeom prst="rect">
            <a:avLst/>
          </a:prstGeom>
          <a:noFill/>
        </p:spPr>
        <p:txBody>
          <a:bodyPr wrap="square" lIns="0" tIns="0" rIns="0" bIns="0" anchor="t"/>
          <a:lstStyle/>
          <a:p>
            <a:pPr algn="l" marL="0" indent="0">
              <a:buNone/>
            </a:pPr>
            <a:r>
              <a:rPr sz="950" b="1" i="0">
                <a:solidFill>
                  <a:srgbClr val="212121"/>
                </a:solidFill>
                <a:latin typeface="Calibri"/>
                <a:ea typeface="Calibri"/>
                <a:cs typeface="Calibri"/>
              </a:rPr>
              <a:t>DAY 30</a:t>
            </a:r>
          </a:p>
        </p:txBody>
      </p:sp>
      <p:sp>
        <p:nvSpPr>
          <p:cNvPr id="47" name="TextBox 46"/>
          <p:cNvSpPr txBox="1"/>
          <p:nvPr/>
        </p:nvSpPr>
        <p:spPr>
          <a:xfrm>
            <a:off x="3044952" y="5870448"/>
            <a:ext cx="1819656" cy="402336"/>
          </a:xfrm>
          <a:prstGeom prst="rect">
            <a:avLst/>
          </a:prstGeom>
          <a:noFill/>
        </p:spPr>
        <p:txBody>
          <a:bodyPr wrap="square" lIns="0" tIns="0" rIns="0" bIns="0" anchor="t"/>
          <a:lstStyle/>
          <a:p>
            <a:pPr algn="l" marL="0" indent="0">
              <a:buNone/>
            </a:pPr>
            <a:r>
              <a:rPr sz="900" b="0" i="0">
                <a:solidFill>
                  <a:srgbClr val="5F5F5F"/>
                </a:solidFill>
                <a:latin typeface="Calibri"/>
                <a:ea typeface="Calibri"/>
                <a:cs typeface="Calibri"/>
              </a:rPr>
              <a:t>Close &amp; systems</a:t>
            </a:r>
          </a:p>
          <a:p>
            <a:pPr algn="l" marL="0" indent="0">
              <a:buNone/>
            </a:pPr>
            <a:r>
              <a:rPr sz="900" b="0" i="0">
                <a:solidFill>
                  <a:srgbClr val="5F5F5F"/>
                </a:solidFill>
                <a:latin typeface="Calibri"/>
                <a:ea typeface="Calibri"/>
                <a:cs typeface="Calibri"/>
              </a:rPr>
              <a:t>processes documented</a:t>
            </a:r>
          </a:p>
        </p:txBody>
      </p:sp>
      <p:sp>
        <p:nvSpPr>
          <p:cNvPr id="48" name="Rectangle 47"/>
          <p:cNvSpPr/>
          <p:nvPr/>
        </p:nvSpPr>
        <p:spPr>
          <a:xfrm>
            <a:off x="5065776" y="5669280"/>
            <a:ext cx="128016" cy="12801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303520" y="5632704"/>
            <a:ext cx="1819656" cy="219456"/>
          </a:xfrm>
          <a:prstGeom prst="rect">
            <a:avLst/>
          </a:prstGeom>
          <a:noFill/>
        </p:spPr>
        <p:txBody>
          <a:bodyPr wrap="square" lIns="0" tIns="0" rIns="0" bIns="0" anchor="t"/>
          <a:lstStyle/>
          <a:p>
            <a:pPr algn="l" marL="0" indent="0">
              <a:buNone/>
            </a:pPr>
            <a:r>
              <a:rPr sz="950" b="1" i="0">
                <a:solidFill>
                  <a:srgbClr val="212121"/>
                </a:solidFill>
                <a:latin typeface="Calibri"/>
                <a:ea typeface="Calibri"/>
                <a:cs typeface="Calibri"/>
              </a:rPr>
              <a:t>DAY 60</a:t>
            </a:r>
          </a:p>
        </p:txBody>
      </p:sp>
      <p:sp>
        <p:nvSpPr>
          <p:cNvPr id="50" name="TextBox 49"/>
          <p:cNvSpPr txBox="1"/>
          <p:nvPr/>
        </p:nvSpPr>
        <p:spPr>
          <a:xfrm>
            <a:off x="5303520" y="5870448"/>
            <a:ext cx="1819656" cy="402336"/>
          </a:xfrm>
          <a:prstGeom prst="rect">
            <a:avLst/>
          </a:prstGeom>
          <a:noFill/>
        </p:spPr>
        <p:txBody>
          <a:bodyPr wrap="square" lIns="0" tIns="0" rIns="0" bIns="0" anchor="t"/>
          <a:lstStyle/>
          <a:p>
            <a:pPr algn="l" marL="0" indent="0">
              <a:buNone/>
            </a:pPr>
            <a:r>
              <a:rPr sz="900" b="0" i="0">
                <a:solidFill>
                  <a:srgbClr val="5F5F5F"/>
                </a:solidFill>
                <a:latin typeface="Calibri"/>
                <a:ea typeface="Calibri"/>
                <a:cs typeface="Calibri"/>
              </a:rPr>
              <a:t>First ONYX-reviewed</a:t>
            </a:r>
          </a:p>
          <a:p>
            <a:pPr algn="l" marL="0" indent="0">
              <a:buNone/>
            </a:pPr>
            <a:r>
              <a:rPr sz="900" b="0" i="0">
                <a:solidFill>
                  <a:srgbClr val="5F5F5F"/>
                </a:solidFill>
                <a:latin typeface="Calibri"/>
                <a:ea typeface="Calibri"/>
                <a:cs typeface="Calibri"/>
              </a:rPr>
              <a:t>close &amp; reporting</a:t>
            </a:r>
          </a:p>
        </p:txBody>
      </p:sp>
      <p:sp>
        <p:nvSpPr>
          <p:cNvPr id="51" name="Rectangle 50"/>
          <p:cNvSpPr/>
          <p:nvPr/>
        </p:nvSpPr>
        <p:spPr>
          <a:xfrm>
            <a:off x="7324344" y="5669280"/>
            <a:ext cx="128016" cy="12801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562088" y="5632704"/>
            <a:ext cx="1819656" cy="219456"/>
          </a:xfrm>
          <a:prstGeom prst="rect">
            <a:avLst/>
          </a:prstGeom>
          <a:noFill/>
        </p:spPr>
        <p:txBody>
          <a:bodyPr wrap="square" lIns="0" tIns="0" rIns="0" bIns="0" anchor="t"/>
          <a:lstStyle/>
          <a:p>
            <a:pPr algn="l" marL="0" indent="0">
              <a:buNone/>
            </a:pPr>
            <a:r>
              <a:rPr sz="950" b="1" i="0">
                <a:solidFill>
                  <a:srgbClr val="212121"/>
                </a:solidFill>
                <a:latin typeface="Calibri"/>
                <a:ea typeface="Calibri"/>
                <a:cs typeface="Calibri"/>
              </a:rPr>
              <a:t>DAY 90</a:t>
            </a:r>
          </a:p>
        </p:txBody>
      </p:sp>
      <p:sp>
        <p:nvSpPr>
          <p:cNvPr id="53" name="TextBox 52"/>
          <p:cNvSpPr txBox="1"/>
          <p:nvPr/>
        </p:nvSpPr>
        <p:spPr>
          <a:xfrm>
            <a:off x="7562088" y="5870448"/>
            <a:ext cx="1819656" cy="402336"/>
          </a:xfrm>
          <a:prstGeom prst="rect">
            <a:avLst/>
          </a:prstGeom>
          <a:noFill/>
        </p:spPr>
        <p:txBody>
          <a:bodyPr wrap="square" lIns="0" tIns="0" rIns="0" bIns="0" anchor="t"/>
          <a:lstStyle/>
          <a:p>
            <a:pPr algn="l" marL="0" indent="0">
              <a:buNone/>
            </a:pPr>
            <a:r>
              <a:rPr sz="900" b="0" i="0">
                <a:solidFill>
                  <a:srgbClr val="5F5F5F"/>
                </a:solidFill>
                <a:latin typeface="Calibri"/>
                <a:ea typeface="Calibri"/>
                <a:cs typeface="Calibri"/>
              </a:rPr>
              <a:t>Automation roadmap</a:t>
            </a:r>
          </a:p>
          <a:p>
            <a:pPr algn="l" marL="0" indent="0">
              <a:buNone/>
            </a:pPr>
            <a:r>
              <a:rPr sz="900" b="0" i="0">
                <a:solidFill>
                  <a:srgbClr val="5F5F5F"/>
                </a:solidFill>
                <a:latin typeface="Calibri"/>
                <a:ea typeface="Calibri"/>
                <a:cs typeface="Calibri"/>
              </a:rPr>
              <a:t>&amp; KPI pack agreed</a:t>
            </a:r>
          </a:p>
        </p:txBody>
      </p:sp>
      <p:sp>
        <p:nvSpPr>
          <p:cNvPr id="54" name="Rectangle 53"/>
          <p:cNvSpPr/>
          <p:nvPr/>
        </p:nvSpPr>
        <p:spPr>
          <a:xfrm>
            <a:off x="9582912" y="5669280"/>
            <a:ext cx="128016" cy="128016"/>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820656" y="5632704"/>
            <a:ext cx="1819656" cy="219456"/>
          </a:xfrm>
          <a:prstGeom prst="rect">
            <a:avLst/>
          </a:prstGeom>
          <a:noFill/>
        </p:spPr>
        <p:txBody>
          <a:bodyPr wrap="square" lIns="0" tIns="0" rIns="0" bIns="0" anchor="t"/>
          <a:lstStyle/>
          <a:p>
            <a:pPr algn="l" marL="0" indent="0">
              <a:buNone/>
            </a:pPr>
            <a:r>
              <a:rPr sz="950" b="1" i="0">
                <a:solidFill>
                  <a:srgbClr val="212121"/>
                </a:solidFill>
                <a:latin typeface="Calibri"/>
                <a:ea typeface="Calibri"/>
                <a:cs typeface="Calibri"/>
              </a:rPr>
              <a:t>DAY 180</a:t>
            </a:r>
          </a:p>
        </p:txBody>
      </p:sp>
      <p:sp>
        <p:nvSpPr>
          <p:cNvPr id="56" name="TextBox 55"/>
          <p:cNvSpPr txBox="1"/>
          <p:nvPr/>
        </p:nvSpPr>
        <p:spPr>
          <a:xfrm>
            <a:off x="9820656" y="5870448"/>
            <a:ext cx="1819656" cy="402336"/>
          </a:xfrm>
          <a:prstGeom prst="rect">
            <a:avLst/>
          </a:prstGeom>
          <a:noFill/>
        </p:spPr>
        <p:txBody>
          <a:bodyPr wrap="square" lIns="0" tIns="0" rIns="0" bIns="0" anchor="t"/>
          <a:lstStyle/>
          <a:p>
            <a:pPr algn="l" marL="0" indent="0">
              <a:buNone/>
            </a:pPr>
            <a:r>
              <a:rPr sz="900" b="0" i="0">
                <a:solidFill>
                  <a:srgbClr val="5F5F5F"/>
                </a:solidFill>
                <a:latin typeface="Calibri"/>
                <a:ea typeface="Calibri"/>
                <a:cs typeface="Calibri"/>
              </a:rPr>
              <a:t>Steady, team-run</a:t>
            </a:r>
          </a:p>
          <a:p>
            <a:pPr algn="l" marL="0" indent="0">
              <a:buNone/>
            </a:pPr>
            <a:r>
              <a:rPr sz="900" b="0" i="0">
                <a:solidFill>
                  <a:srgbClr val="5F5F5F"/>
                </a:solidFill>
                <a:latin typeface="Calibri"/>
                <a:ea typeface="Calibri"/>
                <a:cs typeface="Calibri"/>
              </a:rPr>
              <a:t>finance function</a:t>
            </a:r>
          </a:p>
        </p:txBody>
      </p:sp>
      <p:sp>
        <p:nvSpPr>
          <p:cNvPr id="57" name="TextBox 56"/>
          <p:cNvSpPr txBox="1"/>
          <p:nvPr/>
        </p:nvSpPr>
        <p:spPr>
          <a:xfrm>
            <a:off x="548640" y="6382512"/>
            <a:ext cx="10424160" cy="237744"/>
          </a:xfrm>
          <a:prstGeom prst="rect">
            <a:avLst/>
          </a:prstGeom>
          <a:noFill/>
        </p:spPr>
        <p:txBody>
          <a:bodyPr wrap="square" lIns="0" tIns="0" rIns="0" bIns="0" anchor="t"/>
          <a:lstStyle/>
          <a:p>
            <a:pPr algn="l" marL="0" indent="0">
              <a:buNone/>
            </a:pPr>
            <a:r>
              <a:rPr sz="850" b="0" i="0">
                <a:solidFill>
                  <a:srgbClr val="9E9E9E"/>
                </a:solidFill>
                <a:latin typeface="Calibri"/>
                <a:ea typeface="Calibri"/>
                <a:cs typeface="Calibri"/>
              </a:rPr>
              <a:t>Assumes a start in October 2026 and system access from day 1. The 401(k) audit (Oct 15) and the Bell Bank Q3 report (Nov 14) fall inside the first weeks.</a:t>
            </a:r>
          </a:p>
        </p:txBody>
      </p:sp>
      <p:sp>
        <p:nvSpPr>
          <p:cNvPr id="58" name="TextBox 57"/>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WHAT YOU RECEIVE</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Documented, reviewed and owned by a team</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Delivered as one shared file, not knowledge in one person’s head.</a:t>
            </a:r>
          </a:p>
        </p:txBody>
      </p:sp>
      <p:sp>
        <p:nvSpPr>
          <p:cNvPr id="5" name="Rectangle 4"/>
          <p:cNvSpPr/>
          <p:nvPr/>
        </p:nvSpPr>
        <p:spPr>
          <a:xfrm>
            <a:off x="548640" y="1901952"/>
            <a:ext cx="3514344" cy="2834640"/>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901952"/>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2194560"/>
            <a:ext cx="2965704" cy="274320"/>
          </a:xfrm>
          <a:prstGeom prst="rect">
            <a:avLst/>
          </a:prstGeom>
          <a:noFill/>
        </p:spPr>
        <p:txBody>
          <a:bodyPr wrap="square" lIns="0" tIns="0" rIns="0" bIns="0" anchor="t"/>
          <a:lstStyle/>
          <a:p>
            <a:pPr algn="l" marL="0" indent="0">
              <a:buNone/>
            </a:pPr>
            <a:r>
              <a:rPr sz="1200" b="1" i="0">
                <a:solidFill>
                  <a:srgbClr val="8F7346"/>
                </a:solidFill>
                <a:latin typeface="Calibri"/>
                <a:ea typeface="Calibri"/>
                <a:cs typeface="Calibri"/>
              </a:rPr>
              <a:t>THE NUMBERS</a:t>
            </a:r>
          </a:p>
        </p:txBody>
      </p:sp>
      <p:cxnSp>
        <p:nvCxnSpPr>
          <p:cNvPr id="8" name="Connector 7"/>
          <p:cNvCxnSpPr/>
          <p:nvPr/>
        </p:nvCxnSpPr>
        <p:spPr>
          <a:xfrm>
            <a:off x="822959" y="2542032"/>
            <a:ext cx="2965705" cy="0"/>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59" y="2706624"/>
            <a:ext cx="2965704" cy="1773936"/>
          </a:xfrm>
          <a:prstGeom prst="rect">
            <a:avLst/>
          </a:prstGeom>
          <a:noFill/>
        </p:spPr>
        <p:txBody>
          <a:bodyPr wrap="square" lIns="0" tIns="0" rIns="0" bIns="0" anchor="t"/>
          <a:lstStyle/>
          <a:p>
            <a:pPr algn="l" marL="152704" indent="-152704">
              <a:spcAft>
                <a:spcPts val="1200"/>
              </a:spcAft>
              <a:buSzPct val="100000"/>
              <a:buChar char="•"/>
            </a:pPr>
            <a:r>
              <a:rPr sz="1000" b="0" i="0">
                <a:solidFill>
                  <a:srgbClr val="5F5F5F"/>
                </a:solidFill>
                <a:latin typeface="Calibri"/>
                <a:ea typeface="Calibri"/>
                <a:cs typeface="Calibri"/>
              </a:rPr>
              <a:t>Monthly close on Sage Intacct | Reconciliations reviewed by a second person | Job-costing and inventory tied to the ledger | AP and positive-pay run supported</a:t>
            </a:r>
          </a:p>
        </p:txBody>
      </p:sp>
      <p:sp>
        <p:nvSpPr>
          <p:cNvPr id="10" name="Rectangle 9"/>
          <p:cNvSpPr/>
          <p:nvPr/>
        </p:nvSpPr>
        <p:spPr>
          <a:xfrm>
            <a:off x="4337304" y="1901952"/>
            <a:ext cx="3514344" cy="2834640"/>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37304" y="1901952"/>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1624" y="2194560"/>
            <a:ext cx="2965704" cy="274320"/>
          </a:xfrm>
          <a:prstGeom prst="rect">
            <a:avLst/>
          </a:prstGeom>
          <a:noFill/>
        </p:spPr>
        <p:txBody>
          <a:bodyPr wrap="square" lIns="0" tIns="0" rIns="0" bIns="0" anchor="t"/>
          <a:lstStyle/>
          <a:p>
            <a:pPr algn="l" marL="0" indent="0">
              <a:buNone/>
            </a:pPr>
            <a:r>
              <a:rPr sz="1200" b="1" i="0">
                <a:solidFill>
                  <a:srgbClr val="8F7346"/>
                </a:solidFill>
                <a:latin typeface="Calibri"/>
                <a:ea typeface="Calibri"/>
                <a:cs typeface="Calibri"/>
              </a:rPr>
              <a:t>THE REPORTING</a:t>
            </a:r>
          </a:p>
        </p:txBody>
      </p:sp>
      <p:cxnSp>
        <p:nvCxnSpPr>
          <p:cNvPr id="13" name="Connector 12"/>
          <p:cNvCxnSpPr/>
          <p:nvPr/>
        </p:nvCxnSpPr>
        <p:spPr>
          <a:xfrm>
            <a:off x="4611624" y="2542032"/>
            <a:ext cx="2965704" cy="0"/>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611624" y="2706624"/>
            <a:ext cx="2965704" cy="1773936"/>
          </a:xfrm>
          <a:prstGeom prst="rect">
            <a:avLst/>
          </a:prstGeom>
          <a:noFill/>
        </p:spPr>
        <p:txBody>
          <a:bodyPr wrap="square" lIns="0" tIns="0" rIns="0" bIns="0" anchor="t"/>
          <a:lstStyle/>
          <a:p>
            <a:pPr algn="l" marL="152704" indent="-152704">
              <a:spcAft>
                <a:spcPts val="1200"/>
              </a:spcAft>
              <a:buSzPct val="100000"/>
              <a:buChar char="•"/>
            </a:pPr>
            <a:r>
              <a:rPr sz="1000" b="0" i="0">
                <a:solidFill>
                  <a:srgbClr val="5F5F5F"/>
                </a:solidFill>
                <a:latin typeface="Calibri"/>
                <a:ea typeface="Calibri"/>
                <a:cs typeface="Calibri"/>
              </a:rPr>
              <a:t>Management reporting each month | Bell Bank quarterly package | Budget and forecast | KPI dashboard | CFO-level analysis and direction</a:t>
            </a:r>
          </a:p>
        </p:txBody>
      </p:sp>
      <p:sp>
        <p:nvSpPr>
          <p:cNvPr id="15" name="Rectangle 14"/>
          <p:cNvSpPr/>
          <p:nvPr/>
        </p:nvSpPr>
        <p:spPr>
          <a:xfrm>
            <a:off x="8125968" y="1901952"/>
            <a:ext cx="3514344" cy="2834640"/>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25968" y="1901952"/>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00288" y="2194560"/>
            <a:ext cx="2965704" cy="274320"/>
          </a:xfrm>
          <a:prstGeom prst="rect">
            <a:avLst/>
          </a:prstGeom>
          <a:noFill/>
        </p:spPr>
        <p:txBody>
          <a:bodyPr wrap="square" lIns="0" tIns="0" rIns="0" bIns="0" anchor="t"/>
          <a:lstStyle/>
          <a:p>
            <a:pPr algn="l" marL="0" indent="0">
              <a:buNone/>
            </a:pPr>
            <a:r>
              <a:rPr sz="1200" b="1" i="0">
                <a:solidFill>
                  <a:srgbClr val="8F7346"/>
                </a:solidFill>
                <a:latin typeface="Calibri"/>
                <a:ea typeface="Calibri"/>
                <a:cs typeface="Calibri"/>
              </a:rPr>
              <a:t>THE MACHINE</a:t>
            </a:r>
          </a:p>
        </p:txBody>
      </p:sp>
      <p:cxnSp>
        <p:nvCxnSpPr>
          <p:cNvPr id="18" name="Connector 17"/>
          <p:cNvCxnSpPr/>
          <p:nvPr/>
        </p:nvCxnSpPr>
        <p:spPr>
          <a:xfrm>
            <a:off x="8400288" y="2542032"/>
            <a:ext cx="2965704" cy="0"/>
          </a:xfrm>
          <a:prstGeom prst="line">
            <a:avLst/>
          </a:prstGeom>
          <a:ln w="12700">
            <a:solidFill>
              <a:srgbClr val="DADAD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00288" y="2706624"/>
            <a:ext cx="2965704" cy="1773936"/>
          </a:xfrm>
          <a:prstGeom prst="rect">
            <a:avLst/>
          </a:prstGeom>
          <a:noFill/>
        </p:spPr>
        <p:txBody>
          <a:bodyPr wrap="square" lIns="0" tIns="0" rIns="0" bIns="0" anchor="t"/>
          <a:lstStyle/>
          <a:p>
            <a:pPr algn="l" marL="152704" indent="-152704">
              <a:spcAft>
                <a:spcPts val="1200"/>
              </a:spcAft>
              <a:buSzPct val="100000"/>
              <a:buChar char="•"/>
            </a:pPr>
            <a:r>
              <a:rPr sz="1000" b="0" i="0">
                <a:solidFill>
                  <a:srgbClr val="5F5F5F"/>
                </a:solidFill>
                <a:latin typeface="Calibri"/>
                <a:ea typeface="Calibri"/>
                <a:cs typeface="Calibri"/>
              </a:rPr>
              <a:t>Documented close calendar and checklist</a:t>
            </a:r>
          </a:p>
          <a:p>
            <a:pPr algn="l" marL="152704" indent="-152704">
              <a:spcAft>
                <a:spcPts val="1200"/>
              </a:spcAft>
              <a:buSzPct val="100000"/>
              <a:buChar char="•"/>
            </a:pPr>
            <a:r>
              <a:rPr sz="1000" b="0" i="0">
                <a:solidFill>
                  <a:srgbClr val="5F5F5F"/>
                </a:solidFill>
                <a:latin typeface="Calibri"/>
                <a:ea typeface="Calibri"/>
                <a:cs typeface="Calibri"/>
              </a:rPr>
              <a:t>Process notes for every recurring task</a:t>
            </a:r>
          </a:p>
          <a:p>
            <a:pPr algn="l" marL="152704" indent="-152704">
              <a:spcAft>
                <a:spcPts val="1200"/>
              </a:spcAft>
              <a:buSzPct val="100000"/>
              <a:buChar char="•"/>
            </a:pPr>
            <a:r>
              <a:rPr sz="1000" b="0" i="0">
                <a:solidFill>
                  <a:srgbClr val="5F5F5F"/>
                </a:solidFill>
                <a:latin typeface="Calibri"/>
                <a:ea typeface="Calibri"/>
                <a:cs typeface="Calibri"/>
              </a:rPr>
              <a:t>Automation roadmap with review controls</a:t>
            </a:r>
          </a:p>
          <a:p>
            <a:pPr algn="l" marL="152704" indent="-152704">
              <a:spcAft>
                <a:spcPts val="1200"/>
              </a:spcAft>
              <a:buSzPct val="100000"/>
              <a:buChar char="•"/>
            </a:pPr>
            <a:r>
              <a:rPr sz="1000" b="0" i="0">
                <a:solidFill>
                  <a:srgbClr val="5F5F5F"/>
                </a:solidFill>
                <a:latin typeface="Calibri"/>
                <a:ea typeface="Calibri"/>
                <a:cs typeface="Calibri"/>
              </a:rPr>
              <a:t>Simplified chart of accounts</a:t>
            </a:r>
          </a:p>
          <a:p>
            <a:pPr algn="l" marL="152704" indent="-152704">
              <a:spcAft>
                <a:spcPts val="1200"/>
              </a:spcAft>
              <a:buSzPct val="100000"/>
              <a:buChar char="•"/>
            </a:pPr>
            <a:r>
              <a:rPr sz="1000" b="0" i="0">
                <a:solidFill>
                  <a:srgbClr val="5F5F5F"/>
                </a:solidFill>
                <a:latin typeface="Calibri"/>
                <a:ea typeface="Calibri"/>
                <a:cs typeface="Calibri"/>
              </a:rPr>
              <a:t>Open-items tracker</a:t>
            </a:r>
          </a:p>
        </p:txBody>
      </p:sp>
      <p:sp>
        <p:nvSpPr>
          <p:cNvPr id="20" name="Rectangle 19"/>
          <p:cNvSpPr/>
          <p:nvPr/>
        </p:nvSpPr>
        <p:spPr>
          <a:xfrm>
            <a:off x="548640" y="4974336"/>
            <a:ext cx="11091672" cy="7498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48640" y="4974336"/>
            <a:ext cx="11091672"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38928"/>
            <a:ext cx="10506456" cy="219456"/>
          </a:xfrm>
          <a:prstGeom prst="rect">
            <a:avLst/>
          </a:prstGeom>
          <a:noFill/>
        </p:spPr>
        <p:txBody>
          <a:bodyPr wrap="square" lIns="0" tIns="0" rIns="0" bIns="0" anchor="t"/>
          <a:lstStyle/>
          <a:p>
            <a:pPr algn="l" marL="0" indent="0">
              <a:buNone/>
            </a:pPr>
            <a:r>
              <a:rPr sz="1000" b="1" i="0">
                <a:solidFill>
                  <a:srgbClr val="B08D57"/>
                </a:solidFill>
                <a:latin typeface="Calibri"/>
                <a:ea typeface="Calibri"/>
                <a:cs typeface="Calibri"/>
              </a:rPr>
              <a:t>HANDOVER</a:t>
            </a:r>
          </a:p>
        </p:txBody>
      </p:sp>
      <p:sp>
        <p:nvSpPr>
          <p:cNvPr id="23" name="TextBox 22"/>
          <p:cNvSpPr txBox="1"/>
          <p:nvPr/>
        </p:nvSpPr>
        <p:spPr>
          <a:xfrm>
            <a:off x="841247" y="5376672"/>
            <a:ext cx="10506456" cy="256032"/>
          </a:xfrm>
          <a:prstGeom prst="rect">
            <a:avLst/>
          </a:prstGeom>
          <a:noFill/>
        </p:spPr>
        <p:txBody>
          <a:bodyPr wrap="square" lIns="0" tIns="0" rIns="0" bIns="0" anchor="t"/>
          <a:lstStyle/>
          <a:p>
            <a:pPr algn="l" marL="0" indent="0">
              <a:buNone/>
            </a:pPr>
            <a:r>
              <a:rPr sz="1100" b="0" i="0">
                <a:solidFill>
                  <a:srgbClr val="D6D6D6"/>
                </a:solidFill>
                <a:latin typeface="Calibri"/>
                <a:ea typeface="Calibri"/>
                <a:cs typeface="Calibri"/>
              </a:rPr>
              <a:t>One shared file: every report tied to the ledger, every process written down, every recurring task with a named owner.</a:t>
            </a:r>
          </a:p>
        </p:txBody>
      </p:sp>
      <p:sp>
        <p:nvSpPr>
          <p:cNvPr id="24" name="TextBox 23"/>
          <p:cNvSpPr txBox="1"/>
          <p:nvPr/>
        </p:nvSpPr>
        <p:spPr>
          <a:xfrm>
            <a:off x="548640" y="5989320"/>
            <a:ext cx="11064240" cy="402336"/>
          </a:xfrm>
          <a:prstGeom prst="rect">
            <a:avLst/>
          </a:prstGeom>
          <a:noFill/>
        </p:spPr>
        <p:txBody>
          <a:bodyPr wrap="square" lIns="0" tIns="0" rIns="0" bIns="0" anchor="t"/>
          <a:lstStyle/>
          <a:p>
            <a:pPr algn="l" marL="0" indent="0">
              <a:lnSpc>
                <a:spcPct val="105000"/>
              </a:lnSpc>
              <a:buNone/>
            </a:pPr>
            <a:r>
              <a:rPr sz="1200" b="0" i="0">
                <a:solidFill>
                  <a:srgbClr val="8F7346"/>
                </a:solidFill>
                <a:latin typeface="Calibri"/>
                <a:ea typeface="Calibri"/>
                <a:cs typeface="Calibri"/>
              </a:rPr>
              <a:t>Everything is built so that a new controller, your in-house accountant or a lender can pick it up cold.</a:t>
            </a:r>
          </a:p>
        </p:txBody>
      </p:sp>
      <p:sp>
        <p:nvSpPr>
          <p:cNvPr id="25" name="TextBox 24"/>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INVESTMENT</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Fees</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Hourly at published rates, with the mix of people set by the structure you choose. Change the mix at any time by email.</a:t>
            </a:r>
          </a:p>
        </p:txBody>
      </p:sp>
      <p:sp>
        <p:nvSpPr>
          <p:cNvPr id="5" name="Rectangle 4"/>
          <p:cNvSpPr/>
          <p:nvPr/>
        </p:nvSpPr>
        <p:spPr>
          <a:xfrm>
            <a:off x="548640" y="1920240"/>
            <a:ext cx="11091672" cy="3657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2002536"/>
            <a:ext cx="2807208" cy="219456"/>
          </a:xfrm>
          <a:prstGeom prst="rect">
            <a:avLst/>
          </a:prstGeom>
          <a:noFill/>
        </p:spPr>
        <p:txBody>
          <a:bodyPr wrap="square" lIns="0" tIns="0" rIns="0" bIns="0" anchor="t"/>
          <a:lstStyle/>
          <a:p>
            <a:pPr algn="l" marL="0" indent="0">
              <a:buNone/>
            </a:pPr>
            <a:r>
              <a:rPr sz="950" b="1" i="0">
                <a:solidFill>
                  <a:srgbClr val="B08D57"/>
                </a:solidFill>
                <a:latin typeface="Calibri"/>
                <a:ea typeface="Calibri"/>
                <a:cs typeface="Calibri"/>
              </a:rPr>
              <a:t>STRUCTURE</a:t>
            </a:r>
          </a:p>
        </p:txBody>
      </p:sp>
      <p:sp>
        <p:nvSpPr>
          <p:cNvPr id="7" name="TextBox 6"/>
          <p:cNvSpPr txBox="1"/>
          <p:nvPr/>
        </p:nvSpPr>
        <p:spPr>
          <a:xfrm>
            <a:off x="3776472" y="2002536"/>
            <a:ext cx="3995928" cy="219456"/>
          </a:xfrm>
          <a:prstGeom prst="rect">
            <a:avLst/>
          </a:prstGeom>
          <a:noFill/>
        </p:spPr>
        <p:txBody>
          <a:bodyPr wrap="square" lIns="0" tIns="0" rIns="0" bIns="0" anchor="t"/>
          <a:lstStyle/>
          <a:p>
            <a:pPr algn="l" marL="0" indent="0">
              <a:buNone/>
            </a:pPr>
            <a:r>
              <a:rPr sz="950" b="1" i="0">
                <a:solidFill>
                  <a:srgbClr val="B08D57"/>
                </a:solidFill>
                <a:latin typeface="Calibri"/>
                <a:ea typeface="Calibri"/>
                <a:cs typeface="Calibri"/>
              </a:rPr>
              <a:t>WHAT IT COVERS</a:t>
            </a:r>
          </a:p>
        </p:txBody>
      </p:sp>
      <p:sp>
        <p:nvSpPr>
          <p:cNvPr id="8" name="TextBox 7"/>
          <p:cNvSpPr txBox="1"/>
          <p:nvPr/>
        </p:nvSpPr>
        <p:spPr>
          <a:xfrm>
            <a:off x="8028431" y="2002536"/>
            <a:ext cx="1527048" cy="219456"/>
          </a:xfrm>
          <a:prstGeom prst="rect">
            <a:avLst/>
          </a:prstGeom>
          <a:noFill/>
        </p:spPr>
        <p:txBody>
          <a:bodyPr wrap="square" lIns="0" tIns="0" rIns="0" bIns="0" anchor="t"/>
          <a:lstStyle/>
          <a:p>
            <a:pPr algn="l" marL="0" indent="0">
              <a:buNone/>
            </a:pPr>
            <a:r>
              <a:rPr sz="950" b="1" i="0">
                <a:solidFill>
                  <a:srgbClr val="B08D57"/>
                </a:solidFill>
                <a:latin typeface="Calibri"/>
                <a:ea typeface="Calibri"/>
                <a:cs typeface="Calibri"/>
              </a:rPr>
              <a:t>BASIS</a:t>
            </a:r>
          </a:p>
        </p:txBody>
      </p:sp>
      <p:sp>
        <p:nvSpPr>
          <p:cNvPr id="9" name="TextBox 8"/>
          <p:cNvSpPr txBox="1"/>
          <p:nvPr/>
        </p:nvSpPr>
        <p:spPr>
          <a:xfrm>
            <a:off x="9646920" y="2002536"/>
            <a:ext cx="1828800" cy="219456"/>
          </a:xfrm>
          <a:prstGeom prst="rect">
            <a:avLst/>
          </a:prstGeom>
          <a:noFill/>
        </p:spPr>
        <p:txBody>
          <a:bodyPr wrap="square" lIns="0" tIns="0" rIns="0" bIns="0" anchor="t"/>
          <a:lstStyle/>
          <a:p>
            <a:pPr algn="r" marL="0" indent="0">
              <a:buNone/>
            </a:pPr>
            <a:r>
              <a:rPr sz="950" b="1" i="0">
                <a:solidFill>
                  <a:srgbClr val="B08D57"/>
                </a:solidFill>
                <a:latin typeface="Calibri"/>
                <a:ea typeface="Calibri"/>
                <a:cs typeface="Calibri"/>
              </a:rPr>
              <a:t>HOURLY RATES</a:t>
            </a:r>
          </a:p>
        </p:txBody>
      </p:sp>
      <p:sp>
        <p:nvSpPr>
          <p:cNvPr id="10" name="Rectangle 9"/>
          <p:cNvSpPr/>
          <p:nvPr/>
        </p:nvSpPr>
        <p:spPr>
          <a:xfrm>
            <a:off x="548640" y="2286000"/>
            <a:ext cx="11091672" cy="512064"/>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3232" y="2441448"/>
            <a:ext cx="2807208"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Option 1  ·  CFO + controller</a:t>
            </a:r>
          </a:p>
        </p:txBody>
      </p:sp>
      <p:sp>
        <p:nvSpPr>
          <p:cNvPr id="12" name="TextBox 11"/>
          <p:cNvSpPr txBox="1"/>
          <p:nvPr/>
        </p:nvSpPr>
        <p:spPr>
          <a:xfrm>
            <a:off x="3776472" y="2450592"/>
            <a:ext cx="3995928" cy="256032"/>
          </a:xfrm>
          <a:prstGeom prst="rect">
            <a:avLst/>
          </a:prstGeom>
          <a:noFill/>
        </p:spPr>
        <p:txBody>
          <a:bodyPr wrap="square" lIns="0" tIns="0" rIns="0" bIns="0" anchor="t"/>
          <a:lstStyle/>
          <a:p>
            <a:pPr algn="l" marL="0" indent="0">
              <a:buNone/>
            </a:pPr>
            <a:r>
              <a:rPr sz="950" b="0" i="0">
                <a:solidFill>
                  <a:srgbClr val="5F5F5F"/>
                </a:solidFill>
                <a:latin typeface="Calibri"/>
                <a:ea typeface="Calibri"/>
                <a:cs typeface="Calibri"/>
              </a:rPr>
              <a:t>Full finance leadership: a CFO lead and an ONYX controller</a:t>
            </a:r>
          </a:p>
        </p:txBody>
      </p:sp>
      <p:sp>
        <p:nvSpPr>
          <p:cNvPr id="13" name="TextBox 12"/>
          <p:cNvSpPr txBox="1"/>
          <p:nvPr/>
        </p:nvSpPr>
        <p:spPr>
          <a:xfrm>
            <a:off x="8028431" y="2450592"/>
            <a:ext cx="1527048" cy="256032"/>
          </a:xfrm>
          <a:prstGeom prst="rect">
            <a:avLst/>
          </a:prstGeom>
          <a:noFill/>
        </p:spPr>
        <p:txBody>
          <a:bodyPr wrap="square" lIns="0" tIns="0" rIns="0" bIns="0" anchor="t"/>
          <a:lstStyle/>
          <a:p>
            <a:pPr algn="l" marL="0" indent="0">
              <a:buNone/>
            </a:pPr>
            <a:r>
              <a:rPr sz="950" b="0" i="0">
                <a:solidFill>
                  <a:srgbClr val="5F5F5F"/>
                </a:solidFill>
                <a:latin typeface="Calibri"/>
                <a:ea typeface="Calibri"/>
                <a:cs typeface="Calibri"/>
              </a:rPr>
              <a:t>Hourly, as incurred</a:t>
            </a:r>
          </a:p>
        </p:txBody>
      </p:sp>
      <p:sp>
        <p:nvSpPr>
          <p:cNvPr id="14" name="TextBox 13"/>
          <p:cNvSpPr txBox="1"/>
          <p:nvPr/>
        </p:nvSpPr>
        <p:spPr>
          <a:xfrm>
            <a:off x="9646920" y="2432304"/>
            <a:ext cx="1993392" cy="256032"/>
          </a:xfrm>
          <a:prstGeom prst="rect">
            <a:avLst/>
          </a:prstGeom>
          <a:noFill/>
        </p:spPr>
        <p:txBody>
          <a:bodyPr wrap="square" lIns="0" tIns="0" rIns="0" bIns="0" anchor="t"/>
          <a:lstStyle/>
          <a:p>
            <a:pPr algn="r" marL="0" indent="0">
              <a:buNone/>
            </a:pPr>
            <a:r>
              <a:rPr sz="1100" b="1" i="0">
                <a:solidFill>
                  <a:srgbClr val="212121"/>
                </a:solidFill>
                <a:latin typeface="Calibri"/>
                <a:ea typeface="Calibri"/>
                <a:cs typeface="Calibri"/>
              </a:rPr>
              <a:t>$275 + $185</a:t>
            </a:r>
          </a:p>
        </p:txBody>
      </p:sp>
      <p:sp>
        <p:nvSpPr>
          <p:cNvPr id="15" name="Rectangle 14"/>
          <p:cNvSpPr/>
          <p:nvPr/>
        </p:nvSpPr>
        <p:spPr>
          <a:xfrm>
            <a:off x="548640" y="2798064"/>
            <a:ext cx="11091672"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53512"/>
            <a:ext cx="2807208"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Option 2  ·  Controller-led</a:t>
            </a:r>
          </a:p>
        </p:txBody>
      </p:sp>
      <p:sp>
        <p:nvSpPr>
          <p:cNvPr id="17" name="TextBox 16"/>
          <p:cNvSpPr txBox="1"/>
          <p:nvPr/>
        </p:nvSpPr>
        <p:spPr>
          <a:xfrm>
            <a:off x="3776472" y="2962656"/>
            <a:ext cx="3995928" cy="256032"/>
          </a:xfrm>
          <a:prstGeom prst="rect">
            <a:avLst/>
          </a:prstGeom>
          <a:noFill/>
        </p:spPr>
        <p:txBody>
          <a:bodyPr wrap="square" lIns="0" tIns="0" rIns="0" bIns="0" anchor="t"/>
          <a:lstStyle/>
          <a:p>
            <a:pPr algn="l" marL="0" indent="0">
              <a:buNone/>
            </a:pPr>
            <a:r>
              <a:rPr sz="950" b="0" i="0">
                <a:solidFill>
                  <a:srgbClr val="5F5F5F"/>
                </a:solidFill>
                <a:latin typeface="Calibri"/>
                <a:ea typeface="Calibri"/>
                <a:cs typeface="Calibri"/>
              </a:rPr>
              <a:t>ONYX controller leads the function, CFO oversight as requested</a:t>
            </a:r>
          </a:p>
        </p:txBody>
      </p:sp>
      <p:sp>
        <p:nvSpPr>
          <p:cNvPr id="18" name="TextBox 17"/>
          <p:cNvSpPr txBox="1"/>
          <p:nvPr/>
        </p:nvSpPr>
        <p:spPr>
          <a:xfrm>
            <a:off x="8028431" y="2962656"/>
            <a:ext cx="1527048" cy="256032"/>
          </a:xfrm>
          <a:prstGeom prst="rect">
            <a:avLst/>
          </a:prstGeom>
          <a:noFill/>
        </p:spPr>
        <p:txBody>
          <a:bodyPr wrap="square" lIns="0" tIns="0" rIns="0" bIns="0" anchor="t"/>
          <a:lstStyle/>
          <a:p>
            <a:pPr algn="l" marL="0" indent="0">
              <a:buNone/>
            </a:pPr>
            <a:r>
              <a:rPr sz="950" b="0" i="0">
                <a:solidFill>
                  <a:srgbClr val="5F5F5F"/>
                </a:solidFill>
                <a:latin typeface="Calibri"/>
                <a:ea typeface="Calibri"/>
                <a:cs typeface="Calibri"/>
              </a:rPr>
              <a:t>Hourly, as incurred</a:t>
            </a:r>
          </a:p>
        </p:txBody>
      </p:sp>
      <p:sp>
        <p:nvSpPr>
          <p:cNvPr id="19" name="TextBox 18"/>
          <p:cNvSpPr txBox="1"/>
          <p:nvPr/>
        </p:nvSpPr>
        <p:spPr>
          <a:xfrm>
            <a:off x="9646920" y="2944368"/>
            <a:ext cx="1993392" cy="256032"/>
          </a:xfrm>
          <a:prstGeom prst="rect">
            <a:avLst/>
          </a:prstGeom>
          <a:noFill/>
        </p:spPr>
        <p:txBody>
          <a:bodyPr wrap="square" lIns="0" tIns="0" rIns="0" bIns="0" anchor="t"/>
          <a:lstStyle/>
          <a:p>
            <a:pPr algn="r" marL="0" indent="0">
              <a:buNone/>
            </a:pPr>
            <a:r>
              <a:rPr sz="1100" b="1" i="0">
                <a:solidFill>
                  <a:srgbClr val="212121"/>
                </a:solidFill>
                <a:latin typeface="Calibri"/>
                <a:ea typeface="Calibri"/>
                <a:cs typeface="Calibri"/>
              </a:rPr>
              <a:t>$185 + $275</a:t>
            </a:r>
          </a:p>
        </p:txBody>
      </p:sp>
      <p:sp>
        <p:nvSpPr>
          <p:cNvPr id="20" name="Rectangle 19"/>
          <p:cNvSpPr/>
          <p:nvPr/>
        </p:nvSpPr>
        <p:spPr>
          <a:xfrm>
            <a:off x="548640" y="3310128"/>
            <a:ext cx="11091672" cy="512064"/>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3232" y="3465576"/>
            <a:ext cx="2807208"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Option 3  ·  Staff augmentation</a:t>
            </a:r>
          </a:p>
        </p:txBody>
      </p:sp>
      <p:sp>
        <p:nvSpPr>
          <p:cNvPr id="22" name="TextBox 21"/>
          <p:cNvSpPr txBox="1"/>
          <p:nvPr/>
        </p:nvSpPr>
        <p:spPr>
          <a:xfrm>
            <a:off x="3776472" y="3474720"/>
            <a:ext cx="3995928" cy="256032"/>
          </a:xfrm>
          <a:prstGeom prst="rect">
            <a:avLst/>
          </a:prstGeom>
          <a:noFill/>
        </p:spPr>
        <p:txBody>
          <a:bodyPr wrap="square" lIns="0" tIns="0" rIns="0" bIns="0" anchor="t"/>
          <a:lstStyle/>
          <a:p>
            <a:pPr algn="l" marL="0" indent="0">
              <a:buNone/>
            </a:pPr>
            <a:r>
              <a:rPr sz="950" b="0" i="0">
                <a:solidFill>
                  <a:srgbClr val="5F5F5F"/>
                </a:solidFill>
                <a:latin typeface="Calibri"/>
                <a:ea typeface="Calibri"/>
                <a:cs typeface="Calibri"/>
              </a:rPr>
              <a:t>ONYX staff add capacity to your team under controller review</a:t>
            </a:r>
          </a:p>
        </p:txBody>
      </p:sp>
      <p:sp>
        <p:nvSpPr>
          <p:cNvPr id="23" name="TextBox 22"/>
          <p:cNvSpPr txBox="1"/>
          <p:nvPr/>
        </p:nvSpPr>
        <p:spPr>
          <a:xfrm>
            <a:off x="8028431" y="3474720"/>
            <a:ext cx="1527048" cy="256032"/>
          </a:xfrm>
          <a:prstGeom prst="rect">
            <a:avLst/>
          </a:prstGeom>
          <a:noFill/>
        </p:spPr>
        <p:txBody>
          <a:bodyPr wrap="square" lIns="0" tIns="0" rIns="0" bIns="0" anchor="t"/>
          <a:lstStyle/>
          <a:p>
            <a:pPr algn="l" marL="0" indent="0">
              <a:buNone/>
            </a:pPr>
            <a:r>
              <a:rPr sz="950" b="0" i="0">
                <a:solidFill>
                  <a:srgbClr val="5F5F5F"/>
                </a:solidFill>
                <a:latin typeface="Calibri"/>
                <a:ea typeface="Calibri"/>
                <a:cs typeface="Calibri"/>
              </a:rPr>
              <a:t>Hourly, as incurred</a:t>
            </a:r>
          </a:p>
        </p:txBody>
      </p:sp>
      <p:sp>
        <p:nvSpPr>
          <p:cNvPr id="24" name="TextBox 23"/>
          <p:cNvSpPr txBox="1"/>
          <p:nvPr/>
        </p:nvSpPr>
        <p:spPr>
          <a:xfrm>
            <a:off x="9646920" y="3456432"/>
            <a:ext cx="1993392" cy="256032"/>
          </a:xfrm>
          <a:prstGeom prst="rect">
            <a:avLst/>
          </a:prstGeom>
          <a:noFill/>
        </p:spPr>
        <p:txBody>
          <a:bodyPr wrap="square" lIns="0" tIns="0" rIns="0" bIns="0" anchor="t"/>
          <a:lstStyle/>
          <a:p>
            <a:pPr algn="r" marL="0" indent="0">
              <a:buNone/>
            </a:pPr>
            <a:r>
              <a:rPr sz="1100" b="1" i="0">
                <a:solidFill>
                  <a:srgbClr val="212121"/>
                </a:solidFill>
                <a:latin typeface="Calibri"/>
                <a:ea typeface="Calibri"/>
                <a:cs typeface="Calibri"/>
              </a:rPr>
              <a:t>$100 + $185</a:t>
            </a:r>
          </a:p>
        </p:txBody>
      </p:sp>
      <p:sp>
        <p:nvSpPr>
          <p:cNvPr id="25" name="Rectangle 24"/>
          <p:cNvSpPr/>
          <p:nvPr/>
        </p:nvSpPr>
        <p:spPr>
          <a:xfrm>
            <a:off x="548640" y="3822191"/>
            <a:ext cx="11091672"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13232" y="3977639"/>
            <a:ext cx="2807208" cy="256032"/>
          </a:xfrm>
          <a:prstGeom prst="rect">
            <a:avLst/>
          </a:prstGeom>
          <a:noFill/>
        </p:spPr>
        <p:txBody>
          <a:bodyPr wrap="square" lIns="0" tIns="0" rIns="0" bIns="0" anchor="t"/>
          <a:lstStyle/>
          <a:p>
            <a:pPr algn="l" marL="0" indent="0">
              <a:buNone/>
            </a:pPr>
            <a:r>
              <a:rPr sz="1050" b="1" i="0">
                <a:solidFill>
                  <a:srgbClr val="212121"/>
                </a:solidFill>
                <a:latin typeface="Calibri"/>
                <a:ea typeface="Calibri"/>
                <a:cs typeface="Calibri"/>
              </a:rPr>
              <a:t>Onboarding  ·  First 90 days</a:t>
            </a:r>
          </a:p>
        </p:txBody>
      </p:sp>
      <p:sp>
        <p:nvSpPr>
          <p:cNvPr id="27" name="TextBox 26"/>
          <p:cNvSpPr txBox="1"/>
          <p:nvPr/>
        </p:nvSpPr>
        <p:spPr>
          <a:xfrm>
            <a:off x="3776472" y="3986783"/>
            <a:ext cx="3995928" cy="256032"/>
          </a:xfrm>
          <a:prstGeom prst="rect">
            <a:avLst/>
          </a:prstGeom>
          <a:noFill/>
        </p:spPr>
        <p:txBody>
          <a:bodyPr wrap="square" lIns="0" tIns="0" rIns="0" bIns="0" anchor="t"/>
          <a:lstStyle/>
          <a:p>
            <a:pPr algn="l" marL="0" indent="0">
              <a:buNone/>
            </a:pPr>
            <a:r>
              <a:rPr sz="950" b="0" i="0">
                <a:solidFill>
                  <a:srgbClr val="5F5F5F"/>
                </a:solidFill>
                <a:latin typeface="Calibri"/>
                <a:ea typeface="Calibri"/>
                <a:cs typeface="Calibri"/>
              </a:rPr>
              <a:t>Knowledge transfer, close stabilization, automation roadmap</a:t>
            </a:r>
          </a:p>
        </p:txBody>
      </p:sp>
      <p:sp>
        <p:nvSpPr>
          <p:cNvPr id="28" name="TextBox 27"/>
          <p:cNvSpPr txBox="1"/>
          <p:nvPr/>
        </p:nvSpPr>
        <p:spPr>
          <a:xfrm>
            <a:off x="8028431" y="3986783"/>
            <a:ext cx="1527048" cy="256032"/>
          </a:xfrm>
          <a:prstGeom prst="rect">
            <a:avLst/>
          </a:prstGeom>
          <a:noFill/>
        </p:spPr>
        <p:txBody>
          <a:bodyPr wrap="square" lIns="0" tIns="0" rIns="0" bIns="0" anchor="t"/>
          <a:lstStyle/>
          <a:p>
            <a:pPr algn="l" marL="0" indent="0">
              <a:buNone/>
            </a:pPr>
            <a:r>
              <a:rPr sz="950" b="0" i="0">
                <a:solidFill>
                  <a:srgbClr val="5F5F5F"/>
                </a:solidFill>
                <a:latin typeface="Calibri"/>
                <a:ea typeface="Calibri"/>
                <a:cs typeface="Calibri"/>
              </a:rPr>
              <a:t>Hourly, as incurred</a:t>
            </a:r>
          </a:p>
        </p:txBody>
      </p:sp>
      <p:sp>
        <p:nvSpPr>
          <p:cNvPr id="29" name="TextBox 28"/>
          <p:cNvSpPr txBox="1"/>
          <p:nvPr/>
        </p:nvSpPr>
        <p:spPr>
          <a:xfrm>
            <a:off x="9646920" y="3968496"/>
            <a:ext cx="1993392" cy="256032"/>
          </a:xfrm>
          <a:prstGeom prst="rect">
            <a:avLst/>
          </a:prstGeom>
          <a:noFill/>
        </p:spPr>
        <p:txBody>
          <a:bodyPr wrap="square" lIns="0" tIns="0" rIns="0" bIns="0" anchor="t"/>
          <a:lstStyle/>
          <a:p>
            <a:pPr algn="r" marL="0" indent="0">
              <a:buNone/>
            </a:pPr>
            <a:r>
              <a:rPr sz="1100" b="1" i="0">
                <a:solidFill>
                  <a:srgbClr val="212121"/>
                </a:solidFill>
                <a:latin typeface="Calibri"/>
                <a:ea typeface="Calibri"/>
                <a:cs typeface="Calibri"/>
              </a:rPr>
              <a:t>Same rates</a:t>
            </a:r>
          </a:p>
        </p:txBody>
      </p:sp>
      <p:sp>
        <p:nvSpPr>
          <p:cNvPr id="30" name="Rectangle 29"/>
          <p:cNvSpPr/>
          <p:nvPr/>
        </p:nvSpPr>
        <p:spPr>
          <a:xfrm>
            <a:off x="548640" y="4334256"/>
            <a:ext cx="11091672" cy="438912"/>
          </a:xfrm>
          <a:prstGeom prst="rect">
            <a:avLst/>
          </a:prstGeom>
          <a:solidFill>
            <a:srgbClr val="EF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13232" y="4462272"/>
            <a:ext cx="5486400" cy="256032"/>
          </a:xfrm>
          <a:prstGeom prst="rect">
            <a:avLst/>
          </a:prstGeom>
          <a:noFill/>
        </p:spPr>
        <p:txBody>
          <a:bodyPr wrap="square" lIns="0" tIns="0" rIns="0" bIns="0" anchor="t"/>
          <a:lstStyle/>
          <a:p>
            <a:pPr algn="l" marL="0" indent="0">
              <a:buNone/>
            </a:pPr>
            <a:r>
              <a:rPr sz="1100" b="1" i="0">
                <a:solidFill>
                  <a:srgbClr val="212121"/>
                </a:solidFill>
                <a:latin typeface="Calibri"/>
                <a:ea typeface="Calibri"/>
                <a:cs typeface="Calibri"/>
              </a:rPr>
              <a:t>Staff · Controller · CFO, guaranteed through December 31, 2026</a:t>
            </a:r>
          </a:p>
        </p:txBody>
      </p:sp>
      <p:sp>
        <p:nvSpPr>
          <p:cNvPr id="32" name="TextBox 31"/>
          <p:cNvSpPr txBox="1"/>
          <p:nvPr/>
        </p:nvSpPr>
        <p:spPr>
          <a:xfrm>
            <a:off x="9646920" y="4453128"/>
            <a:ext cx="1993392" cy="274320"/>
          </a:xfrm>
          <a:prstGeom prst="rect">
            <a:avLst/>
          </a:prstGeom>
          <a:noFill/>
        </p:spPr>
        <p:txBody>
          <a:bodyPr wrap="square" lIns="0" tIns="0" rIns="0" bIns="0" anchor="t"/>
          <a:lstStyle/>
          <a:p>
            <a:pPr algn="r" marL="0" indent="0">
              <a:buNone/>
            </a:pPr>
            <a:r>
              <a:rPr sz="1300" b="1" i="0">
                <a:solidFill>
                  <a:srgbClr val="8F7346"/>
                </a:solidFill>
                <a:latin typeface="Cambria"/>
                <a:ea typeface="Cambria"/>
                <a:cs typeface="Cambria"/>
              </a:rPr>
              <a:t>$100 · $185 · $275</a:t>
            </a:r>
          </a:p>
        </p:txBody>
      </p:sp>
      <p:sp>
        <p:nvSpPr>
          <p:cNvPr id="33" name="Rectangle 32"/>
          <p:cNvSpPr/>
          <p:nvPr/>
        </p:nvSpPr>
        <p:spPr>
          <a:xfrm>
            <a:off x="548640" y="5010912"/>
            <a:ext cx="11091672" cy="78638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48640" y="5010912"/>
            <a:ext cx="11091672"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2959" y="5175504"/>
            <a:ext cx="6035040" cy="237744"/>
          </a:xfrm>
          <a:prstGeom prst="rect">
            <a:avLst/>
          </a:prstGeom>
          <a:noFill/>
        </p:spPr>
        <p:txBody>
          <a:bodyPr wrap="square" lIns="0" tIns="0" rIns="0" bIns="0" anchor="t"/>
          <a:lstStyle/>
          <a:p>
            <a:pPr algn="l" marL="0" indent="0">
              <a:buNone/>
            </a:pPr>
            <a:r>
              <a:rPr sz="1050" b="1" i="0">
                <a:solidFill>
                  <a:srgbClr val="B08D57"/>
                </a:solidFill>
                <a:latin typeface="Calibri"/>
                <a:ea typeface="Calibri"/>
                <a:cs typeface="Calibri"/>
              </a:rPr>
              <a:t>RETAINER &amp; BILLING</a:t>
            </a:r>
          </a:p>
        </p:txBody>
      </p:sp>
      <p:sp>
        <p:nvSpPr>
          <p:cNvPr id="36" name="TextBox 35"/>
          <p:cNvSpPr txBox="1"/>
          <p:nvPr/>
        </p:nvSpPr>
        <p:spPr>
          <a:xfrm>
            <a:off x="822959" y="5394960"/>
            <a:ext cx="7680960" cy="365760"/>
          </a:xfrm>
          <a:prstGeom prst="rect">
            <a:avLst/>
          </a:prstGeom>
          <a:noFill/>
        </p:spPr>
        <p:txBody>
          <a:bodyPr wrap="square" lIns="0" tIns="0" rIns="0" bIns="0" anchor="t"/>
          <a:lstStyle/>
          <a:p>
            <a:pPr algn="l" marL="0" indent="0">
              <a:lnSpc>
                <a:spcPct val="115000"/>
              </a:lnSpc>
              <a:buNone/>
            </a:pPr>
            <a:r>
              <a:rPr sz="950" b="0" i="0">
                <a:solidFill>
                  <a:srgbClr val="D6D6D6"/>
                </a:solidFill>
                <a:latin typeface="Calibri"/>
                <a:ea typeface="Calibri"/>
                <a:cs typeface="Calibri"/>
              </a:rPr>
              <a:t>A $3,000 retainer starts the engagement, applied to the final invoice. Invoices every two weeks, net 7, with time detail by person and task.</a:t>
            </a:r>
          </a:p>
        </p:txBody>
      </p:sp>
      <p:sp>
        <p:nvSpPr>
          <p:cNvPr id="37" name="TextBox 36"/>
          <p:cNvSpPr txBox="1"/>
          <p:nvPr/>
        </p:nvSpPr>
        <p:spPr>
          <a:xfrm>
            <a:off x="8503920" y="5248656"/>
            <a:ext cx="2862072" cy="310896"/>
          </a:xfrm>
          <a:prstGeom prst="rect">
            <a:avLst/>
          </a:prstGeom>
          <a:noFill/>
        </p:spPr>
        <p:txBody>
          <a:bodyPr wrap="square" lIns="0" tIns="0" rIns="0" bIns="0" anchor="t"/>
          <a:lstStyle/>
          <a:p>
            <a:pPr algn="r" marL="0" indent="0">
              <a:buNone/>
            </a:pPr>
            <a:r>
              <a:rPr sz="1400" b="1" i="0">
                <a:solidFill>
                  <a:srgbClr val="FFFFFF"/>
                </a:solidFill>
                <a:latin typeface="Cambria"/>
                <a:ea typeface="Cambria"/>
                <a:cs typeface="Cambria"/>
              </a:rPr>
              <a:t>No lock-in</a:t>
            </a:r>
          </a:p>
        </p:txBody>
      </p:sp>
      <p:sp>
        <p:nvSpPr>
          <p:cNvPr id="38" name="TextBox 37"/>
          <p:cNvSpPr txBox="1"/>
          <p:nvPr/>
        </p:nvSpPr>
        <p:spPr>
          <a:xfrm>
            <a:off x="548640" y="5980176"/>
            <a:ext cx="11091672" cy="566928"/>
          </a:xfrm>
          <a:prstGeom prst="rect">
            <a:avLst/>
          </a:prstGeom>
          <a:noFill/>
        </p:spPr>
        <p:txBody>
          <a:bodyPr wrap="square" lIns="0" tIns="0" rIns="0" bIns="0" anchor="t"/>
          <a:lstStyle/>
          <a:p>
            <a:pPr algn="l" marL="0" indent="0">
              <a:spcAft>
                <a:spcPts val="300"/>
              </a:spcAft>
              <a:buNone/>
            </a:pPr>
            <a:r>
              <a:rPr sz="950" b="0" i="0">
                <a:solidFill>
                  <a:srgbClr val="5F5F5F"/>
                </a:solidFill>
                <a:latin typeface="Calibri"/>
                <a:ea typeface="Calibri"/>
                <a:cs typeface="Calibri"/>
              </a:rPr>
              <a:t>Pause, scale back or change the mix at any time by email. No re-signing, no minimum term.  ·  Weekly progress-and-budget updates during onboarding. | Not included: tax returns or filings, which your tax preparer handles; we support the audit but do not perform it.</a:t>
            </a:r>
          </a:p>
        </p:txBody>
      </p:sp>
      <p:sp>
        <p:nvSpPr>
          <p:cNvPr id="39" name="TextBox 38"/>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B08D57"/>
                </a:solidFill>
                <a:latin typeface="Calibri"/>
                <a:ea typeface="Calibri"/>
                <a:cs typeface="Calibri"/>
              </a:rPr>
              <a:t>BEYOND ONBOARDING</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FFFFFF"/>
                </a:solidFill>
                <a:latin typeface="Cambria"/>
                <a:ea typeface="Cambria"/>
                <a:cs typeface="Cambria"/>
              </a:rPr>
              <a:t>What you get every month</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C9C9C9"/>
                </a:solidFill>
                <a:latin typeface="Calibri"/>
                <a:ea typeface="Calibri"/>
                <a:cs typeface="Calibri"/>
              </a:rPr>
              <a:t>Onboarding is a milestone. The monthly rhythm is the job.</a:t>
            </a:r>
          </a:p>
        </p:txBody>
      </p:sp>
      <p:sp>
        <p:nvSpPr>
          <p:cNvPr id="5" name="Rectangle 4"/>
          <p:cNvSpPr/>
          <p:nvPr/>
        </p:nvSpPr>
        <p:spPr>
          <a:xfrm>
            <a:off x="548640" y="1920240"/>
            <a:ext cx="3514344" cy="175564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920240"/>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2194560"/>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A CLOSE THAT RUNS ON TIME</a:t>
            </a:r>
          </a:p>
        </p:txBody>
      </p:sp>
      <p:sp>
        <p:nvSpPr>
          <p:cNvPr id="8" name="TextBox 7"/>
          <p:cNvSpPr txBox="1"/>
          <p:nvPr/>
        </p:nvSpPr>
        <p:spPr>
          <a:xfrm>
            <a:off x="822959" y="2670048"/>
            <a:ext cx="2965704" cy="859536"/>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Books closed on a set calendar each month, reviewed by someone other than the preparer, without anyone chasing it.</a:t>
            </a:r>
          </a:p>
        </p:txBody>
      </p:sp>
      <p:sp>
        <p:nvSpPr>
          <p:cNvPr id="9" name="Rectangle 8"/>
          <p:cNvSpPr/>
          <p:nvPr/>
        </p:nvSpPr>
        <p:spPr>
          <a:xfrm>
            <a:off x="4337304" y="1920240"/>
            <a:ext cx="3514344" cy="175564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337304" y="1920240"/>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11624" y="2194560"/>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JOB COSTING &amp; INVENTORY</a:t>
            </a:r>
          </a:p>
        </p:txBody>
      </p:sp>
      <p:sp>
        <p:nvSpPr>
          <p:cNvPr id="12" name="TextBox 11"/>
          <p:cNvSpPr txBox="1"/>
          <p:nvPr/>
        </p:nvSpPr>
        <p:spPr>
          <a:xfrm>
            <a:off x="4611624" y="2670048"/>
            <a:ext cx="2965704" cy="859536"/>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Job, project and inventory results tied to the ledger, reviewed and explained.</a:t>
            </a:r>
          </a:p>
        </p:txBody>
      </p:sp>
      <p:sp>
        <p:nvSpPr>
          <p:cNvPr id="13" name="Rectangle 12"/>
          <p:cNvSpPr/>
          <p:nvPr/>
        </p:nvSpPr>
        <p:spPr>
          <a:xfrm>
            <a:off x="8125968" y="1920240"/>
            <a:ext cx="3514344" cy="175564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125968" y="1920240"/>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00288" y="2194560"/>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MANAGEMENT &amp; BANK REPORTING</a:t>
            </a:r>
          </a:p>
        </p:txBody>
      </p:sp>
      <p:sp>
        <p:nvSpPr>
          <p:cNvPr id="16" name="TextBox 15"/>
          <p:cNvSpPr txBox="1"/>
          <p:nvPr/>
        </p:nvSpPr>
        <p:spPr>
          <a:xfrm>
            <a:off x="8400288" y="2670048"/>
            <a:ext cx="2965704" cy="859536"/>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Monthly management reporting and the Bell Bank quarterly package, delivered on time.</a:t>
            </a:r>
          </a:p>
        </p:txBody>
      </p:sp>
      <p:sp>
        <p:nvSpPr>
          <p:cNvPr id="17" name="Rectangle 16"/>
          <p:cNvSpPr/>
          <p:nvPr/>
        </p:nvSpPr>
        <p:spPr>
          <a:xfrm>
            <a:off x="548640" y="3803904"/>
            <a:ext cx="3514344" cy="175564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8640" y="380390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2959" y="4078224"/>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BUDGET, FORECAST &amp; DIRECTION</a:t>
            </a:r>
          </a:p>
        </p:txBody>
      </p:sp>
      <p:sp>
        <p:nvSpPr>
          <p:cNvPr id="20" name="TextBox 19"/>
          <p:cNvSpPr txBox="1"/>
          <p:nvPr/>
        </p:nvSpPr>
        <p:spPr>
          <a:xfrm>
            <a:off x="822959" y="4553712"/>
            <a:ext cx="2965704" cy="859536"/>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A driver-based budget and forecast, and CFO-level direction for the finance team.</a:t>
            </a:r>
          </a:p>
        </p:txBody>
      </p:sp>
      <p:sp>
        <p:nvSpPr>
          <p:cNvPr id="21" name="Rectangle 20"/>
          <p:cNvSpPr/>
          <p:nvPr/>
        </p:nvSpPr>
        <p:spPr>
          <a:xfrm>
            <a:off x="4337304" y="3803904"/>
            <a:ext cx="3514344" cy="175564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337304" y="380390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11624" y="4078224"/>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CONNECTED SYSTEMS</a:t>
            </a:r>
          </a:p>
        </p:txBody>
      </p:sp>
      <p:sp>
        <p:nvSpPr>
          <p:cNvPr id="24" name="TextBox 23"/>
          <p:cNvSpPr txBox="1"/>
          <p:nvPr/>
        </p:nvSpPr>
        <p:spPr>
          <a:xfrm>
            <a:off x="4611624" y="4553712"/>
            <a:ext cx="2965704" cy="859536"/>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ServiceTitan, QStock and Sage Intacct connected, with less manual work and review controls.</a:t>
            </a:r>
          </a:p>
        </p:txBody>
      </p:sp>
      <p:sp>
        <p:nvSpPr>
          <p:cNvPr id="25" name="Rectangle 24"/>
          <p:cNvSpPr/>
          <p:nvPr/>
        </p:nvSpPr>
        <p:spPr>
          <a:xfrm>
            <a:off x="8125968" y="3803904"/>
            <a:ext cx="3514344" cy="1755648"/>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125968" y="3803904"/>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400288" y="4078224"/>
            <a:ext cx="2965704" cy="420624"/>
          </a:xfrm>
          <a:prstGeom prst="rect">
            <a:avLst/>
          </a:prstGeom>
          <a:noFill/>
        </p:spPr>
        <p:txBody>
          <a:bodyPr wrap="square" lIns="0" tIns="0" rIns="0" bIns="0" anchor="t"/>
          <a:lstStyle/>
          <a:p>
            <a:pPr algn="l" marL="0" indent="0">
              <a:lnSpc>
                <a:spcPct val="105000"/>
              </a:lnSpc>
              <a:buNone/>
            </a:pPr>
            <a:r>
              <a:rPr sz="1100" b="1" i="0">
                <a:solidFill>
                  <a:srgbClr val="B08D57"/>
                </a:solidFill>
                <a:latin typeface="Calibri"/>
                <a:ea typeface="Calibri"/>
                <a:cs typeface="Calibri"/>
              </a:rPr>
              <a:t>CONTROLS WITH HUMAN REVIEW</a:t>
            </a:r>
          </a:p>
        </p:txBody>
      </p:sp>
      <p:sp>
        <p:nvSpPr>
          <p:cNvPr id="28" name="TextBox 27"/>
          <p:cNvSpPr txBox="1"/>
          <p:nvPr/>
        </p:nvSpPr>
        <p:spPr>
          <a:xfrm>
            <a:off x="8400288" y="4553712"/>
            <a:ext cx="2965704" cy="859536"/>
          </a:xfrm>
          <a:prstGeom prst="rect">
            <a:avLst/>
          </a:prstGeom>
          <a:noFill/>
        </p:spPr>
        <p:txBody>
          <a:bodyPr wrap="square" lIns="0" tIns="0" rIns="0" bIns="0" anchor="t"/>
          <a:lstStyle/>
          <a:p>
            <a:pPr algn="l" marL="0" indent="0">
              <a:lnSpc>
                <a:spcPct val="118000"/>
              </a:lnSpc>
              <a:buNone/>
            </a:pPr>
            <a:r>
              <a:rPr sz="950" b="0" i="0">
                <a:solidFill>
                  <a:srgbClr val="D6D6D6"/>
                </a:solidFill>
                <a:latin typeface="Calibri"/>
                <a:ea typeface="Calibri"/>
                <a:cs typeface="Calibri"/>
              </a:rPr>
              <a:t>Automation and AI used as tools, never as the final word. Every material output is verified.</a:t>
            </a:r>
          </a:p>
        </p:txBody>
      </p:sp>
      <p:sp>
        <p:nvSpPr>
          <p:cNvPr id="29" name="TextBox 28"/>
          <p:cNvSpPr txBox="1"/>
          <p:nvPr/>
        </p:nvSpPr>
        <p:spPr>
          <a:xfrm>
            <a:off x="548640" y="5833872"/>
            <a:ext cx="11064240" cy="402336"/>
          </a:xfrm>
          <a:prstGeom prst="rect">
            <a:avLst/>
          </a:prstGeom>
          <a:noFill/>
        </p:spPr>
        <p:txBody>
          <a:bodyPr wrap="square" lIns="0" tIns="0" rIns="0" bIns="0" anchor="t"/>
          <a:lstStyle/>
          <a:p>
            <a:pPr algn="l" marL="0" indent="0">
              <a:lnSpc>
                <a:spcPct val="105000"/>
              </a:lnSpc>
              <a:buNone/>
            </a:pPr>
            <a:r>
              <a:rPr sz="1200" b="0" i="0">
                <a:solidFill>
                  <a:srgbClr val="C9B08A"/>
                </a:solidFill>
                <a:latin typeface="Calibri"/>
                <a:ea typeface="Calibri"/>
                <a:cs typeface="Calibri"/>
              </a:rPr>
              <a:t>Most of our clients blend all three levels (staff, controller and CFO) and adjust the mix as needs change. That range is what a single new hire cannot offer.</a:t>
            </a:r>
          </a:p>
        </p:txBody>
      </p:sp>
      <p:sp>
        <p:nvSpPr>
          <p:cNvPr id="30" name="TextBox 29"/>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6E6E6E"/>
                </a:solidFill>
                <a:latin typeface="Calibri"/>
                <a:ea typeface="Calibri"/>
                <a:cs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8F7346"/>
                </a:solidFill>
                <a:latin typeface="Calibri"/>
                <a:ea typeface="Calibri"/>
                <a:cs typeface="Calibri"/>
              </a:rPr>
              <a:t>WHY ONYX</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212121"/>
                </a:solidFill>
                <a:latin typeface="Cambria"/>
                <a:ea typeface="Cambria"/>
                <a:cs typeface="Cambria"/>
              </a:rPr>
              <a:t>Why this firm, for this engagement</a:t>
            </a:r>
          </a:p>
        </p:txBody>
      </p:sp>
      <p:sp>
        <p:nvSpPr>
          <p:cNvPr id="4" name="TextBox 3"/>
          <p:cNvSpPr txBox="1"/>
          <p:nvPr/>
        </p:nvSpPr>
        <p:spPr>
          <a:xfrm>
            <a:off x="566928" y="1371600"/>
            <a:ext cx="11027664" cy="274320"/>
          </a:xfrm>
          <a:prstGeom prst="rect">
            <a:avLst/>
          </a:prstGeom>
          <a:noFill/>
        </p:spPr>
        <p:txBody>
          <a:bodyPr wrap="square" lIns="0" tIns="0" rIns="0" bIns="0" anchor="t"/>
          <a:lstStyle/>
          <a:p>
            <a:pPr algn="l" marL="0" indent="0">
              <a:buNone/>
            </a:pPr>
            <a:r>
              <a:rPr sz="1200" b="0" i="0">
                <a:solidFill>
                  <a:srgbClr val="5F5F5F"/>
                </a:solidFill>
                <a:latin typeface="Calibri"/>
                <a:ea typeface="Calibri"/>
                <a:cs typeface="Calibri"/>
              </a:rPr>
              <a:t>Three things that decide whether this transition goes well.</a:t>
            </a:r>
          </a:p>
        </p:txBody>
      </p:sp>
      <p:sp>
        <p:nvSpPr>
          <p:cNvPr id="5" name="Rectangle 4"/>
          <p:cNvSpPr/>
          <p:nvPr/>
        </p:nvSpPr>
        <p:spPr>
          <a:xfrm>
            <a:off x="548640" y="1901952"/>
            <a:ext cx="3514344" cy="1810512"/>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901952"/>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2194560"/>
            <a:ext cx="2965704" cy="274320"/>
          </a:xfrm>
          <a:prstGeom prst="rect">
            <a:avLst/>
          </a:prstGeom>
          <a:noFill/>
        </p:spPr>
        <p:txBody>
          <a:bodyPr wrap="square" lIns="0" tIns="0" rIns="0" bIns="0" anchor="t"/>
          <a:lstStyle/>
          <a:p>
            <a:pPr algn="l" marL="0" indent="0">
              <a:buNone/>
            </a:pPr>
            <a:r>
              <a:rPr sz="1200" b="1" i="0">
                <a:solidFill>
                  <a:srgbClr val="8F7346"/>
                </a:solidFill>
                <a:latin typeface="Calibri"/>
                <a:ea typeface="Calibri"/>
                <a:cs typeface="Calibri"/>
              </a:rPr>
              <a:t>THE RANGE</a:t>
            </a:r>
          </a:p>
        </p:txBody>
      </p:sp>
      <p:sp>
        <p:nvSpPr>
          <p:cNvPr id="8" name="TextBox 7"/>
          <p:cNvSpPr txBox="1"/>
          <p:nvPr/>
        </p:nvSpPr>
        <p:spPr>
          <a:xfrm>
            <a:off x="822959" y="2578608"/>
            <a:ext cx="2965704" cy="1280160"/>
          </a:xfrm>
          <a:prstGeom prst="rect">
            <a:avLst/>
          </a:prstGeom>
          <a:noFill/>
        </p:spPr>
        <p:txBody>
          <a:bodyPr wrap="square" lIns="0" tIns="0" rIns="0" bIns="0" anchor="t"/>
          <a:lstStyle/>
          <a:p>
            <a:pPr algn="l" marL="0" indent="0">
              <a:lnSpc>
                <a:spcPct val="120000"/>
              </a:lnSpc>
              <a:buNone/>
            </a:pPr>
            <a:r>
              <a:rPr sz="1000" b="0" i="0">
                <a:solidFill>
                  <a:srgbClr val="5F5F5F"/>
                </a:solidFill>
                <a:latin typeface="Calibri"/>
                <a:ea typeface="Calibri"/>
                <a:cs typeface="Calibri"/>
              </a:rPr>
              <a:t>Staff accountant through CFO under one roof. If a person changes, the team and the file do not, and you keep the same senior contact. Nothing is lost in a hand-off.</a:t>
            </a:r>
          </a:p>
        </p:txBody>
      </p:sp>
      <p:sp>
        <p:nvSpPr>
          <p:cNvPr id="9" name="Rectangle 8"/>
          <p:cNvSpPr/>
          <p:nvPr/>
        </p:nvSpPr>
        <p:spPr>
          <a:xfrm>
            <a:off x="4337304" y="1901952"/>
            <a:ext cx="3514344" cy="1810512"/>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337304" y="1901952"/>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11624" y="2194560"/>
            <a:ext cx="2965704" cy="274320"/>
          </a:xfrm>
          <a:prstGeom prst="rect">
            <a:avLst/>
          </a:prstGeom>
          <a:noFill/>
        </p:spPr>
        <p:txBody>
          <a:bodyPr wrap="square" lIns="0" tIns="0" rIns="0" bIns="0" anchor="t"/>
          <a:lstStyle/>
          <a:p>
            <a:pPr algn="l" marL="0" indent="0">
              <a:buNone/>
            </a:pPr>
            <a:r>
              <a:rPr sz="1200" b="1" i="0">
                <a:solidFill>
                  <a:srgbClr val="8F7346"/>
                </a:solidFill>
                <a:latin typeface="Calibri"/>
                <a:ea typeface="Calibri"/>
                <a:cs typeface="Calibri"/>
              </a:rPr>
              <a:t>THE DISCIPLINE</a:t>
            </a:r>
          </a:p>
        </p:txBody>
      </p:sp>
      <p:sp>
        <p:nvSpPr>
          <p:cNvPr id="12" name="TextBox 11"/>
          <p:cNvSpPr txBox="1"/>
          <p:nvPr/>
        </p:nvSpPr>
        <p:spPr>
          <a:xfrm>
            <a:off x="4611624" y="2578608"/>
            <a:ext cx="2965704" cy="1280160"/>
          </a:xfrm>
          <a:prstGeom prst="rect">
            <a:avLst/>
          </a:prstGeom>
          <a:noFill/>
        </p:spPr>
        <p:txBody>
          <a:bodyPr wrap="square" lIns="0" tIns="0" rIns="0" bIns="0" anchor="t"/>
          <a:lstStyle/>
          <a:p>
            <a:pPr algn="l" marL="0" indent="0">
              <a:lnSpc>
                <a:spcPct val="120000"/>
              </a:lnSpc>
              <a:buNone/>
            </a:pPr>
            <a:r>
              <a:rPr sz="1000" b="0" i="0">
                <a:solidFill>
                  <a:srgbClr val="5F5F5F"/>
                </a:solidFill>
                <a:latin typeface="Calibri"/>
                <a:ea typeface="Calibri"/>
                <a:cs typeface="Calibri"/>
              </a:rPr>
              <a:t>Perform and review, every time: the person who prepares a number is never the one who signs off on it. It is how professional-services firms control quality, and how we run your close.</a:t>
            </a:r>
          </a:p>
        </p:txBody>
      </p:sp>
      <p:sp>
        <p:nvSpPr>
          <p:cNvPr id="13" name="Rectangle 12"/>
          <p:cNvSpPr/>
          <p:nvPr/>
        </p:nvSpPr>
        <p:spPr>
          <a:xfrm>
            <a:off x="8125968" y="1901952"/>
            <a:ext cx="3514344" cy="1810512"/>
          </a:xfrm>
          <a:prstGeom prst="rect">
            <a:avLst/>
          </a:prstGeom>
          <a:solidFill>
            <a:srgbClr val="F5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125968" y="1901952"/>
            <a:ext cx="3514344"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00288" y="2194560"/>
            <a:ext cx="2965704" cy="274320"/>
          </a:xfrm>
          <a:prstGeom prst="rect">
            <a:avLst/>
          </a:prstGeom>
          <a:noFill/>
        </p:spPr>
        <p:txBody>
          <a:bodyPr wrap="square" lIns="0" tIns="0" rIns="0" bIns="0" anchor="t"/>
          <a:lstStyle/>
          <a:p>
            <a:pPr algn="l" marL="0" indent="0">
              <a:buNone/>
            </a:pPr>
            <a:r>
              <a:rPr sz="1200" b="1" i="0">
                <a:solidFill>
                  <a:srgbClr val="8F7346"/>
                </a:solidFill>
                <a:latin typeface="Calibri"/>
                <a:ea typeface="Calibri"/>
                <a:cs typeface="Calibri"/>
              </a:rPr>
              <a:t>THE PARTNERSHIP</a:t>
            </a:r>
          </a:p>
        </p:txBody>
      </p:sp>
      <p:sp>
        <p:nvSpPr>
          <p:cNvPr id="16" name="TextBox 15"/>
          <p:cNvSpPr txBox="1"/>
          <p:nvPr/>
        </p:nvSpPr>
        <p:spPr>
          <a:xfrm>
            <a:off x="8400288" y="2578608"/>
            <a:ext cx="2965704" cy="1280160"/>
          </a:xfrm>
          <a:prstGeom prst="rect">
            <a:avLst/>
          </a:prstGeom>
          <a:noFill/>
        </p:spPr>
        <p:txBody>
          <a:bodyPr wrap="square" lIns="0" tIns="0" rIns="0" bIns="0" anchor="t"/>
          <a:lstStyle/>
          <a:p>
            <a:pPr algn="l" marL="0" indent="0">
              <a:lnSpc>
                <a:spcPct val="120000"/>
              </a:lnSpc>
              <a:buNone/>
            </a:pPr>
            <a:r>
              <a:rPr sz="1000" b="0" i="0">
                <a:solidFill>
                  <a:srgbClr val="5F5F5F"/>
                </a:solidFill>
                <a:latin typeface="Calibri"/>
                <a:ea typeface="Calibri"/>
                <a:cs typeface="Calibri"/>
              </a:rPr>
              <a:t>We work alongside your in-house accountant, tax preparer, auditor, counsel and Bell Bank. We support those relationships rather than compete with them, and keep approvals with you.</a:t>
            </a:r>
          </a:p>
        </p:txBody>
      </p:sp>
      <p:sp>
        <p:nvSpPr>
          <p:cNvPr id="17" name="Rectangle 16"/>
          <p:cNvSpPr/>
          <p:nvPr/>
        </p:nvSpPr>
        <p:spPr>
          <a:xfrm>
            <a:off x="548640" y="4315968"/>
            <a:ext cx="11091672" cy="13350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8640" y="4315968"/>
            <a:ext cx="11091672" cy="5029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1247" y="4535424"/>
            <a:ext cx="10506456" cy="237744"/>
          </a:xfrm>
          <a:prstGeom prst="rect">
            <a:avLst/>
          </a:prstGeom>
          <a:noFill/>
        </p:spPr>
        <p:txBody>
          <a:bodyPr wrap="square" lIns="0" tIns="0" rIns="0" bIns="0" anchor="t"/>
          <a:lstStyle/>
          <a:p>
            <a:pPr algn="l" marL="0" indent="0">
              <a:buNone/>
            </a:pPr>
            <a:r>
              <a:rPr sz="1050" b="1" i="0">
                <a:solidFill>
                  <a:srgbClr val="B08D57"/>
                </a:solidFill>
                <a:latin typeface="Calibri"/>
                <a:ea typeface="Calibri"/>
                <a:cs typeface="Calibri"/>
              </a:rPr>
              <a:t>WHAT WE ASK OF YOU</a:t>
            </a:r>
          </a:p>
        </p:txBody>
      </p:sp>
      <p:sp>
        <p:nvSpPr>
          <p:cNvPr id="20" name="Rectangle 19"/>
          <p:cNvSpPr/>
          <p:nvPr/>
        </p:nvSpPr>
        <p:spPr>
          <a:xfrm>
            <a:off x="841247" y="4882896"/>
            <a:ext cx="118872" cy="11887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7" y="5102352"/>
            <a:ext cx="2475738" cy="457200"/>
          </a:xfrm>
          <a:prstGeom prst="rect">
            <a:avLst/>
          </a:prstGeom>
          <a:noFill/>
        </p:spPr>
        <p:txBody>
          <a:bodyPr wrap="square" lIns="0" tIns="0" rIns="0" bIns="0" anchor="t"/>
          <a:lstStyle/>
          <a:p>
            <a:pPr algn="l" marL="0" indent="0">
              <a:lnSpc>
                <a:spcPct val="118000"/>
              </a:lnSpc>
              <a:buNone/>
            </a:pPr>
            <a:r>
              <a:rPr sz="1000" b="0" i="0">
                <a:solidFill>
                  <a:srgbClr val="D6D6D6"/>
                </a:solidFill>
                <a:latin typeface="Calibri"/>
                <a:ea typeface="Calibri"/>
                <a:cs typeface="Calibri"/>
              </a:rPr>
              <a:t>A named internal owner for the engagement</a:t>
            </a:r>
          </a:p>
        </p:txBody>
      </p:sp>
      <p:sp>
        <p:nvSpPr>
          <p:cNvPr id="22" name="Rectangle 21"/>
          <p:cNvSpPr/>
          <p:nvPr/>
        </p:nvSpPr>
        <p:spPr>
          <a:xfrm>
            <a:off x="3518154" y="4882896"/>
            <a:ext cx="118872" cy="11887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518154" y="5102352"/>
            <a:ext cx="2475738" cy="457200"/>
          </a:xfrm>
          <a:prstGeom prst="rect">
            <a:avLst/>
          </a:prstGeom>
          <a:noFill/>
        </p:spPr>
        <p:txBody>
          <a:bodyPr wrap="square" lIns="0" tIns="0" rIns="0" bIns="0" anchor="t"/>
          <a:lstStyle/>
          <a:p>
            <a:pPr algn="l" marL="0" indent="0">
              <a:lnSpc>
                <a:spcPct val="118000"/>
              </a:lnSpc>
              <a:buNone/>
            </a:pPr>
            <a:r>
              <a:rPr sz="1000" b="0" i="0">
                <a:solidFill>
                  <a:srgbClr val="D6D6D6"/>
                </a:solidFill>
                <a:latin typeface="Calibri"/>
                <a:ea typeface="Calibri"/>
                <a:cs typeface="Calibri"/>
              </a:rPr>
              <a:t>Access to Sage Intacct, ServiceTitan, QStock, payroll and bank portals</a:t>
            </a:r>
          </a:p>
        </p:txBody>
      </p:sp>
      <p:sp>
        <p:nvSpPr>
          <p:cNvPr id="24" name="Rectangle 23"/>
          <p:cNvSpPr/>
          <p:nvPr/>
        </p:nvSpPr>
        <p:spPr>
          <a:xfrm>
            <a:off x="6195060" y="4882896"/>
            <a:ext cx="118872" cy="11887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95060" y="5102352"/>
            <a:ext cx="2475738" cy="457200"/>
          </a:xfrm>
          <a:prstGeom prst="rect">
            <a:avLst/>
          </a:prstGeom>
          <a:noFill/>
        </p:spPr>
        <p:txBody>
          <a:bodyPr wrap="square" lIns="0" tIns="0" rIns="0" bIns="0" anchor="t"/>
          <a:lstStyle/>
          <a:p>
            <a:pPr algn="l" marL="0" indent="0">
              <a:lnSpc>
                <a:spcPct val="118000"/>
              </a:lnSpc>
              <a:buNone/>
            </a:pPr>
            <a:r>
              <a:rPr sz="1000" b="0" i="0">
                <a:solidFill>
                  <a:srgbClr val="D6D6D6"/>
                </a:solidFill>
                <a:latin typeface="Calibri"/>
                <a:ea typeface="Calibri"/>
                <a:cs typeface="Calibri"/>
              </a:rPr>
              <a:t>Timely answers and approvals from the practice</a:t>
            </a:r>
          </a:p>
        </p:txBody>
      </p:sp>
      <p:sp>
        <p:nvSpPr>
          <p:cNvPr id="26" name="Rectangle 25"/>
          <p:cNvSpPr/>
          <p:nvPr/>
        </p:nvSpPr>
        <p:spPr>
          <a:xfrm>
            <a:off x="8871966" y="4882896"/>
            <a:ext cx="118872" cy="118872"/>
          </a:xfrm>
          <a:prstGeom prst="rect">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871966" y="5102352"/>
            <a:ext cx="2475738" cy="457200"/>
          </a:xfrm>
          <a:prstGeom prst="rect">
            <a:avLst/>
          </a:prstGeom>
          <a:noFill/>
        </p:spPr>
        <p:txBody>
          <a:bodyPr wrap="square" lIns="0" tIns="0" rIns="0" bIns="0" anchor="t"/>
          <a:lstStyle/>
          <a:p>
            <a:pPr algn="l" marL="0" indent="0">
              <a:lnSpc>
                <a:spcPct val="118000"/>
              </a:lnSpc>
              <a:buNone/>
            </a:pPr>
            <a:r>
              <a:rPr sz="1000" b="0" i="0">
                <a:solidFill>
                  <a:srgbClr val="D6D6D6"/>
                </a:solidFill>
                <a:latin typeface="Calibri"/>
                <a:ea typeface="Calibri"/>
                <a:cs typeface="Calibri"/>
              </a:rPr>
              <a:t>Management keeps approvals and owns the financial statements</a:t>
            </a:r>
          </a:p>
        </p:txBody>
      </p:sp>
      <p:sp>
        <p:nvSpPr>
          <p:cNvPr id="28" name="TextBox 27"/>
          <p:cNvSpPr txBox="1"/>
          <p:nvPr/>
        </p:nvSpPr>
        <p:spPr>
          <a:xfrm>
            <a:off x="548640" y="5989320"/>
            <a:ext cx="11064240" cy="402336"/>
          </a:xfrm>
          <a:prstGeom prst="rect">
            <a:avLst/>
          </a:prstGeom>
          <a:noFill/>
        </p:spPr>
        <p:txBody>
          <a:bodyPr wrap="square" lIns="0" tIns="0" rIns="0" bIns="0" anchor="t"/>
          <a:lstStyle/>
          <a:p>
            <a:pPr algn="l" marL="0" indent="0">
              <a:lnSpc>
                <a:spcPct val="105000"/>
              </a:lnSpc>
              <a:buNone/>
            </a:pPr>
            <a:r>
              <a:rPr sz="1200" b="0" i="0">
                <a:solidFill>
                  <a:srgbClr val="8F7346"/>
                </a:solidFill>
                <a:latin typeface="Calibri"/>
                <a:ea typeface="Calibri"/>
                <a:cs typeface="Calibri"/>
              </a:rPr>
              <a:t>None of it is unusual. All of it is what keeps the transition on schedule.</a:t>
            </a:r>
          </a:p>
        </p:txBody>
      </p:sp>
      <p:sp>
        <p:nvSpPr>
          <p:cNvPr id="29" name="TextBox 28"/>
          <p:cNvSpPr txBox="1"/>
          <p:nvPr/>
        </p:nvSpPr>
        <p:spPr>
          <a:xfrm>
            <a:off x="11475720" y="6428232"/>
            <a:ext cx="548640" cy="274320"/>
          </a:xfrm>
          <a:prstGeom prst="rect">
            <a:avLst/>
          </a:prstGeom>
          <a:noFill/>
        </p:spPr>
        <p:txBody>
          <a:bodyPr wrap="square" lIns="0" tIns="0" rIns="0" bIns="0" anchor="t"/>
          <a:lstStyle/>
          <a:p>
            <a:pPr algn="l" marL="0" indent="0">
              <a:buNone/>
            </a:pPr>
            <a:r>
              <a:rPr sz="1000" b="0" i="0">
                <a:solidFill>
                  <a:srgbClr val="9E9E9E"/>
                </a:solidFill>
                <a:latin typeface="Calibri"/>
                <a:ea typeface="Calibri"/>
                <a:cs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566928" y="475488"/>
            <a:ext cx="10972800" cy="292608"/>
          </a:xfrm>
          <a:prstGeom prst="rect">
            <a:avLst/>
          </a:prstGeom>
          <a:noFill/>
        </p:spPr>
        <p:txBody>
          <a:bodyPr wrap="square" lIns="0" tIns="0" rIns="0" bIns="0" anchor="t"/>
          <a:lstStyle/>
          <a:p>
            <a:pPr algn="l" marL="0" indent="0">
              <a:buNone/>
            </a:pPr>
            <a:r>
              <a:rPr sz="1100" b="1" i="0">
                <a:solidFill>
                  <a:srgbClr val="B08D57"/>
                </a:solidFill>
                <a:latin typeface="Calibri"/>
                <a:ea typeface="Calibri"/>
                <a:cs typeface="Calibri"/>
              </a:rPr>
              <a:t>NEXT STEPS</a:t>
            </a:r>
          </a:p>
        </p:txBody>
      </p:sp>
      <p:sp>
        <p:nvSpPr>
          <p:cNvPr id="3" name="TextBox 2"/>
          <p:cNvSpPr txBox="1"/>
          <p:nvPr/>
        </p:nvSpPr>
        <p:spPr>
          <a:xfrm>
            <a:off x="548640" y="768096"/>
            <a:ext cx="11064240" cy="603504"/>
          </a:xfrm>
          <a:prstGeom prst="rect">
            <a:avLst/>
          </a:prstGeom>
          <a:noFill/>
        </p:spPr>
        <p:txBody>
          <a:bodyPr wrap="square" lIns="0" tIns="0" rIns="0" bIns="0" anchor="t"/>
          <a:lstStyle/>
          <a:p>
            <a:pPr algn="l" marL="0" indent="0">
              <a:buNone/>
            </a:pPr>
            <a:r>
              <a:rPr sz="3000" b="1" i="0">
                <a:solidFill>
                  <a:srgbClr val="FFFFFF"/>
                </a:solidFill>
                <a:latin typeface="Cambria"/>
                <a:ea typeface="Cambria"/>
                <a:cs typeface="Cambria"/>
              </a:rPr>
              <a:t>How we start</a:t>
            </a:r>
          </a:p>
        </p:txBody>
      </p:sp>
      <p:sp>
        <p:nvSpPr>
          <p:cNvPr id="4" name="Oval 3"/>
          <p:cNvSpPr/>
          <p:nvPr/>
        </p:nvSpPr>
        <p:spPr>
          <a:xfrm>
            <a:off x="548640" y="2011680"/>
            <a:ext cx="566928" cy="566928"/>
          </a:xfrm>
          <a:prstGeom prst="ellipse">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011680"/>
            <a:ext cx="566928" cy="566928"/>
          </a:xfrm>
          <a:prstGeom prst="rect">
            <a:avLst/>
          </a:prstGeom>
          <a:noFill/>
        </p:spPr>
        <p:txBody>
          <a:bodyPr wrap="square" lIns="0" tIns="0" rIns="0" bIns="0" anchor="ctr"/>
          <a:lstStyle/>
          <a:p>
            <a:pPr algn="ctr" marL="0" indent="0">
              <a:buNone/>
            </a:pPr>
            <a:r>
              <a:rPr sz="1500" b="1" i="0">
                <a:solidFill>
                  <a:srgbClr val="FFFFFF"/>
                </a:solidFill>
                <a:latin typeface="Calibri"/>
                <a:ea typeface="Calibri"/>
                <a:cs typeface="Calibri"/>
              </a:rPr>
              <a:t>01</a:t>
            </a:r>
          </a:p>
        </p:txBody>
      </p:sp>
      <p:sp>
        <p:nvSpPr>
          <p:cNvPr id="6" name="TextBox 5"/>
          <p:cNvSpPr txBox="1"/>
          <p:nvPr/>
        </p:nvSpPr>
        <p:spPr>
          <a:xfrm>
            <a:off x="548640" y="2798064"/>
            <a:ext cx="2457450" cy="310896"/>
          </a:xfrm>
          <a:prstGeom prst="rect">
            <a:avLst/>
          </a:prstGeom>
          <a:noFill/>
        </p:spPr>
        <p:txBody>
          <a:bodyPr wrap="square" lIns="0" tIns="0" rIns="0" bIns="0" anchor="t"/>
          <a:lstStyle/>
          <a:p>
            <a:pPr algn="l" marL="0" indent="0">
              <a:lnSpc>
                <a:spcPct val="105000"/>
              </a:lnSpc>
              <a:buNone/>
            </a:pPr>
            <a:r>
              <a:rPr sz="1350" b="1" i="0">
                <a:solidFill>
                  <a:srgbClr val="FFFFFF"/>
                </a:solidFill>
                <a:latin typeface="Cambria"/>
                <a:ea typeface="Cambria"/>
                <a:cs typeface="Cambria"/>
              </a:rPr>
              <a:t>Leadership review</a:t>
            </a:r>
          </a:p>
        </p:txBody>
      </p:sp>
      <p:sp>
        <p:nvSpPr>
          <p:cNvPr id="7" name="TextBox 6"/>
          <p:cNvSpPr txBox="1"/>
          <p:nvPr/>
        </p:nvSpPr>
        <p:spPr>
          <a:xfrm>
            <a:off x="548640" y="3182112"/>
            <a:ext cx="2457450" cy="914400"/>
          </a:xfrm>
          <a:prstGeom prst="rect">
            <a:avLst/>
          </a:prstGeom>
          <a:noFill/>
        </p:spPr>
        <p:txBody>
          <a:bodyPr wrap="square" lIns="0" tIns="0" rIns="0" bIns="0" anchor="t"/>
          <a:lstStyle/>
          <a:p>
            <a:pPr algn="l" marL="0" indent="0">
              <a:lnSpc>
                <a:spcPct val="120000"/>
              </a:lnSpc>
              <a:buNone/>
            </a:pPr>
            <a:r>
              <a:rPr sz="1000" b="0" i="0">
                <a:solidFill>
                  <a:srgbClr val="D6D6D6"/>
                </a:solidFill>
                <a:latin typeface="Calibri"/>
                <a:ea typeface="Calibri"/>
                <a:cs typeface="Calibri"/>
              </a:rPr>
              <a:t>Share this proposal with Marc, Shawn and Josh. We are glad to join your review, or give you and the team as much additional time as you need, at no charge.</a:t>
            </a:r>
          </a:p>
        </p:txBody>
      </p:sp>
      <p:cxnSp>
        <p:nvCxnSpPr>
          <p:cNvPr id="8" name="Connector 7"/>
          <p:cNvCxnSpPr/>
          <p:nvPr/>
        </p:nvCxnSpPr>
        <p:spPr>
          <a:xfrm>
            <a:off x="1261872" y="2295144"/>
            <a:ext cx="1981962" cy="0"/>
          </a:xfrm>
          <a:prstGeom prst="line">
            <a:avLst/>
          </a:prstGeom>
          <a:ln w="12700">
            <a:solidFill>
              <a:srgbClr val="4A4A4A"/>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390138" y="2011680"/>
            <a:ext cx="566928" cy="566928"/>
          </a:xfrm>
          <a:prstGeom prst="ellipse">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90138" y="2011680"/>
            <a:ext cx="566928" cy="566928"/>
          </a:xfrm>
          <a:prstGeom prst="rect">
            <a:avLst/>
          </a:prstGeom>
          <a:noFill/>
        </p:spPr>
        <p:txBody>
          <a:bodyPr wrap="square" lIns="0" tIns="0" rIns="0" bIns="0" anchor="ctr"/>
          <a:lstStyle/>
          <a:p>
            <a:pPr algn="ctr" marL="0" indent="0">
              <a:buNone/>
            </a:pPr>
            <a:r>
              <a:rPr sz="1500" b="1" i="0">
                <a:solidFill>
                  <a:srgbClr val="FFFFFF"/>
                </a:solidFill>
                <a:latin typeface="Calibri"/>
                <a:ea typeface="Calibri"/>
                <a:cs typeface="Calibri"/>
              </a:rPr>
              <a:t>02</a:t>
            </a:r>
          </a:p>
        </p:txBody>
      </p:sp>
      <p:sp>
        <p:nvSpPr>
          <p:cNvPr id="11" name="TextBox 10"/>
          <p:cNvSpPr txBox="1"/>
          <p:nvPr/>
        </p:nvSpPr>
        <p:spPr>
          <a:xfrm>
            <a:off x="3390138" y="2798064"/>
            <a:ext cx="2457450" cy="310896"/>
          </a:xfrm>
          <a:prstGeom prst="rect">
            <a:avLst/>
          </a:prstGeom>
          <a:noFill/>
        </p:spPr>
        <p:txBody>
          <a:bodyPr wrap="square" lIns="0" tIns="0" rIns="0" bIns="0" anchor="t"/>
          <a:lstStyle/>
          <a:p>
            <a:pPr algn="l" marL="0" indent="0">
              <a:lnSpc>
                <a:spcPct val="105000"/>
              </a:lnSpc>
              <a:buNone/>
            </a:pPr>
            <a:r>
              <a:rPr sz="1350" b="1" i="0">
                <a:solidFill>
                  <a:srgbClr val="FFFFFF"/>
                </a:solidFill>
                <a:latin typeface="Cambria"/>
                <a:ea typeface="Cambria"/>
                <a:cs typeface="Cambria"/>
              </a:rPr>
              <a:t>Choose &amp; sign</a:t>
            </a:r>
          </a:p>
        </p:txBody>
      </p:sp>
      <p:sp>
        <p:nvSpPr>
          <p:cNvPr id="12" name="TextBox 11"/>
          <p:cNvSpPr txBox="1"/>
          <p:nvPr/>
        </p:nvSpPr>
        <p:spPr>
          <a:xfrm>
            <a:off x="3390138" y="3182112"/>
            <a:ext cx="2457450" cy="914400"/>
          </a:xfrm>
          <a:prstGeom prst="rect">
            <a:avLst/>
          </a:prstGeom>
          <a:noFill/>
        </p:spPr>
        <p:txBody>
          <a:bodyPr wrap="square" lIns="0" tIns="0" rIns="0" bIns="0" anchor="t"/>
          <a:lstStyle/>
          <a:p>
            <a:pPr algn="l" marL="0" indent="0">
              <a:lnSpc>
                <a:spcPct val="120000"/>
              </a:lnSpc>
              <a:buNone/>
            </a:pPr>
            <a:r>
              <a:rPr sz="1000" b="0" i="0">
                <a:solidFill>
                  <a:srgbClr val="D6D6D6"/>
                </a:solidFill>
                <a:latin typeface="Calibri"/>
                <a:ea typeface="Calibri"/>
                <a:cs typeface="Calibri"/>
              </a:rPr>
              <a:t>Pick a starting option and sign the engagement letter. You can change the mix later by email.</a:t>
            </a:r>
          </a:p>
        </p:txBody>
      </p:sp>
      <p:cxnSp>
        <p:nvCxnSpPr>
          <p:cNvPr id="13" name="Connector 12"/>
          <p:cNvCxnSpPr/>
          <p:nvPr/>
        </p:nvCxnSpPr>
        <p:spPr>
          <a:xfrm>
            <a:off x="4103370" y="2295144"/>
            <a:ext cx="1981961" cy="0"/>
          </a:xfrm>
          <a:prstGeom prst="line">
            <a:avLst/>
          </a:prstGeom>
          <a:ln w="12700">
            <a:solidFill>
              <a:srgbClr val="4A4A4A"/>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31636" y="2011680"/>
            <a:ext cx="566928" cy="566928"/>
          </a:xfrm>
          <a:prstGeom prst="ellipse">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31636" y="2011680"/>
            <a:ext cx="566928" cy="566928"/>
          </a:xfrm>
          <a:prstGeom prst="rect">
            <a:avLst/>
          </a:prstGeom>
          <a:noFill/>
        </p:spPr>
        <p:txBody>
          <a:bodyPr wrap="square" lIns="0" tIns="0" rIns="0" bIns="0" anchor="ctr"/>
          <a:lstStyle/>
          <a:p>
            <a:pPr algn="ctr" marL="0" indent="0">
              <a:buNone/>
            </a:pPr>
            <a:r>
              <a:rPr sz="1500" b="1" i="0">
                <a:solidFill>
                  <a:srgbClr val="FFFFFF"/>
                </a:solidFill>
                <a:latin typeface="Calibri"/>
                <a:ea typeface="Calibri"/>
                <a:cs typeface="Calibri"/>
              </a:rPr>
              <a:t>03</a:t>
            </a:r>
          </a:p>
        </p:txBody>
      </p:sp>
      <p:sp>
        <p:nvSpPr>
          <p:cNvPr id="16" name="TextBox 15"/>
          <p:cNvSpPr txBox="1"/>
          <p:nvPr/>
        </p:nvSpPr>
        <p:spPr>
          <a:xfrm>
            <a:off x="6231636" y="2798064"/>
            <a:ext cx="2457450" cy="310896"/>
          </a:xfrm>
          <a:prstGeom prst="rect">
            <a:avLst/>
          </a:prstGeom>
          <a:noFill/>
        </p:spPr>
        <p:txBody>
          <a:bodyPr wrap="square" lIns="0" tIns="0" rIns="0" bIns="0" anchor="t"/>
          <a:lstStyle/>
          <a:p>
            <a:pPr algn="l" marL="0" indent="0">
              <a:lnSpc>
                <a:spcPct val="105000"/>
              </a:lnSpc>
              <a:buNone/>
            </a:pPr>
            <a:r>
              <a:rPr sz="1350" b="1" i="0">
                <a:solidFill>
                  <a:srgbClr val="FFFFFF"/>
                </a:solidFill>
                <a:latin typeface="Cambria"/>
                <a:ea typeface="Cambria"/>
                <a:cs typeface="Cambria"/>
              </a:rPr>
              <a:t>Grant access</a:t>
            </a:r>
          </a:p>
        </p:txBody>
      </p:sp>
      <p:sp>
        <p:nvSpPr>
          <p:cNvPr id="17" name="TextBox 16"/>
          <p:cNvSpPr txBox="1"/>
          <p:nvPr/>
        </p:nvSpPr>
        <p:spPr>
          <a:xfrm>
            <a:off x="6231636" y="3182112"/>
            <a:ext cx="2457450" cy="914400"/>
          </a:xfrm>
          <a:prstGeom prst="rect">
            <a:avLst/>
          </a:prstGeom>
          <a:noFill/>
        </p:spPr>
        <p:txBody>
          <a:bodyPr wrap="square" lIns="0" tIns="0" rIns="0" bIns="0" anchor="t"/>
          <a:lstStyle/>
          <a:p>
            <a:pPr algn="l" marL="0" indent="0">
              <a:lnSpc>
                <a:spcPct val="120000"/>
              </a:lnSpc>
              <a:buNone/>
            </a:pPr>
            <a:r>
              <a:rPr sz="1000" b="0" i="0">
                <a:solidFill>
                  <a:srgbClr val="D6D6D6"/>
                </a:solidFill>
                <a:latin typeface="Calibri"/>
                <a:ea typeface="Calibri"/>
                <a:cs typeface="Calibri"/>
              </a:rPr>
              <a:t>Sage Intacct, ServiceTitan, QStock, BambooHR and TRAX payroll, the Bell Bank portal, the close checklist and the 401(k) audit items.</a:t>
            </a:r>
          </a:p>
        </p:txBody>
      </p:sp>
      <p:cxnSp>
        <p:nvCxnSpPr>
          <p:cNvPr id="18" name="Connector 17"/>
          <p:cNvCxnSpPr/>
          <p:nvPr/>
        </p:nvCxnSpPr>
        <p:spPr>
          <a:xfrm>
            <a:off x="6944868" y="2295144"/>
            <a:ext cx="1981962" cy="0"/>
          </a:xfrm>
          <a:prstGeom prst="line">
            <a:avLst/>
          </a:prstGeom>
          <a:ln w="12700">
            <a:solidFill>
              <a:srgbClr val="4A4A4A"/>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073134" y="2011680"/>
            <a:ext cx="566928" cy="566928"/>
          </a:xfrm>
          <a:prstGeom prst="ellipse">
            <a:avLst/>
          </a:prstGeom>
          <a:solidFill>
            <a:srgbClr val="B08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73134" y="2011680"/>
            <a:ext cx="566928" cy="566928"/>
          </a:xfrm>
          <a:prstGeom prst="rect">
            <a:avLst/>
          </a:prstGeom>
          <a:noFill/>
        </p:spPr>
        <p:txBody>
          <a:bodyPr wrap="square" lIns="0" tIns="0" rIns="0" bIns="0" anchor="ctr"/>
          <a:lstStyle/>
          <a:p>
            <a:pPr algn="ctr" marL="0" indent="0">
              <a:buNone/>
            </a:pPr>
            <a:r>
              <a:rPr sz="1500" b="1" i="0">
                <a:solidFill>
                  <a:srgbClr val="FFFFFF"/>
                </a:solidFill>
                <a:latin typeface="Calibri"/>
                <a:ea typeface="Calibri"/>
                <a:cs typeface="Calibri"/>
              </a:rPr>
              <a:t>04</a:t>
            </a:r>
          </a:p>
        </p:txBody>
      </p:sp>
      <p:sp>
        <p:nvSpPr>
          <p:cNvPr id="21" name="TextBox 20"/>
          <p:cNvSpPr txBox="1"/>
          <p:nvPr/>
        </p:nvSpPr>
        <p:spPr>
          <a:xfrm>
            <a:off x="9073134" y="2798064"/>
            <a:ext cx="2457450" cy="310896"/>
          </a:xfrm>
          <a:prstGeom prst="rect">
            <a:avLst/>
          </a:prstGeom>
          <a:noFill/>
        </p:spPr>
        <p:txBody>
          <a:bodyPr wrap="square" lIns="0" tIns="0" rIns="0" bIns="0" anchor="t"/>
          <a:lstStyle/>
          <a:p>
            <a:pPr algn="l" marL="0" indent="0">
              <a:lnSpc>
                <a:spcPct val="105000"/>
              </a:lnSpc>
              <a:buNone/>
            </a:pPr>
            <a:r>
              <a:rPr sz="1350" b="1" i="0">
                <a:solidFill>
                  <a:srgbClr val="FFFFFF"/>
                </a:solidFill>
                <a:latin typeface="Cambria"/>
                <a:ea typeface="Cambria"/>
                <a:cs typeface="Cambria"/>
              </a:rPr>
              <a:t>Kickoff · day 1</a:t>
            </a:r>
          </a:p>
        </p:txBody>
      </p:sp>
      <p:sp>
        <p:nvSpPr>
          <p:cNvPr id="22" name="TextBox 21"/>
          <p:cNvSpPr txBox="1"/>
          <p:nvPr/>
        </p:nvSpPr>
        <p:spPr>
          <a:xfrm>
            <a:off x="9073134" y="3182112"/>
            <a:ext cx="2457450" cy="914400"/>
          </a:xfrm>
          <a:prstGeom prst="rect">
            <a:avLst/>
          </a:prstGeom>
          <a:noFill/>
        </p:spPr>
        <p:txBody>
          <a:bodyPr wrap="square" lIns="0" tIns="0" rIns="0" bIns="0" anchor="t"/>
          <a:lstStyle/>
          <a:p>
            <a:pPr algn="l" marL="0" indent="0">
              <a:lnSpc>
                <a:spcPct val="120000"/>
              </a:lnSpc>
              <a:buNone/>
            </a:pPr>
            <a:r>
              <a:rPr sz="1000" b="0" i="0">
                <a:solidFill>
                  <a:srgbClr val="D6D6D6"/>
                </a:solidFill>
                <a:latin typeface="Calibri"/>
                <a:ea typeface="Calibri"/>
                <a:cs typeface="Calibri"/>
              </a:rPr>
              <a:t>Knowledge capture begins in the first week, with weekly updates from day one.</a:t>
            </a:r>
          </a:p>
        </p:txBody>
      </p:sp>
      <p:sp>
        <p:nvSpPr>
          <p:cNvPr id="23" name="Rectangle 22"/>
          <p:cNvSpPr/>
          <p:nvPr/>
        </p:nvSpPr>
        <p:spPr>
          <a:xfrm>
            <a:off x="548640" y="4443984"/>
            <a:ext cx="11091672" cy="82296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1247" y="4626864"/>
            <a:ext cx="10506456" cy="237744"/>
          </a:xfrm>
          <a:prstGeom prst="rect">
            <a:avLst/>
          </a:prstGeom>
          <a:noFill/>
        </p:spPr>
        <p:txBody>
          <a:bodyPr wrap="square" lIns="0" tIns="0" rIns="0" bIns="0" anchor="t"/>
          <a:lstStyle/>
          <a:p>
            <a:pPr algn="l" marL="0" indent="0">
              <a:buNone/>
            </a:pPr>
            <a:r>
              <a:rPr sz="1000" b="1" i="0">
                <a:solidFill>
                  <a:srgbClr val="B08D57"/>
                </a:solidFill>
                <a:latin typeface="Calibri"/>
                <a:ea typeface="Calibri"/>
                <a:cs typeface="Calibri"/>
              </a:rPr>
              <a:t>STANDING OFFER</a:t>
            </a:r>
          </a:p>
        </p:txBody>
      </p:sp>
      <p:sp>
        <p:nvSpPr>
          <p:cNvPr id="25" name="TextBox 24"/>
          <p:cNvSpPr txBox="1"/>
          <p:nvPr/>
        </p:nvSpPr>
        <p:spPr>
          <a:xfrm>
            <a:off x="841247" y="4864608"/>
            <a:ext cx="10506456" cy="292608"/>
          </a:xfrm>
          <a:prstGeom prst="rect">
            <a:avLst/>
          </a:prstGeom>
          <a:noFill/>
        </p:spPr>
        <p:txBody>
          <a:bodyPr wrap="square" lIns="0" tIns="0" rIns="0" bIns="0" anchor="t"/>
          <a:lstStyle/>
          <a:p>
            <a:pPr algn="l" marL="0" indent="0">
              <a:buNone/>
            </a:pPr>
            <a:r>
              <a:rPr sz="1100" b="0" i="0">
                <a:solidFill>
                  <a:srgbClr val="D6D6D6"/>
                </a:solidFill>
                <a:latin typeface="Calibri"/>
                <a:ea typeface="Calibri"/>
                <a:cs typeface="Calibri"/>
              </a:rPr>
              <a:t>A complimentary accounting and treasury review each quarter with you and your executive board, for as long as we work together.</a:t>
            </a:r>
          </a:p>
        </p:txBody>
      </p:sp>
      <p:cxnSp>
        <p:nvCxnSpPr>
          <p:cNvPr id="26" name="Connector 25"/>
          <p:cNvCxnSpPr/>
          <p:nvPr/>
        </p:nvCxnSpPr>
        <p:spPr>
          <a:xfrm>
            <a:off x="548640" y="5577840"/>
            <a:ext cx="11091672" cy="0"/>
          </a:xfrm>
          <a:prstGeom prst="line">
            <a:avLst/>
          </a:prstGeom>
          <a:ln w="12700">
            <a:solidFill>
              <a:srgbClr val="3A3A3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5760720"/>
            <a:ext cx="3749039" cy="731520"/>
          </a:xfrm>
          <a:prstGeom prst="rect">
            <a:avLst/>
          </a:prstGeom>
          <a:noFill/>
        </p:spPr>
        <p:txBody>
          <a:bodyPr wrap="square" lIns="0" tIns="0" rIns="0" bIns="0" anchor="t"/>
          <a:lstStyle/>
          <a:p>
            <a:pPr algn="l" marL="0" indent="0">
              <a:spcAft>
                <a:spcPts val="200"/>
              </a:spcAft>
              <a:buNone/>
            </a:pPr>
            <a:r>
              <a:rPr sz="1400" b="1" i="0">
                <a:solidFill>
                  <a:srgbClr val="FFFFFF"/>
                </a:solidFill>
                <a:latin typeface="Cambria"/>
                <a:ea typeface="Cambria"/>
                <a:cs typeface="Cambria"/>
              </a:rPr>
              <a:t>Steven Nikolov</a:t>
            </a:r>
          </a:p>
          <a:p>
            <a:pPr algn="l" marL="0" indent="0">
              <a:spcAft>
                <a:spcPts val="200"/>
              </a:spcAft>
              <a:buNone/>
            </a:pPr>
            <a:r>
              <a:rPr sz="1000" b="0" i="0">
                <a:solidFill>
                  <a:srgbClr val="B08D57"/>
                </a:solidFill>
                <a:latin typeface="Calibri"/>
                <a:ea typeface="Calibri"/>
                <a:cs typeface="Calibri"/>
              </a:rPr>
              <a:t>Founder, Principal &amp; Outsourced CFO</a:t>
            </a:r>
          </a:p>
          <a:p>
            <a:pPr algn="l" marL="0" indent="0">
              <a:buNone/>
            </a:pPr>
            <a:r>
              <a:rPr sz="1050" b="0" i="0">
                <a:solidFill>
                  <a:srgbClr val="C9C9C9"/>
                </a:solidFill>
                <a:latin typeface="Calibri"/>
                <a:ea typeface="Calibri"/>
                <a:cs typeface="Calibri"/>
              </a:rPr>
              <a:t>steven@onyxcfo.com</a:t>
            </a:r>
          </a:p>
        </p:txBody>
      </p:sp>
      <p:sp>
        <p:nvSpPr>
          <p:cNvPr id="28" name="TextBox 27"/>
          <p:cNvSpPr txBox="1"/>
          <p:nvPr/>
        </p:nvSpPr>
        <p:spPr>
          <a:xfrm>
            <a:off x="4480560" y="5760720"/>
            <a:ext cx="3749039" cy="731520"/>
          </a:xfrm>
          <a:prstGeom prst="rect">
            <a:avLst/>
          </a:prstGeom>
          <a:noFill/>
        </p:spPr>
        <p:txBody>
          <a:bodyPr wrap="square" lIns="0" tIns="0" rIns="0" bIns="0" anchor="t"/>
          <a:lstStyle/>
          <a:p>
            <a:pPr algn="l" marL="0" indent="0">
              <a:spcAft>
                <a:spcPts val="200"/>
              </a:spcAft>
              <a:buNone/>
            </a:pPr>
            <a:r>
              <a:rPr sz="1400" b="1" i="0">
                <a:solidFill>
                  <a:srgbClr val="FFFFFF"/>
                </a:solidFill>
                <a:latin typeface="Cambria"/>
                <a:ea typeface="Cambria"/>
                <a:cs typeface="Cambria"/>
              </a:rPr>
              <a:t>Josephine Mack</a:t>
            </a:r>
          </a:p>
          <a:p>
            <a:pPr algn="l" marL="0" indent="0">
              <a:spcAft>
                <a:spcPts val="200"/>
              </a:spcAft>
              <a:buNone/>
            </a:pPr>
            <a:r>
              <a:rPr sz="1000" b="0" i="0">
                <a:solidFill>
                  <a:srgbClr val="B08D57"/>
                </a:solidFill>
                <a:latin typeface="Calibri"/>
                <a:ea typeface="Calibri"/>
                <a:cs typeface="Calibri"/>
              </a:rPr>
              <a:t>Chief of Staff &amp; Client Relations</a:t>
            </a:r>
          </a:p>
          <a:p>
            <a:pPr algn="l" marL="0" indent="0">
              <a:buNone/>
            </a:pPr>
            <a:r>
              <a:rPr sz="1050" b="0" i="0">
                <a:solidFill>
                  <a:srgbClr val="C9C9C9"/>
                </a:solidFill>
                <a:latin typeface="Calibri"/>
                <a:ea typeface="Calibri"/>
                <a:cs typeface="Calibri"/>
              </a:rPr>
              <a:t>jmack@onyxcfo.com</a:t>
            </a:r>
          </a:p>
        </p:txBody>
      </p:sp>
      <p:sp>
        <p:nvSpPr>
          <p:cNvPr id="29" name="TextBox 28"/>
          <p:cNvSpPr txBox="1"/>
          <p:nvPr/>
        </p:nvSpPr>
        <p:spPr>
          <a:xfrm>
            <a:off x="8321040" y="5760720"/>
            <a:ext cx="3319272" cy="731520"/>
          </a:xfrm>
          <a:prstGeom prst="rect">
            <a:avLst/>
          </a:prstGeom>
          <a:noFill/>
        </p:spPr>
        <p:txBody>
          <a:bodyPr wrap="square" lIns="0" tIns="0" rIns="0" bIns="0" anchor="t"/>
          <a:lstStyle/>
          <a:p>
            <a:pPr algn="r" marL="0" indent="0">
              <a:spcAft>
                <a:spcPts val="200"/>
              </a:spcAft>
              <a:buNone/>
            </a:pPr>
            <a:r>
              <a:rPr sz="1300" b="1" i="0">
                <a:solidFill>
                  <a:srgbClr val="FFFFFF"/>
                </a:solidFill>
                <a:latin typeface="Cambria"/>
                <a:ea typeface="Cambria"/>
                <a:cs typeface="Cambria"/>
              </a:rPr>
              <a:t>Onyx Accounting Group</a:t>
            </a:r>
          </a:p>
          <a:p>
            <a:pPr algn="r" marL="0" indent="0">
              <a:spcAft>
                <a:spcPts val="100"/>
              </a:spcAft>
              <a:buNone/>
            </a:pPr>
            <a:r>
              <a:rPr sz="1000" b="0" i="0">
                <a:solidFill>
                  <a:srgbClr val="C9C9C9"/>
                </a:solidFill>
                <a:latin typeface="Calibri"/>
                <a:ea typeface="Calibri"/>
                <a:cs typeface="Calibri"/>
              </a:rPr>
              <a:t>14614 N Kierland Blvd, Suite N220</a:t>
            </a:r>
          </a:p>
          <a:p>
            <a:pPr algn="r" marL="0" indent="0">
              <a:spcAft>
                <a:spcPts val="100"/>
              </a:spcAft>
              <a:buNone/>
            </a:pPr>
            <a:r>
              <a:rPr sz="1000" b="0" i="0">
                <a:solidFill>
                  <a:srgbClr val="C9C9C9"/>
                </a:solidFill>
                <a:latin typeface="Calibri"/>
                <a:ea typeface="Calibri"/>
                <a:cs typeface="Calibri"/>
              </a:rPr>
              <a:t>Scottsdale, AZ 85254  ·  (480) 999-5509</a:t>
            </a:r>
          </a:p>
          <a:p>
            <a:pPr algn="r" marL="0" indent="0">
              <a:buNone/>
            </a:pPr>
            <a:r>
              <a:rPr sz="1000" b="0" i="0">
                <a:solidFill>
                  <a:srgbClr val="B08D57"/>
                </a:solidFill>
                <a:latin typeface="Calibri"/>
                <a:ea typeface="Calibri"/>
                <a:cs typeface="Calibri"/>
              </a:rPr>
              <a:t>onyxcfo.com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ONYX Proposal: Arizona Center for Hand to Shoulder Surgery</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