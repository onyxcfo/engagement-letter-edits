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9E79A-E356-4544-6A09-9A1D45D72EAE}">
          <p14:sldIdLst>
            <p14:sldId id="256"/>
            <p14:sldId id="257"/>
            <p14:sldId id="258"/>
          </p14:sldIdLst>
        </p14:section>
        <p14:section name="01 Who we are" id="{6920C485-F38D-0467-708E-BF131F7EEDBF}">
          <p14:sldIdLst>
            <p14:sldId id="259"/>
            <p14:sldId id="260"/>
          </p14:sldIdLst>
        </p14:section>
        <p14:section name="02 What we can help with" id="{D865D581-AB5B-50E4-5CE6-5C1110189744}">
          <p14:sldIdLst>
            <p14:sldId id="261"/>
            <p14:sldId id="262"/>
            <p14:sldId id="263"/>
          </p14:sldIdLst>
        </p14:section>
        <p14:section name="03 Engagement timeline" id="{BE9016A4-BCED-42AE-D5BD-4F440FFB9306}">
          <p14:sldIdLst>
            <p14:sldId id="264"/>
          </p14:sldIdLst>
        </p14:section>
        <p14:section name="04 30/60/90-day plan" id="{D18E2FDC-9B0B-F83D-9C01-56E6F221050F}">
          <p14:sldIdLst>
            <p14:sldId id="265"/>
            <p14:sldId id="266"/>
          </p14:sldIdLst>
        </p14:section>
        <p14:section name="05 Proposed fees" id="{8A093D5D-E9FB-CDCE-3C1B-581F527438CF}">
          <p14:sldIdLst>
            <p14:sldId id="267"/>
          </p14:sldIdLst>
        </p14:section>
        <p14:section name="06 Why ONYX and next steps" id="{7CE09CF9-53E3-4C8F-DF64-AD829310B33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4541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Proposal accompanies the engagement letter dated October 5,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10500055" y="301752"/>
            <a:ext cx="1143000" cy="537667"/>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900" dirty="0">
                <a:solidFill>
                  <a:srgbClr val="5B6472"/>
                </a:solidFill>
              </a:rPr>
              <a:t>Proposal for AJAC, Inc. dba George Brazil  |  Confidential</a:t>
            </a:r>
            <a:endParaRPr lang="en-US" sz="900" dirty="0"/>
          </a:p>
        </p:txBody>
      </p:sp>
      <p:sp>
        <p:nvSpPr>
          <p:cNvPr id="4" name="Text 1"/>
          <p:cNvSpPr>
            <a:spLocks noGrp="1"/>
          </p:cNvSpPr>
          <p:nvPr>
            <p:ph type="body" idx="102" hasCustomPrompt="1"/>
          </p:nvPr>
        </p:nvSpPr>
        <p:spPr>
          <a:xfrm>
            <a:off x="548640" y="384048"/>
            <a:ext cx="8229600" cy="274320"/>
          </a:xfrm>
          <a:prstGeom prst="rect">
            <a:avLst/>
          </a:prstGeom>
          <a:noFill/>
          <a:ln/>
        </p:spPr>
        <p:txBody>
          <a:bodyPr wrap="square" rtlCol="0"/>
          <a:lstStyle>
            <a:lvl1pPr marL="0" indent="0">
              <a:buNone/>
              <a:defRPr lang="en-US" sz="1100" b="1" kern="0" spc="200" dirty="0">
                <a:solidFill>
                  <a:srgbClr val="AF1F29"/>
                </a:solidFill>
              </a:defRPr>
            </a:lvl1pPr>
          </a:lstStyle>
          <a:p>
            <a:pPr marL="0" indent="0">
              <a:buNone/>
            </a:pPr>
            <a:endParaRPr lang="en-US" sz="1100" dirty="0"/>
          </a:p>
        </p:txBody>
      </p:sp>
      <p:sp>
        <p:nvSpPr>
          <p:cNvPr id="5" name="Text 1"/>
          <p:cNvSpPr>
            <a:spLocks noGrp="1"/>
          </p:cNvSpPr>
          <p:nvPr>
            <p:ph type="title" idx="103" hasCustomPrompt="1"/>
          </p:nvPr>
        </p:nvSpPr>
        <p:spPr>
          <a:xfrm>
            <a:off x="548640" y="658368"/>
            <a:ext cx="9692640" cy="731520"/>
          </a:xfrm>
          <a:prstGeom prst="rect">
            <a:avLst/>
          </a:prstGeom>
          <a:noFill/>
          <a:ln/>
        </p:spPr>
        <p:txBody>
          <a:bodyPr wrap="square" rtlCol="0"/>
          <a:lstStyle>
            <a:lvl1pPr marL="0" indent="0" algn="l">
              <a:buNone/>
              <a:defRPr lang="en-US" sz="2800" dirty="0">
                <a:solidFill>
                  <a:srgbClr val="16181D"/>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457200"/>
            <a:ext cx="1463040" cy="687629"/>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icPr>
            <a:picLocks noChangeAspect="1"/>
          </p:cNvPicPr>
          <p:nvPr/>
        </p:nvPicPr>
        <p:blipFill>
          <a:blip r:embed="rId3"/>
          <a:stretch>
            <a:fillRect/>
          </a:stretch>
        </p:blipFill>
        <p:spPr>
          <a:xfrm>
            <a:off x="548640" y="548640"/>
            <a:ext cx="1828800" cy="859536"/>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marL="0" indent="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marL="0" indent="0">
              <a:buNone/>
            </a:pPr>
            <a:r>
              <a:rPr lang="en-US" sz="1200" dirty="0">
                <a:solidFill>
                  <a:schemeClr val="bg1"/>
                </a:solidFill>
              </a:rPr>
              <a:t>October 5,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FOR</a:t>
            </a:r>
            <a:endParaRPr lang="en-US" sz="1100" dirty="0"/>
          </a:p>
        </p:txBody>
      </p:sp>
      <p:pic>
        <p:nvPicPr>
          <p:cNvPr id="6" name="George Brazil logo" descr="preencoded.png"/>
          <p:cNvPicPr>
            <a:picLocks noChangeAspect="1"/>
          </p:cNvPicPr>
          <p:nvPr/>
        </p:nvPicPr>
        <p:blipFill>
          <a:blip r:embed="rId4"/>
          <a:stretch>
            <a:fillRect/>
          </a:stretch>
        </p:blipFill>
        <p:spPr>
          <a:xfrm>
            <a:off x="5212080" y="1508760"/>
            <a:ext cx="3017520" cy="950976"/>
          </a:xfrm>
          <a:prstGeom prst="rect">
            <a:avLst/>
          </a:prstGeom>
        </p:spPr>
      </p:pic>
      <p:sp>
        <p:nvSpPr>
          <p:cNvPr id="7" name="Text 3"/>
          <p:cNvSpPr txBox="1"/>
          <p:nvPr/>
        </p:nvSpPr>
        <p:spPr>
          <a:xfrm>
            <a:off x="5212080" y="2651760"/>
            <a:ext cx="6400800" cy="411480"/>
          </a:xfrm>
          <a:prstGeom prst="rect">
            <a:avLst/>
          </a:prstGeom>
          <a:noFill/>
          <a:ln/>
        </p:spPr>
        <p:txBody>
          <a:bodyPr wrap="square" lIns="0" tIns="0" rIns="0" bIns="0" rtlCol="0" anchor="t"/>
          <a:lstStyle/>
          <a:p>
            <a:pPr marL="0" indent="0">
              <a:buNone/>
            </a:pPr>
            <a:r>
              <a:rPr lang="en-US" sz="1800" dirty="0">
                <a:solidFill>
                  <a:schemeClr val="tx1"/>
                </a:solidFill>
                <a:latin typeface="Cambria" pitchFamily="34" charset="0"/>
                <a:ea typeface="Cambria" pitchFamily="34" charset="-122"/>
                <a:cs typeface="Cambria" pitchFamily="34" charset="-120"/>
              </a:rPr>
              <a:t>AJAC, Inc. dba George Brazil Plumbing &amp; Electrical</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marL="0" indent="0">
              <a:buNone/>
            </a:pPr>
            <a:r>
              <a:rPr lang="en-US" sz="1200" dirty="0">
                <a:solidFill>
                  <a:schemeClr val="accent3"/>
                </a:solidFill>
              </a:rPr>
              <a:t>3830 S 38th St, Phoenix, AZ 85040</a:t>
            </a:r>
            <a:endParaRPr lang="en-US" sz="1200" dirty="0"/>
          </a:p>
          <a:p>
            <a:pPr marL="0" indent="0">
              <a:buNone/>
            </a:pPr>
            <a:r>
              <a:rPr lang="en-US" sz="1200" dirty="0">
                <a:solidFill>
                  <a:schemeClr val="accent3"/>
                </a:solidFill>
              </a:rPr>
              <a:t>Attn: Marc Erpenbeck, President</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marL="0" indent="0">
              <a:buNone/>
            </a:pPr>
            <a:r>
              <a:rPr lang="en-US" sz="1200" b="1" dirty="0">
                <a:solidFill>
                  <a:schemeClr val="tx1"/>
                </a:solidFill>
              </a:rPr>
              <a:t>Steven Nikolov, Principal</a:t>
            </a:r>
            <a:endParaRPr lang="en-US" sz="1200" dirty="0"/>
          </a:p>
          <a:p>
            <a:pPr marL="0" indent="0">
              <a:buNone/>
            </a:pPr>
            <a:r>
              <a:rPr lang="en-US" sz="1200" dirty="0">
                <a:solidFill>
                  <a:srgbClr val="5B6472"/>
                </a:solidFill>
              </a:rPr>
              <a:t>steven@onyxcfo.com  |  direct 480-999-5509  |  mobile 480-772-5612</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tx1"/>
                </a:solidFill>
              </a:rPr>
              <a:t>Josephine Mack, Chief of Staff and Client Relations</a:t>
            </a:r>
            <a:endParaRPr lang="en-US" sz="1200" dirty="0"/>
          </a:p>
          <a:p>
            <a:pPr marL="0" indent="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marL="0" indent="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INTRODUCTION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A note to Marc and the leadership team</a:t>
            </a:r>
            <a:endParaRPr lang="en-US" sz="2800" dirty="0"/>
          </a:p>
        </p:txBody>
      </p:sp>
      <p:sp>
        <p:nvSpPr>
          <p:cNvPr id="4" name="Text 2"/>
          <p:cNvSpPr txBox="1"/>
          <p:nvPr/>
        </p:nvSpPr>
        <p:spPr>
          <a:xfrm>
            <a:off x="548640" y="1600200"/>
            <a:ext cx="3108960" cy="1828800"/>
          </a:xfrm>
          <a:prstGeom prst="rect">
            <a:avLst/>
          </a:prstGeom>
          <a:noFill/>
          <a:ln/>
        </p:spPr>
        <p:txBody>
          <a:bodyPr wrap="square" lIns="0" tIns="0" rIns="0" bIns="0" rtlCol="0" anchor="t"/>
          <a:lstStyle/>
          <a:p>
            <a:pPr marL="0" indent="0">
              <a:lnSpc>
                <a:spcPct val="115000"/>
              </a:lnSpc>
              <a:buNone/>
            </a:pPr>
            <a:r>
              <a:rPr lang="en-US" sz="1200" dirty="0">
                <a:solidFill>
                  <a:schemeClr val="accent3"/>
                </a:solidFill>
              </a:rPr>
              <a:t>October 5, 2026</a:t>
            </a:r>
            <a:endParaRPr lang="en-US" sz="1200" dirty="0"/>
          </a:p>
          <a:p>
            <a:pPr marL="0" indent="0">
              <a:lnSpc>
                <a:spcPct val="115000"/>
              </a:lnSpc>
              <a:buNone/>
            </a:pPr>
            <a:endParaRPr lang="en-US" sz="1200" dirty="0"/>
          </a:p>
          <a:p>
            <a:pPr marL="0" indent="0">
              <a:lnSpc>
                <a:spcPct val="115000"/>
              </a:lnSpc>
              <a:buNone/>
            </a:pPr>
            <a:r>
              <a:rPr lang="en-US" sz="1200" dirty="0">
                <a:solidFill>
                  <a:schemeClr val="accent3"/>
                </a:solidFill>
              </a:rPr>
              <a:t>Marc Erpenbeck, President</a:t>
            </a:r>
            <a:endParaRPr lang="en-US" sz="1200" dirty="0"/>
          </a:p>
          <a:p>
            <a:pPr marL="0" indent="0">
              <a:lnSpc>
                <a:spcPct val="115000"/>
              </a:lnSpc>
              <a:buNone/>
            </a:pPr>
            <a:r>
              <a:rPr lang="en-US" sz="1200" dirty="0">
                <a:solidFill>
                  <a:schemeClr val="accent3"/>
                </a:solidFill>
              </a:rPr>
              <a:t>AJAC, Inc. dba George Brazil</a:t>
            </a:r>
            <a:endParaRPr lang="en-US" sz="1200" dirty="0"/>
          </a:p>
          <a:p>
            <a:pPr marL="0" indent="0">
              <a:lnSpc>
                <a:spcPct val="115000"/>
              </a:lnSpc>
              <a:buNone/>
            </a:pPr>
            <a:r>
              <a:rPr lang="en-US" sz="1200" dirty="0">
                <a:solidFill>
                  <a:schemeClr val="accent3"/>
                </a:solidFill>
              </a:rPr>
              <a:t>3830 S 38th St</a:t>
            </a:r>
            <a:endParaRPr lang="en-US" sz="1200" dirty="0"/>
          </a:p>
          <a:p>
            <a:pPr marL="0" indent="0">
              <a:lnSpc>
                <a:spcPct val="115000"/>
              </a:lnSpc>
              <a:buNone/>
            </a:pPr>
            <a:r>
              <a:rPr lang="en-US" sz="1200" dirty="0">
                <a:solidFill>
                  <a:schemeClr val="accent3"/>
                </a:solidFill>
              </a:rPr>
              <a:t>Phoenix, AZ 85040</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marL="0" indent="0">
              <a:lnSpc>
                <a:spcPct val="112000"/>
              </a:lnSpc>
              <a:spcAft>
                <a:spcPts val="1000"/>
              </a:spcAft>
              <a:buNone/>
            </a:pPr>
            <a:r>
              <a:rPr lang="en-US" sz="1250" dirty="0">
                <a:solidFill>
                  <a:schemeClr val="tx1"/>
                </a:solidFill>
              </a:rPr>
              <a:t>Dear Marc,</a:t>
            </a:r>
            <a:endParaRPr lang="en-US" sz="1250" dirty="0"/>
          </a:p>
          <a:p>
            <a:pPr marL="0" indent="0">
              <a:lnSpc>
                <a:spcPct val="112000"/>
              </a:lnSpc>
              <a:spcAft>
                <a:spcPts val="1000"/>
              </a:spcAft>
              <a:buNone/>
            </a:pPr>
            <a:r>
              <a:rPr lang="en-US" sz="1250" dirty="0">
                <a:solidFill>
                  <a:schemeClr val="tx1"/>
                </a:solidFill>
              </a:rPr>
              <a:t>Thank you for the time you, Shawne, Josh and Ian gave us at your office on October 2. This proposal accompanies the enclosed engagement letter and describes how Onyx Accounting Group would support George Brazil following your CFO's departure.</a:t>
            </a:r>
            <a:endParaRPr lang="en-US" sz="1250" dirty="0"/>
          </a:p>
          <a:p>
            <a:pPr marL="0" indent="0">
              <a:lnSpc>
                <a:spcPct val="112000"/>
              </a:lnSpc>
              <a:spcAft>
                <a:spcPts val="1000"/>
              </a:spcAft>
              <a:buNone/>
            </a:pPr>
            <a:r>
              <a:rPr lang="en-US" sz="1250" dirty="0">
                <a:solidFill>
                  <a:schemeClr val="tx1"/>
                </a:solidFill>
              </a:rPr>
              <a:t>We have organized it around what we heard. The first priority is continuity: keeping the monthly close, Bell Bank reporting and the day-to-day accounting on track while supporting and training Ian. Behind that sits the work that needs controller and CFO judgment, including the 401(k) plan audit, the year-end financial audit, a smoother accounts payable process, cleaner flows between ServiceTitan, QStock and Sage Intacct, and planning for the S corporation conversion in 2028.</a:t>
            </a:r>
            <a:endParaRPr lang="en-US" sz="1250" dirty="0"/>
          </a:p>
          <a:p>
            <a:pPr marL="0" indent="0">
              <a:lnSpc>
                <a:spcPct val="112000"/>
              </a:lnSpc>
              <a:spcAft>
                <a:spcPts val="1000"/>
              </a:spcAft>
              <a:buNone/>
            </a:pPr>
            <a:r>
              <a:rPr lang="en-US" sz="1250" dirty="0">
                <a:solidFill>
                  <a:schemeClr val="tx1"/>
                </a:solidFill>
              </a:rPr>
              <a:t>Our fees are hourly at the rates in Section 05. You pay for the hours worked, and the mix of controller, CFO and staff time can be changed by email as your needs change. There is no minimum term.</a:t>
            </a:r>
            <a:endParaRPr lang="en-US" sz="1250" dirty="0"/>
          </a:p>
          <a:p>
            <a:pPr marL="0" indent="0">
              <a:lnSpc>
                <a:spcPct val="112000"/>
              </a:lnSpc>
              <a:spcAft>
                <a:spcPts val="1000"/>
              </a:spcAft>
              <a:buNone/>
            </a:pPr>
            <a:r>
              <a:rPr lang="en-US" sz="1250" dirty="0">
                <a:solidFill>
                  <a:schemeClr val="tx1"/>
                </a:solidFill>
              </a:rPr>
              <a:t>We would welcome the opportunity to work with your team and are glad to meet again to walk through any part of this proposal.</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marL="0" indent="0">
              <a:buNone/>
            </a:pPr>
            <a:r>
              <a:rPr lang="en-US" sz="1200" b="1" dirty="0">
                <a:solidFill>
                  <a:schemeClr val="tx1"/>
                </a:solidFill>
              </a:rPr>
              <a:t>Steven Nikolov</a:t>
            </a:r>
            <a:endParaRPr lang="en-US" sz="1200" dirty="0"/>
          </a:p>
          <a:p>
            <a:pPr marL="0" indent="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CONTENTS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9" name="Text 7"/>
          <p:cNvSpPr txBox="1"/>
          <p:nvPr/>
        </p:nvSpPr>
        <p:spPr>
          <a:xfrm>
            <a:off x="777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Our understanding of George Brazil,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3" name="Text 11"/>
          <p:cNvSpPr txBox="1"/>
          <p:nvPr/>
        </p:nvSpPr>
        <p:spPr>
          <a:xfrm>
            <a:off x="777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Key dates from kickoff through the year-end audit</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492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1" name="Text 19"/>
          <p:cNvSpPr txBox="1"/>
          <p:nvPr/>
        </p:nvSpPr>
        <p:spPr>
          <a:xfrm>
            <a:off x="6492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5" name="Text 23"/>
          <p:cNvSpPr txBox="1"/>
          <p:nvPr/>
        </p:nvSpPr>
        <p:spPr>
          <a:xfrm>
            <a:off x="6492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a team gives you that a single hire cannot, and how we start</a:t>
            </a:r>
            <a:endParaRPr lang="en-US" sz="1150" dirty="0"/>
          </a:p>
        </p:txBody>
      </p:sp>
      <p:sp>
        <p:nvSpPr>
          <p:cNvPr id="2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Onyx Accounting Group</a:t>
            </a:r>
            <a:endParaRPr lang="en-US" sz="2800" dirty="0"/>
          </a:p>
        </p:txBody>
      </p:sp>
      <p:sp>
        <p:nvSpPr>
          <p:cNvPr id="4" name="Text 2"/>
          <p:cNvSpPr txBox="1"/>
          <p:nvPr/>
        </p:nvSpPr>
        <p:spPr>
          <a:xfrm>
            <a:off x="548640" y="1600200"/>
            <a:ext cx="5486400" cy="1554480"/>
          </a:xfrm>
          <a:prstGeom prst="rect">
            <a:avLst/>
          </a:prstGeom>
          <a:noFill/>
          <a:ln/>
        </p:spPr>
        <p:txBody>
          <a:bodyPr wrap="square" lIns="0" tIns="0" rIns="0" bIns="0" rtlCol="0" anchor="t"/>
          <a:lstStyle/>
          <a:p>
            <a:pPr marL="0" indent="0">
              <a:lnSpc>
                <a:spcPct val="112000"/>
              </a:lnSpc>
              <a:buNone/>
            </a:pPr>
            <a:r>
              <a:rPr lang="en-US" sz="1250" dirty="0">
                <a:solidFill>
                  <a:schemeClr val="tx1"/>
                </a:solidFill>
              </a:rPr>
              <a:t>Onyx Accounting Group is a Scottsdale, Arizona accounting firm that provides bookkeeping, controller and CFO services to privately held companies. We work inside our clients' own systems, including Sage Intacct and QuickBooks, as an extension of their finance team, and we are built to cover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33832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marL="0" indent="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42976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marL="0" indent="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2120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52120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51663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440680"/>
            <a:ext cx="4937760" cy="640080"/>
          </a:xfrm>
          <a:prstGeom prst="rect">
            <a:avLst/>
          </a:prstGeom>
          <a:noFill/>
          <a:ln/>
        </p:spPr>
        <p:txBody>
          <a:bodyPr wrap="square" lIns="0" tIns="0" rIns="0" bIns="0" rtlCol="0" anchor="t"/>
          <a:lstStyle/>
          <a:p>
            <a:pPr marL="0" indent="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txBody>
          <a:bodyPr/>
          <a:lstStyle/>
          <a:p>
            <a:endParaRPr lang="en-US"/>
          </a:p>
        </p:txBody>
      </p:sp>
      <p:sp>
        <p:nvSpPr>
          <p:cNvPr id="18" name="Text 16"/>
          <p:cNvSpPr txBox="1"/>
          <p:nvPr/>
        </p:nvSpPr>
        <p:spPr>
          <a:xfrm>
            <a:off x="6858000" y="1783080"/>
            <a:ext cx="4510735" cy="365760"/>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marL="0" indent="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marL="0" indent="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090672"/>
            <a:ext cx="4510735" cy="274320"/>
          </a:xfrm>
          <a:prstGeom prst="rect">
            <a:avLst/>
          </a:prstGeom>
          <a:noFill/>
          <a:ln/>
        </p:spPr>
        <p:txBody>
          <a:bodyPr wrap="square" lIns="0" tIns="0" rIns="0" bIns="0" rtlCol="0" anchor="t"/>
          <a:lstStyle/>
          <a:p>
            <a:pPr marL="0" indent="0">
              <a:buNone/>
            </a:pPr>
            <a:r>
              <a:rPr lang="en-US" sz="1250" b="1" dirty="0">
                <a:solidFill>
                  <a:schemeClr val="tx1"/>
                </a:solidFill>
              </a:rPr>
              <a:t>Supporting staff</a:t>
            </a:r>
            <a:endParaRPr lang="en-US" sz="1250" dirty="0"/>
          </a:p>
        </p:txBody>
      </p:sp>
      <p:sp>
        <p:nvSpPr>
          <p:cNvPr id="22" name="Text 20"/>
          <p:cNvSpPr txBox="1"/>
          <p:nvPr/>
        </p:nvSpPr>
        <p:spPr>
          <a:xfrm>
            <a:off x="6858000" y="3364992"/>
            <a:ext cx="4510735" cy="658368"/>
          </a:xfrm>
          <a:prstGeom prst="rect">
            <a:avLst/>
          </a:prstGeom>
          <a:noFill/>
          <a:ln/>
        </p:spPr>
        <p:txBody>
          <a:bodyPr wrap="square" lIns="0" tIns="0" rIns="0" bIns="0" rtlCol="0" anchor="t"/>
          <a:lstStyle/>
          <a:p>
            <a:pPr marL="0" indent="0">
              <a:buNone/>
            </a:pPr>
            <a:r>
              <a:rPr lang="en-US" sz="1150" dirty="0">
                <a:solidFill>
                  <a:schemeClr val="tx1"/>
                </a:solidFill>
              </a:rPr>
              <a:t>Reconciliations, schedules and transaction support prepared on our systems by accountants with ten or more years of experience.</a:t>
            </a:r>
            <a:endParaRPr lang="en-US" sz="1150" dirty="0"/>
          </a:p>
        </p:txBody>
      </p:sp>
      <p:sp>
        <p:nvSpPr>
          <p:cNvPr id="23" name="Text 21"/>
          <p:cNvSpPr txBox="1"/>
          <p:nvPr/>
        </p:nvSpPr>
        <p:spPr>
          <a:xfrm>
            <a:off x="6858000" y="4050792"/>
            <a:ext cx="4510735" cy="274320"/>
          </a:xfrm>
          <a:prstGeom prst="rect">
            <a:avLst/>
          </a:prstGeom>
          <a:noFill/>
          <a:ln/>
        </p:spPr>
        <p:txBody>
          <a:bodyPr wrap="square" lIns="0" tIns="0" rIns="0" bIns="0" rtlCol="0" anchor="t"/>
          <a:lstStyle/>
          <a:p>
            <a:pPr marL="0" indent="0">
              <a:buNone/>
            </a:pPr>
            <a:r>
              <a:rPr lang="en-US" sz="1250" b="1" dirty="0">
                <a:solidFill>
                  <a:schemeClr val="tx1"/>
                </a:solidFill>
              </a:rPr>
              <a:t>Perform and review</a:t>
            </a:r>
            <a:endParaRPr lang="en-US" sz="1250" dirty="0"/>
          </a:p>
        </p:txBody>
      </p:sp>
      <p:sp>
        <p:nvSpPr>
          <p:cNvPr id="24" name="Text 22"/>
          <p:cNvSpPr txBox="1"/>
          <p:nvPr/>
        </p:nvSpPr>
        <p:spPr>
          <a:xfrm>
            <a:off x="6858000" y="4325112"/>
            <a:ext cx="4510735" cy="658368"/>
          </a:xfrm>
          <a:prstGeom prst="rect">
            <a:avLst/>
          </a:prstGeom>
          <a:noFill/>
          <a:ln/>
        </p:spPr>
        <p:txBody>
          <a:bodyPr wrap="square" lIns="0" tIns="0" rIns="0" bIns="0" rtlCol="0" anchor="t"/>
          <a:lstStyle/>
          <a:p>
            <a:pPr marL="0" indent="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5010912"/>
            <a:ext cx="4510735" cy="274320"/>
          </a:xfrm>
          <a:prstGeom prst="rect">
            <a:avLst/>
          </a:prstGeom>
          <a:noFill/>
          <a:ln/>
        </p:spPr>
        <p:txBody>
          <a:bodyPr wrap="square" lIns="0" tIns="0" rIns="0" bIns="0" rtlCol="0" anchor="t"/>
          <a:lstStyle/>
          <a:p>
            <a:pPr marL="0" indent="0">
              <a:buNone/>
            </a:pPr>
            <a:r>
              <a:rPr lang="en-US" sz="1250" b="1" dirty="0">
                <a:solidFill>
                  <a:schemeClr val="tx1"/>
                </a:solidFill>
              </a:rPr>
              <a:t>One file, not one person</a:t>
            </a:r>
            <a:endParaRPr lang="en-US" sz="1250" dirty="0"/>
          </a:p>
        </p:txBody>
      </p:sp>
      <p:sp>
        <p:nvSpPr>
          <p:cNvPr id="26" name="Text 24"/>
          <p:cNvSpPr txBox="1"/>
          <p:nvPr/>
        </p:nvSpPr>
        <p:spPr>
          <a:xfrm>
            <a:off x="6858000" y="5285232"/>
            <a:ext cx="4510735" cy="658368"/>
          </a:xfrm>
          <a:prstGeom prst="rect">
            <a:avLst/>
          </a:prstGeom>
          <a:noFill/>
          <a:ln/>
        </p:spPr>
        <p:txBody>
          <a:bodyPr wrap="square" lIns="0" tIns="0" rIns="0" bIns="0" rtlCol="0" anchor="t"/>
          <a:lstStyle/>
          <a:p>
            <a:pPr marL="0" indent="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marL="0" indent="0">
              <a:buNone/>
            </a:pPr>
            <a:r>
              <a:rPr lang="en-US" sz="1250" dirty="0">
                <a:solidFill>
                  <a:schemeClr val="accent3"/>
                </a:solidFill>
              </a:rPr>
              <a:t>The principal leads the engagement and stays on it. Jessica Bumphus, who joined us at the October 2 meeting, leads the controller work. Staff support is assigned at kickoff, and the mix is adjusted with you as the work settles.</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1913832357"/>
              </p:ext>
            </p:extLst>
          </p:nvPr>
        </p:nvGraphicFramePr>
        <p:xfrm>
          <a:off x="548640" y="2148840"/>
          <a:ext cx="11091672" cy="3474720"/>
        </p:xfrm>
        <a:graphic>
          <a:graphicData uri="http://schemas.openxmlformats.org/drawingml/2006/table">
            <a:tbl>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Principal &amp;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Engagement lead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Overall direction and quality. CFO-level work: close design, Bell Bank and management reporting, budgeting and forecasting, banking and covenant matters, S corporation conversion planning,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Chief of Staff &amp; Client Relations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Jessica Bumphus</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Leads the monthly close, reviews Ian's work and the reconciliations, prepares the Bell Bank quarterly package and management reporting, and drives the AP and systems improvements.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 and data work, all under controller review.</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As needed or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3"/>
          <p:cNvSpPr txBox="1"/>
          <p:nvPr/>
        </p:nvSpPr>
        <p:spPr>
          <a:xfrm>
            <a:off x="548640" y="5897880"/>
            <a:ext cx="10972800" cy="457200"/>
          </a:xfrm>
          <a:prstGeom prst="rect">
            <a:avLst/>
          </a:prstGeom>
          <a:noFill/>
          <a:ln/>
        </p:spPr>
        <p:txBody>
          <a:bodyPr wrap="square" lIns="0" tIns="0" rIns="0" bIns="0" rtlCol="0" anchor="t"/>
          <a:lstStyle/>
          <a:p>
            <a:pPr marL="0" indent="0">
              <a:buNone/>
            </a:pPr>
            <a:r>
              <a:rPr lang="en-US" sz="1100" dirty="0">
                <a:solidFill>
                  <a:schemeClr val="accent3"/>
                </a:solidFill>
              </a:rPr>
              <a:t>Your team keeps approval authority over payments, vendors, customers and payroll. ONYX works from view access to bank and loan accounts and from the access you grant in Sage Intacct, ServiceTitan, QStock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Our understanding of George Brazil</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1783080"/>
            <a:ext cx="30580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marL="0" indent="0">
              <a:lnSpc>
                <a:spcPct val="108000"/>
              </a:lnSpc>
              <a:buNone/>
            </a:pPr>
            <a:r>
              <a:rPr lang="en-US" sz="1150" b="1" dirty="0">
                <a:solidFill>
                  <a:schemeClr val="tx1"/>
                </a:solidFill>
              </a:rPr>
              <a:t>AJAC, Inc. dba George Brazil Plumbing &amp; Electrical, Phoenix. </a:t>
            </a:r>
            <a:r>
              <a:rPr lang="en-US" sz="1150" dirty="0">
                <a:solidFill>
                  <a:schemeClr val="tx1"/>
                </a:solidFill>
              </a:rPr>
              <a:t>Residential plumbing and electrical service, in Arizona since 1990 and part of a name in home services that dates to 1955. Employee-owned through an ESOP.</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Finance team. </a:t>
            </a:r>
            <a:r>
              <a:rPr lang="en-US" sz="1150" dirty="0">
                <a:solidFill>
                  <a:schemeClr val="tx1"/>
                </a:solidFill>
              </a:rPr>
              <a:t>Marc Erpenbeck, President. Ian, in-house accountant, runs the day-to-day. The CFO departed on October 2.</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Systems. </a:t>
            </a:r>
            <a:r>
              <a:rPr lang="en-US" sz="1150" dirty="0">
                <a:solidFill>
                  <a:schemeClr val="tx1"/>
                </a:solidFill>
              </a:rPr>
              <a:t>Sage Intacct (general ledger), ServiceTitan (field service and point of sale), QStock (inventory), BambooHR and TRAX (HR and weekly payroll), Bill.com under evaluation for AP.</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Banking and structure. </a:t>
            </a:r>
            <a:r>
              <a:rPr lang="en-US" sz="1150" dirty="0">
                <a:solidFill>
                  <a:schemeClr val="tx1"/>
                </a:solidFill>
              </a:rPr>
              <a:t>Bell Bank, with quarterly reporting. C corporation today, with a planned conversion back to an S corporation in 2028. Annual financial audit and a 401(k) plan audit.</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9" name="Text 7"/>
          <p:cNvSpPr txBox="1"/>
          <p:nvPr/>
        </p:nvSpPr>
        <p:spPr>
          <a:xfrm>
            <a:off x="4338218" y="222199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Continuity of the finance function now, without waiting for a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2" name="Text 10"/>
          <p:cNvSpPr txBox="1"/>
          <p:nvPr/>
        </p:nvSpPr>
        <p:spPr>
          <a:xfrm>
            <a:off x="4338218" y="299923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Controller leadership of the monthly close, with review of the day-to-day work and training for Ian.</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5" name="Text 13"/>
          <p:cNvSpPr txBox="1"/>
          <p:nvPr/>
        </p:nvSpPr>
        <p:spPr>
          <a:xfrm>
            <a:off x="4338218" y="377647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marL="0" indent="0">
              <a:buNone/>
            </a:pPr>
            <a:r>
              <a:rPr lang="en-US" sz="1150" dirty="0">
                <a:solidFill>
                  <a:schemeClr val="tx1"/>
                </a:solidFill>
              </a:rPr>
              <a:t>Management and Bell Bank reporting that is accurate and on time.</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4338218" y="455371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marL="0" indent="0">
              <a:buNone/>
            </a:pPr>
            <a:r>
              <a:rPr lang="en-US" sz="1150" dirty="0">
                <a:solidFill>
                  <a:schemeClr val="tx1"/>
                </a:solidFill>
              </a:rPr>
              <a:t>Less manual work between ServiceTitan, QStock and Sage Intacct, and a smoother accounts payable process.</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21" name="Text 19"/>
          <p:cNvSpPr txBox="1"/>
          <p:nvPr/>
        </p:nvSpPr>
        <p:spPr>
          <a:xfrm>
            <a:off x="4338218" y="533095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marL="0" indent="0">
              <a:buNone/>
            </a:pPr>
            <a:r>
              <a:rPr lang="en-US" sz="1150" dirty="0">
                <a:solidFill>
                  <a:schemeClr val="tx1"/>
                </a:solidFill>
              </a:rPr>
              <a:t>CFO guidance on budgeting, forecasting, the audits and the 2028 S corporation conversion.</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txBody>
          <a:bodyPr/>
          <a:lstStyle/>
          <a:p>
            <a:endParaRPr lang="en-US"/>
          </a:p>
        </p:txBody>
      </p:sp>
      <p:sp>
        <p:nvSpPr>
          <p:cNvPr id="25" name="Text 23"/>
          <p:cNvSpPr txBox="1"/>
          <p:nvPr/>
        </p:nvSpPr>
        <p:spPr>
          <a:xfrm>
            <a:off x="8127797" y="219456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Oct 15</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marL="0" indent="0">
              <a:buNone/>
            </a:pPr>
            <a:r>
              <a:rPr lang="en-US" sz="1150" dirty="0">
                <a:solidFill>
                  <a:schemeClr val="tx1"/>
                </a:solidFill>
              </a:rPr>
              <a:t>401(k) plan audit deadline</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txBody>
          <a:bodyPr/>
          <a:lstStyle/>
          <a:p>
            <a:endParaRPr lang="en-US"/>
          </a:p>
        </p:txBody>
      </p:sp>
      <p:sp>
        <p:nvSpPr>
          <p:cNvPr id="28" name="Text 26"/>
          <p:cNvSpPr txBox="1"/>
          <p:nvPr/>
        </p:nvSpPr>
        <p:spPr>
          <a:xfrm>
            <a:off x="8127797" y="297180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Nov 14</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marL="0" indent="0">
              <a:buNone/>
            </a:pPr>
            <a:r>
              <a:rPr lang="en-US" sz="1150" dirty="0">
                <a:solidFill>
                  <a:schemeClr val="tx1"/>
                </a:solidFill>
              </a:rPr>
              <a:t>Bell Bank third-quarter reporting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txBody>
          <a:bodyPr/>
          <a:lstStyle/>
          <a:p>
            <a:endParaRPr lang="en-US"/>
          </a:p>
        </p:txBody>
      </p:sp>
      <p:sp>
        <p:nvSpPr>
          <p:cNvPr id="31" name="Text 29"/>
          <p:cNvSpPr txBox="1"/>
          <p:nvPr/>
        </p:nvSpPr>
        <p:spPr>
          <a:xfrm>
            <a:off x="8127797" y="374904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Now</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marL="0" indent="0">
              <a:buNone/>
            </a:pPr>
            <a:r>
              <a:rPr lang="en-US" sz="1150" dirty="0">
                <a:solidFill>
                  <a:schemeClr val="tx1"/>
                </a:solidFill>
              </a:rPr>
              <a:t>Completed tax return to your preparer for filing</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txBody>
          <a:bodyPr/>
          <a:lstStyle/>
          <a:p>
            <a:endParaRPr lang="en-US"/>
          </a:p>
        </p:txBody>
      </p:sp>
      <p:sp>
        <p:nvSpPr>
          <p:cNvPr id="34" name="Text 32"/>
          <p:cNvSpPr txBox="1"/>
          <p:nvPr/>
        </p:nvSpPr>
        <p:spPr>
          <a:xfrm>
            <a:off x="8127797" y="452628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marL="0" indent="0">
              <a:buNone/>
            </a:pPr>
            <a:r>
              <a:rPr lang="en-US" sz="1150" dirty="0">
                <a:solidFill>
                  <a:schemeClr val="tx1"/>
                </a:solidFill>
              </a:rPr>
              <a:t>Close, management reporting and weekly payroll and benefit submissions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txBody>
          <a:bodyPr/>
          <a:lstStyle/>
          <a:p>
            <a:endParaRPr lang="en-US"/>
          </a:p>
        </p:txBody>
      </p:sp>
      <p:sp>
        <p:nvSpPr>
          <p:cNvPr id="37" name="Text 35"/>
          <p:cNvSpPr txBox="1"/>
          <p:nvPr/>
        </p:nvSpPr>
        <p:spPr>
          <a:xfrm>
            <a:off x="8127797" y="530352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 31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marL="0" indent="0">
              <a:buNone/>
            </a:pPr>
            <a:r>
              <a:rPr lang="en-US" sz="1150" dirty="0">
                <a:solidFill>
                  <a:schemeClr val="tx1"/>
                </a:solidFill>
              </a:rPr>
              <a:t>Year-end close, then the financial audit</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marL="0" indent="0">
              <a:buNone/>
            </a:pPr>
            <a:r>
              <a:rPr lang="en-US" sz="950" dirty="0">
                <a:solidFill>
                  <a:schemeClr val="accent3"/>
                </a:solidFill>
              </a:rPr>
              <a:t>Based on our October 2 meeting with Marc, Shawne, Josh and Ian and the materials provided afterward. Details are confirmed during onboarding.</a:t>
            </a:r>
            <a:endParaRPr lang="en-US" sz="95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Services proposed for George Brazil</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bank, credit card and loan reconciliations and journal entries</a:t>
            </a:r>
            <a:endParaRPr lang="en-US" sz="1150" dirty="0"/>
          </a:p>
          <a:p>
            <a:pPr marL="152400" indent="-152400">
              <a:spcAft>
                <a:spcPts val="400"/>
              </a:spcAft>
              <a:buSzPct val="100000"/>
              <a:buChar char="•"/>
            </a:pPr>
            <a:r>
              <a:rPr lang="en-US" sz="1150" dirty="0">
                <a:solidFill>
                  <a:schemeClr val="tx1"/>
                </a:solidFill>
              </a:rPr>
              <a:t>Review accounts payable (check run, positive pay) and accounts receivable, collections and deposits</a:t>
            </a:r>
            <a:endParaRPr lang="en-US" sz="1150" dirty="0"/>
          </a:p>
          <a:p>
            <a:pPr marL="152400" indent="-152400">
              <a:spcAft>
                <a:spcPts val="400"/>
              </a:spcAft>
              <a:buSzPct val="100000"/>
              <a:buChar char="•"/>
            </a:pPr>
            <a:r>
              <a:rPr lang="en-US" sz="1150" dirty="0">
                <a:solidFill>
                  <a:schemeClr val="tx1"/>
                </a:solidFill>
              </a:rPr>
              <a:t>Maintain depreciation schedules</a:t>
            </a:r>
            <a:endParaRPr lang="en-US" sz="1150" dirty="0"/>
          </a:p>
          <a:p>
            <a:pPr marL="152400" indent="-152400">
              <a:spcAft>
                <a:spcPts val="400"/>
              </a:spcAft>
              <a:buSzPct val="100000"/>
              <a:buChar char="•"/>
            </a:pPr>
            <a:r>
              <a:rPr lang="en-US" sz="1150" dirty="0">
                <a:solidFill>
                  <a:schemeClr val="tx1"/>
                </a:solidFill>
              </a:rPr>
              <a:t>Support job-costing and inventory entries at month end</a:t>
            </a:r>
            <a:endParaRPr lang="en-US" sz="1150" dirty="0"/>
          </a:p>
          <a:p>
            <a:pPr marL="152400" indent="-152400">
              <a:spcAft>
                <a:spcPts val="400"/>
              </a:spcAft>
              <a:buSzPct val="100000"/>
              <a:buChar char="•"/>
            </a:pPr>
            <a:r>
              <a:rPr lang="en-US" sz="1150" dirty="0">
                <a:solidFill>
                  <a:schemeClr val="tx1"/>
                </a:solidFill>
              </a:rPr>
              <a:t>Document procedures and simplify the chart of accounts</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Management and bank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management and departmental reporting in the format you use today</a:t>
            </a:r>
            <a:endParaRPr lang="en-US" sz="1150" dirty="0"/>
          </a:p>
          <a:p>
            <a:pPr marL="152400" indent="-152400">
              <a:spcAft>
                <a:spcPts val="400"/>
              </a:spcAft>
              <a:buSzPct val="100000"/>
              <a:buChar char="•"/>
            </a:pPr>
            <a:r>
              <a:rPr lang="en-US" sz="1150" dirty="0">
                <a:solidFill>
                  <a:schemeClr val="tx1"/>
                </a:solidFill>
              </a:rPr>
              <a:t>Bell Bank quarterly package and routine bank requests</a:t>
            </a:r>
            <a:endParaRPr lang="en-US" sz="1150" dirty="0"/>
          </a:p>
          <a:p>
            <a:pPr marL="152400" indent="-152400">
              <a:spcAft>
                <a:spcPts val="400"/>
              </a:spcAft>
              <a:buSzPct val="100000"/>
              <a:buChar char="•"/>
            </a:pPr>
            <a:r>
              <a:rPr lang="en-US" sz="1150" dirty="0">
                <a:solidFill>
                  <a:schemeClr val="tx1"/>
                </a:solidFill>
              </a:rPr>
              <a:t>Key business metrics reviewed with management each month</a:t>
            </a:r>
            <a:endParaRPr lang="en-US" sz="1150" dirty="0"/>
          </a:p>
          <a:p>
            <a:pPr marL="152400" indent="-152400">
              <a:spcAft>
                <a:spcPts val="400"/>
              </a:spcAft>
              <a:buSzPct val="100000"/>
              <a:buChar char="•"/>
            </a:pPr>
            <a:r>
              <a:rPr lang="en-US" sz="1150" dirty="0">
                <a:solidFill>
                  <a:schemeClr val="tx1"/>
                </a:solidFill>
              </a:rPr>
              <a:t>Cash flow monitoring so you know what is coming in and going out</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11" name="Text 9"/>
          <p:cNvSpPr txBox="1"/>
          <p:nvPr/>
        </p:nvSpPr>
        <p:spPr>
          <a:xfrm>
            <a:off x="8280197"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scenario planning</a:t>
            </a:r>
            <a:endParaRPr lang="en-US" sz="1150" dirty="0"/>
          </a:p>
          <a:p>
            <a:pPr marL="152400" indent="-152400">
              <a:spcAft>
                <a:spcPts val="400"/>
              </a:spcAft>
              <a:buSzPct val="100000"/>
              <a:buChar char="•"/>
            </a:pPr>
            <a:r>
              <a:rPr lang="en-US" sz="1150" dirty="0">
                <a:solidFill>
                  <a:schemeClr val="tx1"/>
                </a:solidFill>
              </a:rPr>
              <a:t>Banking, lender and covenant reporting and negotiations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Planning and support for the 2028 S corporation conversion</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4" name="Text 12"/>
          <p:cNvSpPr txBox="1"/>
          <p:nvPr/>
        </p:nvSpPr>
        <p:spPr>
          <a:xfrm>
            <a:off x="731520"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Streamline accounts payable, in Bill.com or within Sage Intacct</a:t>
            </a:r>
            <a:endParaRPr lang="en-US" sz="1150" dirty="0"/>
          </a:p>
          <a:p>
            <a:pPr marL="152400" indent="-152400">
              <a:spcAft>
                <a:spcPts val="400"/>
              </a:spcAft>
              <a:buSzPct val="100000"/>
              <a:buChar char="•"/>
            </a:pPr>
            <a:r>
              <a:rPr lang="en-US" sz="1150" dirty="0">
                <a:solidFill>
                  <a:schemeClr val="tx1"/>
                </a:solidFill>
              </a:rPr>
              <a:t>Reduce manual steps and bottlenecks between ServiceTitan, QStock and Sage Intacct</a:t>
            </a:r>
            <a:endParaRPr lang="en-US" sz="1150" dirty="0"/>
          </a:p>
          <a:p>
            <a:pPr marL="152400" indent="-152400">
              <a:spcAft>
                <a:spcPts val="400"/>
              </a:spcAft>
              <a:buSzPct val="100000"/>
              <a:buChar char="•"/>
            </a:pPr>
            <a:r>
              <a:rPr lang="en-US" sz="1150" dirty="0">
                <a:solidFill>
                  <a:schemeClr val="tx1"/>
                </a:solidFill>
              </a:rPr>
              <a:t>Support your inventory project and the QStock integration; your team leads the project</a:t>
            </a:r>
            <a:endParaRPr lang="en-US" sz="1150" dirty="0"/>
          </a:p>
          <a:p>
            <a:pPr marL="152400" indent="-152400">
              <a:spcAft>
                <a:spcPts val="400"/>
              </a:spcAft>
              <a:buSzPct val="100000"/>
              <a:buChar char="•"/>
            </a:pPr>
            <a:r>
              <a:rPr lang="en-US" sz="1150" dirty="0">
                <a:solidFill>
                  <a:schemeClr val="tx1"/>
                </a:solidFill>
              </a:rPr>
              <a:t>Build review controls into the new workflows</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393028"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Prepare schedules and answer requests for the 401(k) plan audit and the financial audit</a:t>
            </a:r>
            <a:endParaRPr lang="en-US" sz="1150" dirty="0"/>
          </a:p>
          <a:p>
            <a:pPr marL="152400" indent="-152400">
              <a:spcAft>
                <a:spcPts val="400"/>
              </a:spcAft>
              <a:buSzPct val="100000"/>
              <a:buChar char="•"/>
            </a:pPr>
            <a:r>
              <a:rPr lang="en-US" sz="1150" dirty="0">
                <a:solidFill>
                  <a:schemeClr val="tx1"/>
                </a:solidFill>
              </a:rPr>
              <a:t>Organize everything your tax preparer needs; ONYX does not prepare or file tax returns</a:t>
            </a:r>
            <a:endParaRPr lang="en-US" sz="1150" dirty="0"/>
          </a:p>
          <a:p>
            <a:pPr marL="152400" indent="-152400">
              <a:spcAft>
                <a:spcPts val="400"/>
              </a:spcAft>
              <a:buSzPct val="100000"/>
              <a:buChar char="•"/>
            </a:pPr>
            <a:r>
              <a:rPr lang="en-US" sz="1150" dirty="0">
                <a:solidFill>
                  <a:schemeClr val="tx1"/>
                </a:solidFill>
              </a:rPr>
              <a:t>Support weekly payroll and benefit submissions as needed</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 scope mirrors Section 1 of the engagement letter dated October 5, 2026.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Sage Intacct, with view access to bank, credit card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the executive team</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stays with George Brazil</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new vendor, new customer and payroll run</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Ownership of the financial statements and management decisions</a:t>
            </a:r>
            <a:endParaRPr lang="en-US" sz="1150" dirty="0"/>
          </a:p>
          <a:p>
            <a:pPr marL="152400" indent="-152400">
              <a:spcAft>
                <a:spcPts val="400"/>
              </a:spcAft>
              <a:buSzPct val="100000"/>
              <a:buChar char="•"/>
            </a:pPr>
            <a:r>
              <a:rPr lang="en-US" sz="1150" dirty="0">
                <a:solidFill>
                  <a:schemeClr val="tx1"/>
                </a:solidFill>
              </a:rPr>
              <a:t>Tax filings, through your tax preparer</a:t>
            </a:r>
            <a:endParaRPr lang="en-US" sz="1150" dirty="0"/>
          </a:p>
          <a:p>
            <a:pPr marL="152400" indent="-152400">
              <a:spcAft>
                <a:spcPts val="400"/>
              </a:spcAft>
              <a:buSzPct val="100000"/>
              <a:buChar char="•"/>
            </a:pPr>
            <a:r>
              <a:rPr lang="en-US" sz="1150" dirty="0">
                <a:solidFill>
                  <a:schemeClr val="tx1"/>
                </a:solidFill>
              </a:rPr>
              <a:t>Leadership of the inventory project, with ONYX supporting the accounting and the QStock and Sage Intacct integration</a:t>
            </a:r>
            <a:endParaRPr lang="en-US" sz="1150" dirty="0"/>
          </a:p>
          <a:p>
            <a:pPr marL="152400" indent="-152400">
              <a:spcAft>
                <a:spcPts val="400"/>
              </a:spcAft>
              <a:buSzPct val="100000"/>
              <a:buChar char="•"/>
            </a:pPr>
            <a:r>
              <a:rPr lang="en-US" sz="1150" dirty="0">
                <a:solidFill>
                  <a:schemeClr val="tx1"/>
                </a:solidFill>
              </a:rPr>
              <a:t>A named internal owner for the engagement and timely answers from the team</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txBody>
          <a:bodyPr/>
          <a:lstStyle/>
          <a:p>
            <a:endParaRPr lang="en-US"/>
          </a:p>
        </p:txBody>
      </p:sp>
      <p:sp>
        <p:nvSpPr>
          <p:cNvPr id="11" name="Text 9"/>
          <p:cNvSpPr txBox="1"/>
          <p:nvPr/>
        </p:nvSpPr>
        <p:spPr>
          <a:xfrm>
            <a:off x="8280197"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the financial or 401(k) audits; we support them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Holding signing authority or moving money</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txBody>
          <a:bodyPr/>
          <a:lstStyle/>
          <a:p>
            <a:endParaRPr lang="en-US"/>
          </a:p>
        </p:txBody>
      </p:sp>
      <p:sp>
        <p:nvSpPr>
          <p:cNvPr id="14" name="Text 12"/>
          <p:cNvSpPr txBox="1"/>
          <p:nvPr/>
        </p:nvSpPr>
        <p:spPr>
          <a:xfrm>
            <a:off x="777240" y="5440680"/>
            <a:ext cx="10637215" cy="685800"/>
          </a:xfrm>
          <a:prstGeom prst="rect">
            <a:avLst/>
          </a:prstGeom>
          <a:noFill/>
          <a:ln/>
        </p:spPr>
        <p:txBody>
          <a:bodyPr wrap="square" lIns="0" tIns="0" rIns="0" bIns="0" rtlCol="0" anchor="ctr"/>
          <a:lstStyle/>
          <a:p>
            <a:pPr marL="0" indent="0">
              <a:buNone/>
            </a:pPr>
            <a:r>
              <a:rPr lang="en-US" sz="1150" b="1" dirty="0">
                <a:solidFill>
                  <a:srgbClr val="1B2A49"/>
                </a:solidFill>
              </a:rPr>
              <a:t>Communication.  </a:t>
            </a:r>
            <a:r>
              <a:rPr lang="en-US" sz="1150" dirty="0">
                <a:solidFill>
                  <a:schemeClr val="tx1"/>
                </a:solidFill>
              </a:rPr>
              <a:t>Weekly progress and budget update during the first 90 days. Monthly review of results with the executive team. Quarterly review of scope, staffing mix and fees. Annual planning session before the budget year.</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03  ENGAGEMENT TIMELINE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October 2026 through March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5" name="Text 3"/>
          <p:cNvSpPr txBox="1"/>
          <p:nvPr/>
        </p:nvSpPr>
        <p:spPr>
          <a:xfrm>
            <a:off x="4114800"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Oct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7" name="Text 5"/>
          <p:cNvSpPr txBox="1"/>
          <p:nvPr/>
        </p:nvSpPr>
        <p:spPr>
          <a:xfrm>
            <a:off x="5369509"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Nov</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9" name="Text 7"/>
          <p:cNvSpPr txBox="1"/>
          <p:nvPr/>
        </p:nvSpPr>
        <p:spPr>
          <a:xfrm>
            <a:off x="662421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Dec</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1" name="Text 9"/>
          <p:cNvSpPr txBox="1"/>
          <p:nvPr/>
        </p:nvSpPr>
        <p:spPr>
          <a:xfrm>
            <a:off x="787892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Jan 2027</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13" name="Text 11"/>
          <p:cNvSpPr txBox="1"/>
          <p:nvPr/>
        </p:nvSpPr>
        <p:spPr>
          <a:xfrm>
            <a:off x="9133637"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Feb</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5" name="Text 13"/>
          <p:cNvSpPr txBox="1"/>
          <p:nvPr/>
        </p:nvSpPr>
        <p:spPr>
          <a:xfrm>
            <a:off x="10388346"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Mar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txBody>
          <a:bodyPr/>
          <a:lstStyle/>
          <a:p>
            <a:endParaRPr lang="en-US"/>
          </a:p>
        </p:txBody>
      </p:sp>
      <p:sp>
        <p:nvSpPr>
          <p:cNvPr id="17" name="Text 15"/>
          <p:cNvSpPr txBox="1"/>
          <p:nvPr/>
        </p:nvSpPr>
        <p:spPr>
          <a:xfrm>
            <a:off x="640080" y="1892808"/>
            <a:ext cx="3383280" cy="338328"/>
          </a:xfrm>
          <a:prstGeom prst="rect">
            <a:avLst/>
          </a:prstGeom>
          <a:noFill/>
          <a:ln/>
        </p:spPr>
        <p:txBody>
          <a:bodyPr wrap="square" lIns="0" tIns="0" rIns="0" bIns="0" rtlCol="0" anchor="ctr"/>
          <a:lstStyle/>
          <a:p>
            <a:pPr marL="0" indent="0">
              <a:buNone/>
            </a:pPr>
            <a:r>
              <a:rPr lang="en-US" sz="1050" dirty="0">
                <a:solidFill>
                  <a:schemeClr val="tx1"/>
                </a:solidFill>
              </a:rPr>
              <a:t>Kickoff, access and knowledge capture</a:t>
            </a:r>
            <a:endParaRPr lang="en-US" sz="1050" dirty="0"/>
          </a:p>
        </p:txBody>
      </p:sp>
      <p:sp>
        <p:nvSpPr>
          <p:cNvPr id="18" name="bar 0"/>
          <p:cNvSpPr/>
          <p:nvPr/>
        </p:nvSpPr>
        <p:spPr>
          <a:xfrm>
            <a:off x="4553948" y="1965960"/>
            <a:ext cx="815561"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19" name="Text 17"/>
          <p:cNvSpPr txBox="1"/>
          <p:nvPr/>
        </p:nvSpPr>
        <p:spPr>
          <a:xfrm>
            <a:off x="640080" y="2231136"/>
            <a:ext cx="3383280" cy="338328"/>
          </a:xfrm>
          <a:prstGeom prst="rect">
            <a:avLst/>
          </a:prstGeom>
          <a:noFill/>
          <a:ln/>
        </p:spPr>
        <p:txBody>
          <a:bodyPr wrap="square" lIns="0" tIns="0" rIns="0" bIns="0" rtlCol="0" anchor="ctr"/>
          <a:lstStyle/>
          <a:p>
            <a:pPr marL="0" indent="0">
              <a:buNone/>
            </a:pPr>
            <a:r>
              <a:rPr lang="en-US" sz="1050" dirty="0">
                <a:solidFill>
                  <a:schemeClr val="tx1"/>
                </a:solidFill>
              </a:rPr>
              <a:t>401(k) plan audit support (Oct 15)</a:t>
            </a:r>
            <a:endParaRPr lang="en-US" sz="1050" dirty="0"/>
          </a:p>
        </p:txBody>
      </p:sp>
      <p:sp>
        <p:nvSpPr>
          <p:cNvPr id="20" name="bar 1"/>
          <p:cNvSpPr/>
          <p:nvPr/>
        </p:nvSpPr>
        <p:spPr>
          <a:xfrm>
            <a:off x="4553948" y="2304288"/>
            <a:ext cx="250942"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2" name="Text 20"/>
          <p:cNvSpPr txBox="1"/>
          <p:nvPr/>
        </p:nvSpPr>
        <p:spPr>
          <a:xfrm>
            <a:off x="640080" y="2569464"/>
            <a:ext cx="3383280" cy="338328"/>
          </a:xfrm>
          <a:prstGeom prst="rect">
            <a:avLst/>
          </a:prstGeom>
          <a:noFill/>
          <a:ln/>
        </p:spPr>
        <p:txBody>
          <a:bodyPr wrap="square" lIns="0" tIns="0" rIns="0" bIns="0" rtlCol="0" anchor="ctr"/>
          <a:lstStyle/>
          <a:p>
            <a:pPr marL="0" indent="0">
              <a:buNone/>
            </a:pPr>
            <a:r>
              <a:rPr lang="en-US" sz="1050" dirty="0">
                <a:solidFill>
                  <a:schemeClr val="tx1"/>
                </a:solidFill>
              </a:rPr>
              <a:t>Monthly close led and reviewed by ONYX</a:t>
            </a:r>
            <a:endParaRPr lang="en-US" sz="1050" dirty="0"/>
          </a:p>
        </p:txBody>
      </p:sp>
      <p:sp>
        <p:nvSpPr>
          <p:cNvPr id="23" name="bar 2"/>
          <p:cNvSpPr/>
          <p:nvPr/>
        </p:nvSpPr>
        <p:spPr>
          <a:xfrm>
            <a:off x="4867626" y="2642616"/>
            <a:ext cx="6775430"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24" name="Text 22"/>
          <p:cNvSpPr txBox="1"/>
          <p:nvPr/>
        </p:nvSpPr>
        <p:spPr>
          <a:xfrm>
            <a:off x="640080" y="2907792"/>
            <a:ext cx="3383280" cy="338328"/>
          </a:xfrm>
          <a:prstGeom prst="rect">
            <a:avLst/>
          </a:prstGeom>
          <a:noFill/>
          <a:ln/>
        </p:spPr>
        <p:txBody>
          <a:bodyPr wrap="square" lIns="0" tIns="0" rIns="0" bIns="0" rtlCol="0" anchor="ctr"/>
          <a:lstStyle/>
          <a:p>
            <a:pPr marL="0" indent="0">
              <a:buNone/>
            </a:pPr>
            <a:r>
              <a:rPr lang="en-US" sz="1050" dirty="0">
                <a:solidFill>
                  <a:schemeClr val="tx1"/>
                </a:solidFill>
              </a:rPr>
              <a:t>Bell Bank Q3 package (Nov 14)</a:t>
            </a:r>
            <a:endParaRPr lang="en-US" sz="1050" dirty="0"/>
          </a:p>
        </p:txBody>
      </p:sp>
      <p:sp>
        <p:nvSpPr>
          <p:cNvPr id="25" name="bar 3"/>
          <p:cNvSpPr/>
          <p:nvPr/>
        </p:nvSpPr>
        <p:spPr>
          <a:xfrm>
            <a:off x="5369509" y="2980944"/>
            <a:ext cx="627355"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7" name="Text 25"/>
          <p:cNvSpPr txBox="1"/>
          <p:nvPr/>
        </p:nvSpPr>
        <p:spPr>
          <a:xfrm>
            <a:off x="640080" y="3246120"/>
            <a:ext cx="3383280" cy="338328"/>
          </a:xfrm>
          <a:prstGeom prst="rect">
            <a:avLst/>
          </a:prstGeom>
          <a:noFill/>
          <a:ln/>
        </p:spPr>
        <p:txBody>
          <a:bodyPr wrap="square" lIns="0" tIns="0" rIns="0" bIns="0" rtlCol="0" anchor="ctr"/>
          <a:lstStyle/>
          <a:p>
            <a:pPr marL="0" indent="0">
              <a:buNone/>
            </a:pPr>
            <a:r>
              <a:rPr lang="en-US" sz="1050" dirty="0">
                <a:solidFill>
                  <a:schemeClr val="tx1"/>
                </a:solidFill>
              </a:rPr>
              <a:t>Training and review of day-to-day work</a:t>
            </a:r>
            <a:endParaRPr lang="en-US" sz="1050" dirty="0"/>
          </a:p>
        </p:txBody>
      </p:sp>
      <p:sp>
        <p:nvSpPr>
          <p:cNvPr id="28" name="bar 4"/>
          <p:cNvSpPr/>
          <p:nvPr/>
        </p:nvSpPr>
        <p:spPr>
          <a:xfrm>
            <a:off x="4553948" y="3319272"/>
            <a:ext cx="3952334"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29" name="Text 27"/>
          <p:cNvSpPr txBox="1"/>
          <p:nvPr/>
        </p:nvSpPr>
        <p:spPr>
          <a:xfrm>
            <a:off x="640080" y="3584448"/>
            <a:ext cx="3383280" cy="338328"/>
          </a:xfrm>
          <a:prstGeom prst="rect">
            <a:avLst/>
          </a:prstGeom>
          <a:noFill/>
          <a:ln/>
        </p:spPr>
        <p:txBody>
          <a:bodyPr wrap="square" lIns="0" tIns="0" rIns="0" bIns="0" rtlCol="0" anchor="ctr"/>
          <a:lstStyle/>
          <a:p>
            <a:pPr marL="0" indent="0">
              <a:buNone/>
            </a:pPr>
            <a:r>
              <a:rPr lang="en-US" sz="1050" dirty="0">
                <a:solidFill>
                  <a:schemeClr val="tx1"/>
                </a:solidFill>
              </a:rPr>
              <a:t>AP streamlining and chart of accounts cleanup</a:t>
            </a:r>
            <a:endParaRPr lang="en-US" sz="1050" dirty="0"/>
          </a:p>
        </p:txBody>
      </p:sp>
      <p:sp>
        <p:nvSpPr>
          <p:cNvPr id="30" name="bar 5"/>
          <p:cNvSpPr/>
          <p:nvPr/>
        </p:nvSpPr>
        <p:spPr>
          <a:xfrm>
            <a:off x="5745922" y="3657600"/>
            <a:ext cx="2760360"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2" name="Text 30"/>
          <p:cNvSpPr txBox="1"/>
          <p:nvPr/>
        </p:nvSpPr>
        <p:spPr>
          <a:xfrm>
            <a:off x="640080" y="3922776"/>
            <a:ext cx="3383280" cy="338328"/>
          </a:xfrm>
          <a:prstGeom prst="rect">
            <a:avLst/>
          </a:prstGeom>
          <a:noFill/>
          <a:ln/>
        </p:spPr>
        <p:txBody>
          <a:bodyPr wrap="square" lIns="0" tIns="0" rIns="0" bIns="0" rtlCol="0" anchor="ctr"/>
          <a:lstStyle/>
          <a:p>
            <a:pPr marL="0" indent="0">
              <a:buNone/>
            </a:pPr>
            <a:r>
              <a:rPr lang="en-US" sz="1050" dirty="0">
                <a:solidFill>
                  <a:schemeClr val="tx1"/>
                </a:solidFill>
              </a:rPr>
              <a:t>ServiceTitan, QStock and Intacct workflow mapping</a:t>
            </a:r>
            <a:endParaRPr lang="en-US" sz="1050" dirty="0"/>
          </a:p>
        </p:txBody>
      </p:sp>
      <p:sp>
        <p:nvSpPr>
          <p:cNvPr id="33" name="bar 6"/>
          <p:cNvSpPr/>
          <p:nvPr/>
        </p:nvSpPr>
        <p:spPr>
          <a:xfrm>
            <a:off x="6624218" y="3995928"/>
            <a:ext cx="3136773"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4" name="Text 32"/>
          <p:cNvSpPr txBox="1"/>
          <p:nvPr/>
        </p:nvSpPr>
        <p:spPr>
          <a:xfrm>
            <a:off x="640080" y="4261104"/>
            <a:ext cx="3383280" cy="338328"/>
          </a:xfrm>
          <a:prstGeom prst="rect">
            <a:avLst/>
          </a:prstGeom>
          <a:noFill/>
          <a:ln/>
        </p:spPr>
        <p:txBody>
          <a:bodyPr wrap="square" lIns="0" tIns="0" rIns="0" bIns="0" rtlCol="0" anchor="ctr"/>
          <a:lstStyle/>
          <a:p>
            <a:pPr marL="0" indent="0">
              <a:buNone/>
            </a:pPr>
            <a:r>
              <a:rPr lang="en-US" sz="1050" dirty="0">
                <a:solidFill>
                  <a:schemeClr val="tx1"/>
                </a:solidFill>
              </a:rPr>
              <a:t>2027 budget and forecast framework</a:t>
            </a:r>
            <a:endParaRPr lang="en-US" sz="1050" dirty="0"/>
          </a:p>
        </p:txBody>
      </p:sp>
      <p:sp>
        <p:nvSpPr>
          <p:cNvPr id="35" name="bar 7"/>
          <p:cNvSpPr/>
          <p:nvPr/>
        </p:nvSpPr>
        <p:spPr>
          <a:xfrm>
            <a:off x="7000631" y="4334256"/>
            <a:ext cx="1631122"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7" name="Text 35"/>
          <p:cNvSpPr txBox="1"/>
          <p:nvPr/>
        </p:nvSpPr>
        <p:spPr>
          <a:xfrm>
            <a:off x="640080" y="4599432"/>
            <a:ext cx="3383280" cy="338328"/>
          </a:xfrm>
          <a:prstGeom prst="rect">
            <a:avLst/>
          </a:prstGeom>
          <a:noFill/>
          <a:ln/>
        </p:spPr>
        <p:txBody>
          <a:bodyPr wrap="square" lIns="0" tIns="0" rIns="0" bIns="0" rtlCol="0" anchor="ctr"/>
          <a:lstStyle/>
          <a:p>
            <a:pPr marL="0" indent="0">
              <a:buNone/>
            </a:pPr>
            <a:r>
              <a:rPr lang="en-US" sz="1050" dirty="0">
                <a:solidFill>
                  <a:schemeClr val="tx1"/>
                </a:solidFill>
              </a:rPr>
              <a:t>Year-end close and financial audit support</a:t>
            </a:r>
            <a:endParaRPr lang="en-US" sz="1050" dirty="0"/>
          </a:p>
        </p:txBody>
      </p:sp>
      <p:sp>
        <p:nvSpPr>
          <p:cNvPr id="38" name="bar 8"/>
          <p:cNvSpPr/>
          <p:nvPr/>
        </p:nvSpPr>
        <p:spPr>
          <a:xfrm>
            <a:off x="7878928" y="4672584"/>
            <a:ext cx="3764128"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9" name="Text 37"/>
          <p:cNvSpPr txBox="1"/>
          <p:nvPr/>
        </p:nvSpPr>
        <p:spPr>
          <a:xfrm>
            <a:off x="640080" y="4937760"/>
            <a:ext cx="3383280" cy="338328"/>
          </a:xfrm>
          <a:prstGeom prst="rect">
            <a:avLst/>
          </a:prstGeom>
          <a:noFill/>
          <a:ln/>
        </p:spPr>
        <p:txBody>
          <a:bodyPr wrap="square" lIns="0" tIns="0" rIns="0" bIns="0" rtlCol="0" anchor="ctr"/>
          <a:lstStyle/>
          <a:p>
            <a:pPr marL="0" indent="0">
              <a:buNone/>
            </a:pPr>
            <a:r>
              <a:rPr lang="en-US" sz="1050" dirty="0">
                <a:solidFill>
                  <a:schemeClr val="tx1"/>
                </a:solidFill>
              </a:rPr>
              <a:t>CFO reporting rhythm and 2028 S corporation planning</a:t>
            </a:r>
            <a:endParaRPr lang="en-US" sz="1050" dirty="0"/>
          </a:p>
        </p:txBody>
      </p:sp>
      <p:sp>
        <p:nvSpPr>
          <p:cNvPr id="40" name="bar 9"/>
          <p:cNvSpPr/>
          <p:nvPr/>
        </p:nvSpPr>
        <p:spPr>
          <a:xfrm>
            <a:off x="9133637" y="5010912"/>
            <a:ext cx="2509418"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41" name="grid 1"/>
          <p:cNvSpPr/>
          <p:nvPr/>
        </p:nvSpPr>
        <p:spPr>
          <a:xfrm>
            <a:off x="5369509" y="1892808"/>
            <a:ext cx="0" cy="3383280"/>
          </a:xfrm>
          <a:prstGeom prst="line">
            <a:avLst/>
          </a:prstGeom>
          <a:noFill/>
          <a:ln w="6350">
            <a:solidFill>
              <a:srgbClr val="D5D9E0"/>
            </a:solidFill>
            <a:prstDash val="solid"/>
          </a:ln>
        </p:spPr>
        <p:txBody>
          <a:bodyPr/>
          <a:lstStyle/>
          <a:p>
            <a:endParaRPr lang="en-US"/>
          </a:p>
        </p:txBody>
      </p:sp>
      <p:sp>
        <p:nvSpPr>
          <p:cNvPr id="42" name="grid 2"/>
          <p:cNvSpPr/>
          <p:nvPr/>
        </p:nvSpPr>
        <p:spPr>
          <a:xfrm>
            <a:off x="6624218" y="1892808"/>
            <a:ext cx="0" cy="3383280"/>
          </a:xfrm>
          <a:prstGeom prst="line">
            <a:avLst/>
          </a:prstGeom>
          <a:noFill/>
          <a:ln w="6350">
            <a:solidFill>
              <a:srgbClr val="D5D9E0"/>
            </a:solidFill>
            <a:prstDash val="solid"/>
          </a:ln>
        </p:spPr>
        <p:txBody>
          <a:bodyPr/>
          <a:lstStyle/>
          <a:p>
            <a:endParaRPr lang="en-US"/>
          </a:p>
        </p:txBody>
      </p:sp>
      <p:sp>
        <p:nvSpPr>
          <p:cNvPr id="43" name="grid 3"/>
          <p:cNvSpPr/>
          <p:nvPr/>
        </p:nvSpPr>
        <p:spPr>
          <a:xfrm>
            <a:off x="7878928" y="1892808"/>
            <a:ext cx="0" cy="3383280"/>
          </a:xfrm>
          <a:prstGeom prst="line">
            <a:avLst/>
          </a:prstGeom>
          <a:noFill/>
          <a:ln w="6350">
            <a:solidFill>
              <a:srgbClr val="D5D9E0"/>
            </a:solidFill>
            <a:prstDash val="solid"/>
          </a:ln>
        </p:spPr>
        <p:txBody>
          <a:bodyPr/>
          <a:lstStyle/>
          <a:p>
            <a:endParaRPr lang="en-US"/>
          </a:p>
        </p:txBody>
      </p:sp>
      <p:sp>
        <p:nvSpPr>
          <p:cNvPr id="44" name="grid 4"/>
          <p:cNvSpPr/>
          <p:nvPr/>
        </p:nvSpPr>
        <p:spPr>
          <a:xfrm>
            <a:off x="9133637" y="1892808"/>
            <a:ext cx="0" cy="3383280"/>
          </a:xfrm>
          <a:prstGeom prst="line">
            <a:avLst/>
          </a:prstGeom>
          <a:noFill/>
          <a:ln w="6350">
            <a:solidFill>
              <a:srgbClr val="D5D9E0"/>
            </a:solidFill>
            <a:prstDash val="solid"/>
          </a:ln>
        </p:spPr>
        <p:txBody>
          <a:bodyPr/>
          <a:lstStyle/>
          <a:p>
            <a:endParaRPr lang="en-US"/>
          </a:p>
        </p:txBody>
      </p:sp>
      <p:sp>
        <p:nvSpPr>
          <p:cNvPr id="45" name="grid 5"/>
          <p:cNvSpPr/>
          <p:nvPr/>
        </p:nvSpPr>
        <p:spPr>
          <a:xfrm>
            <a:off x="10388346" y="1892808"/>
            <a:ext cx="0" cy="3383280"/>
          </a:xfrm>
          <a:prstGeom prst="line">
            <a:avLst/>
          </a:prstGeom>
          <a:noFill/>
          <a:ln w="6350">
            <a:solidFill>
              <a:srgbClr val="D5D9E0"/>
            </a:solidFill>
            <a:prstDash val="solid"/>
          </a:ln>
        </p:spPr>
        <p:txBody>
          <a:bodyPr/>
          <a:lstStyle/>
          <a:p>
            <a:endParaRPr lang="en-US"/>
          </a:p>
        </p:txBody>
      </p:sp>
      <p:sp>
        <p:nvSpPr>
          <p:cNvPr id="46" name="cp line"/>
          <p:cNvSpPr/>
          <p:nvPr/>
        </p:nvSpPr>
        <p:spPr>
          <a:xfrm>
            <a:off x="4114800" y="5660136"/>
            <a:ext cx="7528255" cy="0"/>
          </a:xfrm>
          <a:prstGeom prst="line">
            <a:avLst/>
          </a:prstGeom>
          <a:noFill/>
          <a:ln w="12700">
            <a:solidFill>
              <a:srgbClr val="D5D9E0"/>
            </a:solidFill>
            <a:prstDash val="solid"/>
          </a:ln>
        </p:spPr>
        <p:txBody>
          <a:bodyPr/>
          <a:lstStyle/>
          <a:p>
            <a:endParaRPr lang="en-US"/>
          </a:p>
        </p:txBody>
      </p:sp>
      <p:sp>
        <p:nvSpPr>
          <p:cNvPr id="47" name="cp Kickoff"/>
          <p:cNvSpPr/>
          <p:nvPr/>
        </p:nvSpPr>
        <p:spPr>
          <a:xfrm>
            <a:off x="445336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48" name="Text 46"/>
          <p:cNvSpPr txBox="1"/>
          <p:nvPr/>
        </p:nvSpPr>
        <p:spPr>
          <a:xfrm>
            <a:off x="391386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Kickoff</a:t>
            </a:r>
            <a:endParaRPr lang="en-US" sz="1000" dirty="0"/>
          </a:p>
        </p:txBody>
      </p:sp>
      <p:sp>
        <p:nvSpPr>
          <p:cNvPr id="49" name="cp Day 30 review"/>
          <p:cNvSpPr/>
          <p:nvPr/>
        </p:nvSpPr>
        <p:spPr>
          <a:xfrm>
            <a:off x="5896280"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0" name="Text 48"/>
          <p:cNvSpPr txBox="1"/>
          <p:nvPr/>
        </p:nvSpPr>
        <p:spPr>
          <a:xfrm>
            <a:off x="5356784"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30 review</a:t>
            </a:r>
            <a:endParaRPr lang="en-US" sz="1000" dirty="0"/>
          </a:p>
        </p:txBody>
      </p:sp>
      <p:sp>
        <p:nvSpPr>
          <p:cNvPr id="51" name="cp Day 60 review"/>
          <p:cNvSpPr/>
          <p:nvPr/>
        </p:nvSpPr>
        <p:spPr>
          <a:xfrm>
            <a:off x="7150989"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2" name="Text 50"/>
          <p:cNvSpPr txBox="1"/>
          <p:nvPr/>
        </p:nvSpPr>
        <p:spPr>
          <a:xfrm>
            <a:off x="6611493"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60 review</a:t>
            </a:r>
            <a:endParaRPr lang="en-US" sz="1000" dirty="0"/>
          </a:p>
        </p:txBody>
      </p:sp>
      <p:sp>
        <p:nvSpPr>
          <p:cNvPr id="53" name="cp Day 90 review"/>
          <p:cNvSpPr/>
          <p:nvPr/>
        </p:nvSpPr>
        <p:spPr>
          <a:xfrm>
            <a:off x="8405698"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4" name="Text 52"/>
          <p:cNvSpPr txBox="1"/>
          <p:nvPr/>
        </p:nvSpPr>
        <p:spPr>
          <a:xfrm>
            <a:off x="7866202"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90 review</a:t>
            </a:r>
            <a:endParaRPr lang="en-US" sz="1000" dirty="0"/>
          </a:p>
        </p:txBody>
      </p:sp>
      <p:sp>
        <p:nvSpPr>
          <p:cNvPr id="55" name="cp Steady state"/>
          <p:cNvSpPr/>
          <p:nvPr/>
        </p:nvSpPr>
        <p:spPr>
          <a:xfrm>
            <a:off x="11354265"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6" name="Text 54"/>
          <p:cNvSpPr txBox="1"/>
          <p:nvPr/>
        </p:nvSpPr>
        <p:spPr>
          <a:xfrm>
            <a:off x="10814769"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marL="0" indent="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Assumes a start the week of October 12, 2026 with system access from day one. Red bars are fixed external deadlines. Dates are confirmed with Marc in the first week.</a:t>
            </a:r>
            <a:endParaRPr lang="en-US" sz="950" dirty="0"/>
          </a:p>
        </p:txBody>
      </p:sp>
      <p:sp>
        <p:nvSpPr>
          <p:cNvPr id="5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777240"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Marc and Ian; access to Sage Intacct, ServiceTitan, QStock, payroll and bank view</a:t>
            </a:r>
            <a:endParaRPr lang="en-US" sz="1100" dirty="0"/>
          </a:p>
          <a:p>
            <a:pPr marL="152400" indent="-152400">
              <a:spcAft>
                <a:spcPts val="400"/>
              </a:spcAft>
              <a:buSzPct val="100000"/>
              <a:buChar char="•"/>
            </a:pPr>
            <a:r>
              <a:rPr lang="en-US" sz="1100" dirty="0">
                <a:solidFill>
                  <a:schemeClr val="tx1"/>
                </a:solidFill>
              </a:rPr>
              <a:t>Capture the departed CFO's recurring tasks, files, deadlines and bank contacts</a:t>
            </a:r>
            <a:endParaRPr lang="en-US" sz="1100" dirty="0"/>
          </a:p>
          <a:p>
            <a:pPr marL="152400" indent="-152400">
              <a:spcAft>
                <a:spcPts val="400"/>
              </a:spcAft>
              <a:buSzPct val="100000"/>
              <a:buChar char="•"/>
            </a:pPr>
            <a:r>
              <a:rPr lang="en-US" sz="1100" dirty="0">
                <a:solidFill>
                  <a:schemeClr val="tx1"/>
                </a:solidFill>
              </a:rPr>
              <a:t>Support the 401(k) plan audit and get the completed return to your preparer</a:t>
            </a:r>
            <a:endParaRPr lang="en-US" sz="1100" dirty="0"/>
          </a:p>
          <a:p>
            <a:pPr marL="152400" indent="-152400">
              <a:spcAft>
                <a:spcPts val="400"/>
              </a:spcAft>
              <a:buSzPct val="100000"/>
              <a:buChar char="•"/>
            </a:pPr>
            <a:r>
              <a:rPr lang="en-US" sz="1100" dirty="0">
                <a:solidFill>
                  <a:schemeClr val="tx1"/>
                </a:solidFill>
              </a:rPr>
              <a:t>Begin on-site training with Ian and take over review of the close</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September close reviewed, October close under way</a:t>
            </a:r>
            <a:endParaRPr lang="en-US" sz="1100" dirty="0"/>
          </a:p>
          <a:p>
            <a:pPr marL="152400" indent="-152400">
              <a:spcAft>
                <a:spcPts val="400"/>
              </a:spcAft>
              <a:buSzPct val="100000"/>
              <a:buChar char="•"/>
            </a:pPr>
            <a:r>
              <a:rPr lang="en-US" sz="1100" dirty="0">
                <a:solidFill>
                  <a:schemeClr val="tx1"/>
                </a:solidFill>
              </a:rPr>
              <a:t>Audit requests answered on time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4551578"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October close and deliver management reporting</a:t>
            </a:r>
            <a:endParaRPr lang="en-US" sz="1100" dirty="0"/>
          </a:p>
          <a:p>
            <a:pPr marL="152400" indent="-152400">
              <a:spcAft>
                <a:spcPts val="400"/>
              </a:spcAft>
              <a:buSzPct val="100000"/>
              <a:buChar char="•"/>
            </a:pPr>
            <a:r>
              <a:rPr lang="en-US" sz="1100" dirty="0">
                <a:solidFill>
                  <a:schemeClr val="tx1"/>
                </a:solidFill>
              </a:rPr>
              <a:t>Prepare and deliver the Bell Bank third-quarter package</a:t>
            </a:r>
            <a:endParaRPr lang="en-US" sz="1100" dirty="0"/>
          </a:p>
          <a:p>
            <a:pPr marL="152400" indent="-152400">
              <a:spcAft>
                <a:spcPts val="400"/>
              </a:spcAft>
              <a:buSzPct val="100000"/>
              <a:buChar char="•"/>
            </a:pPr>
            <a:r>
              <a:rPr lang="en-US" sz="1100" dirty="0">
                <a:solidFill>
                  <a:schemeClr val="tx1"/>
                </a:solidFill>
              </a:rPr>
              <a:t>Review AP, positive pay and AR processes; decide Bill.com versus Sage Intacct for AP</a:t>
            </a:r>
            <a:endParaRPr lang="en-US" sz="1100" dirty="0"/>
          </a:p>
          <a:p>
            <a:pPr marL="152400" indent="-152400">
              <a:spcAft>
                <a:spcPts val="400"/>
              </a:spcAft>
              <a:buSzPct val="100000"/>
              <a:buChar char="•"/>
            </a:pPr>
            <a:r>
              <a:rPr lang="en-US" sz="1100" dirty="0">
                <a:solidFill>
                  <a:schemeClr val="tx1"/>
                </a:solidFill>
              </a:rPr>
              <a:t>Map the ServiceTitan, QStock and Sage Intacct flows and log the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Bell Bank package submitted</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8325917"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Implement the AP changes and simplify the chart of accounts</a:t>
            </a:r>
            <a:endParaRPr lang="en-US" sz="1100" dirty="0"/>
          </a:p>
          <a:p>
            <a:pPr marL="152400" indent="-152400">
              <a:spcAft>
                <a:spcPts val="400"/>
              </a:spcAft>
              <a:buSzPct val="100000"/>
              <a:buChar char="•"/>
            </a:pPr>
            <a:r>
              <a:rPr lang="en-US" sz="1100" dirty="0">
                <a:solidFill>
                  <a:schemeClr val="tx1"/>
                </a:solidFill>
              </a:rPr>
              <a:t>Year-end close plan and audit request list prepared</a:t>
            </a:r>
            <a:endParaRPr lang="en-US" sz="1100" dirty="0"/>
          </a:p>
          <a:p>
            <a:pPr marL="152400" indent="-152400">
              <a:spcAft>
                <a:spcPts val="400"/>
              </a:spcAft>
              <a:buSzPct val="100000"/>
              <a:buChar char="•"/>
            </a:pPr>
            <a:r>
              <a:rPr lang="en-US" sz="1100" dirty="0">
                <a:solidFill>
                  <a:schemeClr val="tx1"/>
                </a:solidFill>
              </a:rPr>
              <a:t>2027 budget framework and the metrics management will track</a:t>
            </a:r>
            <a:endParaRPr lang="en-US" sz="1100" dirty="0"/>
          </a:p>
          <a:p>
            <a:pPr marL="152400" indent="-152400">
              <a:spcAft>
                <a:spcPts val="400"/>
              </a:spcAft>
              <a:buSzPct val="100000"/>
              <a:buChar char="•"/>
            </a:pPr>
            <a:r>
              <a:rPr lang="en-US" sz="1100" dirty="0">
                <a:solidFill>
                  <a:schemeClr val="tx1"/>
                </a:solidFill>
              </a:rPr>
              <a:t>90-day review with Marc: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and reporting procedures</a:t>
            </a:r>
            <a:endParaRPr lang="en-US" sz="1100" dirty="0"/>
          </a:p>
          <a:p>
            <a:pPr marL="152400" indent="-152400">
              <a:spcAft>
                <a:spcPts val="400"/>
              </a:spcAft>
              <a:buSzPct val="100000"/>
              <a:buChar char="•"/>
            </a:pPr>
            <a:r>
              <a:rPr lang="en-US" sz="1100" dirty="0">
                <a:solidFill>
                  <a:schemeClr val="tx1"/>
                </a:solidFill>
              </a:rPr>
              <a:t>Year-end and audit plan agreed</a:t>
            </a:r>
            <a:endParaRPr lang="en-US" sz="1100" dirty="0"/>
          </a:p>
          <a:p>
            <a:pPr marL="152400" indent="-152400">
              <a:spcAft>
                <a:spcPts val="400"/>
              </a:spcAft>
              <a:buSzPct val="100000"/>
              <a:buChar char="•"/>
            </a:pPr>
            <a:r>
              <a:rPr lang="en-US" sz="1100" dirty="0">
                <a:solidFill>
                  <a:schemeClr val="tx1"/>
                </a:solidFill>
              </a:rPr>
              <a:t>2027 budget framework and steady-state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txBody>
          <a:bodyPr/>
          <a:lstStyle/>
          <a:p>
            <a:endParaRPr lang="en-US"/>
          </a:p>
        </p:txBody>
      </p:sp>
      <p:sp>
        <p:nvSpPr>
          <p:cNvPr id="29" name="Text 27"/>
          <p:cNvSpPr txBox="1"/>
          <p:nvPr/>
        </p:nvSpPr>
        <p:spPr>
          <a:xfrm>
            <a:off x="777240" y="5715000"/>
            <a:ext cx="10637215" cy="548640"/>
          </a:xfrm>
          <a:prstGeom prst="rect">
            <a:avLst/>
          </a:prstGeom>
          <a:noFill/>
          <a:ln/>
        </p:spPr>
        <p:txBody>
          <a:bodyPr wrap="square" lIns="0" tIns="0" rIns="0" bIns="0" rtlCol="0" anchor="ctr"/>
          <a:lstStyle/>
          <a:p>
            <a:pPr marL="0" indent="0">
              <a:buNone/>
            </a:pPr>
            <a:r>
              <a:rPr lang="en-US" sz="1150" b="1" dirty="0">
                <a:solidFill>
                  <a:srgbClr val="1B2A49"/>
                </a:solidFill>
              </a:rPr>
              <a:t>Day 91 onward.  </a:t>
            </a:r>
            <a:r>
              <a:rPr lang="en-US" sz="1150" dirty="0">
                <a:solidFill>
                  <a:schemeClr val="tx1"/>
                </a:solidFill>
              </a:rPr>
              <a:t>Monthly close and reporting rhythm, quarterly Bell Bank package, budget versus actual, CFO support including the 2028 S corporation planning. The staffing mix is adjusted by email as needs change.</a:t>
            </a:r>
            <a:endParaRPr lang="en-US" sz="1150" dirty="0"/>
          </a:p>
        </p:txBody>
      </p:sp>
      <p:sp>
        <p:nvSpPr>
          <p:cNvPr id="3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7335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Progress and budget update; open-items list with owners and dates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Payroll and benefit submission support as needed; AP check run and positive-pay file reviewed before release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and departmental reporting; cash flow view; metrics reviewed with management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Bell Bank reporting package; review of scope, staffing mix and fees with Marc</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Year-end close; schedules and responses for the financial audit and the 401(k) plan audit; tax preparer package; budget and forecast for the coming year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training notes for Ian</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marL="0" indent="0">
              <a:buNone/>
            </a:pPr>
            <a:r>
              <a:rPr lang="en-US" sz="1100" dirty="0">
                <a:solidFill>
                  <a:schemeClr val="accent3"/>
                </a:solidFill>
              </a:rPr>
              <a:t>Every deliverable is prepared by one person and reviewed by another before it reaches you. Reports are tied to the ledger in Sage Intacct.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05  PROPOSED FEES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marL="0" indent="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1579011935"/>
              </p:ext>
            </p:extLst>
          </p:nvPr>
        </p:nvGraphicFramePr>
        <p:xfrm>
          <a:off x="548640" y="210312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$185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Monthly close, review of Ian's work, Bell Bank and management reporting, AP and systems improvements, training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$275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Budgeting and forecasting, banking and lender matters, accounting policy, S corporation conversion planning,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marL="0" indent="0">
              <a:buNone/>
            </a:pPr>
            <a:r>
              <a:rPr lang="en-US" sz="1100" dirty="0">
                <a:solidFill>
                  <a:schemeClr val="accent3"/>
                </a:solidFill>
              </a:rPr>
              <a:t>Rates are guaranteed through December 31, 2026.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txBody>
          <a:bodyPr/>
          <a:lstStyle/>
          <a:p>
            <a:endParaRPr lang="en-US"/>
          </a:p>
        </p:txBody>
      </p:sp>
      <p:sp>
        <p:nvSpPr>
          <p:cNvPr id="8" name="Text 5"/>
          <p:cNvSpPr txBox="1"/>
          <p:nvPr/>
        </p:nvSpPr>
        <p:spPr>
          <a:xfrm>
            <a:off x="7955280" y="22860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of $3,000 before services begin, applied to the first invoice</a:t>
            </a:r>
            <a:endParaRPr lang="en-US" sz="1150" dirty="0"/>
          </a:p>
          <a:p>
            <a:pPr marL="152400" indent="-152400">
              <a:spcAft>
                <a:spcPts val="400"/>
              </a:spcAft>
              <a:buSzPct val="100000"/>
              <a:buChar char="•"/>
            </a:pPr>
            <a:r>
              <a:rPr lang="en-US" sz="1150" dirty="0">
                <a:solidFill>
                  <a:schemeClr val="tx1"/>
                </a:solidFill>
              </a:rPr>
              <a:t>Out-of-pocket costs such as travel time and meals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txBody>
          <a:bodyPr/>
          <a:lstStyle/>
          <a:p>
            <a:endParaRPr lang="en-US"/>
          </a:p>
        </p:txBody>
      </p:sp>
      <p:sp>
        <p:nvSpPr>
          <p:cNvPr id="5" name="Text 10"/>
          <p:cNvSpPr txBox="1"/>
          <p:nvPr/>
        </p:nvSpPr>
        <p:spPr>
          <a:xfrm>
            <a:off x="777240" y="5257800"/>
            <a:ext cx="6309360" cy="822960"/>
          </a:xfrm>
          <a:prstGeom prst="rect">
            <a:avLst/>
          </a:prstGeom>
          <a:noFill/>
          <a:ln/>
        </p:spPr>
        <p:txBody>
          <a:bodyPr wrap="square" lIns="0" tIns="0" rIns="0" bIns="0" rtlCol="0" anchor="ctr"/>
          <a:lstStyle/>
          <a:p>
            <a:pPr marL="0" indent="0">
              <a:buNone/>
            </a:pPr>
            <a:r>
              <a:rPr lang="en-US" sz="1100" b="1" dirty="0">
                <a:solidFill>
                  <a:srgbClr val="1B2A49"/>
                </a:solidFill>
              </a:rPr>
              <a:t>Not included.  </a:t>
            </a:r>
            <a:r>
              <a:rPr lang="en-US" sz="1100" dirty="0">
                <a:solidFill>
                  <a:schemeClr val="tx1"/>
                </a:solidFill>
              </a:rPr>
              <a:t>Tax return preparation and filing, which your tax preparer handles, and performing the audits, which we support but do not perform. Full terms are in Section 2 of the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06  WHY ONYX AND NEXT STEPS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2039112"/>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marL="0" indent="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marL="0" indent="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29718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marL="0" indent="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marL="0" indent="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904488"/>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3904488"/>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3877056"/>
            <a:ext cx="5212080" cy="274320"/>
          </a:xfrm>
          <a:prstGeom prst="rect">
            <a:avLst/>
          </a:prstGeom>
          <a:noFill/>
          <a:ln/>
        </p:spPr>
        <p:txBody>
          <a:bodyPr wrap="square" lIns="0" tIns="0" rIns="0" bIns="0" rtlCol="0" anchor="t"/>
          <a:lstStyle/>
          <a:p>
            <a:pPr marL="0" indent="0">
              <a:buNone/>
            </a:pPr>
            <a:r>
              <a:rPr lang="en-US" sz="1250" b="1" dirty="0">
                <a:solidFill>
                  <a:schemeClr val="tx1"/>
                </a:solidFill>
              </a:rPr>
              <a:t>Flexibility</a:t>
            </a:r>
            <a:endParaRPr lang="en-US" sz="1250" dirty="0"/>
          </a:p>
        </p:txBody>
      </p:sp>
      <p:sp>
        <p:nvSpPr>
          <p:cNvPr id="16" name="Text 14"/>
          <p:cNvSpPr txBox="1"/>
          <p:nvPr/>
        </p:nvSpPr>
        <p:spPr>
          <a:xfrm>
            <a:off x="1097280" y="4151376"/>
            <a:ext cx="5212080" cy="658368"/>
          </a:xfrm>
          <a:prstGeom prst="rect">
            <a:avLst/>
          </a:prstGeom>
          <a:noFill/>
          <a:ln/>
        </p:spPr>
        <p:txBody>
          <a:bodyPr wrap="square" lIns="0" tIns="0" rIns="0" bIns="0" rtlCol="0" anchor="t"/>
          <a:lstStyle/>
          <a:p>
            <a:pPr marL="0" indent="0">
              <a:buNone/>
            </a:pPr>
            <a:r>
              <a:rPr lang="en-US" sz="1150" dirty="0">
                <a:solidFill>
                  <a:schemeClr val="tx1"/>
                </a:solidFill>
              </a:rPr>
              <a:t>Phase work in, pause a project, scale back or expand by email. No penalties and no paperwork to redo. You pay only for hours worked.</a:t>
            </a:r>
            <a:endParaRPr lang="en-US" sz="1150" dirty="0"/>
          </a:p>
        </p:txBody>
      </p:sp>
      <p:sp>
        <p:nvSpPr>
          <p:cNvPr id="17" name="why Fit"/>
          <p:cNvSpPr/>
          <p:nvPr/>
        </p:nvSpPr>
        <p:spPr>
          <a:xfrm>
            <a:off x="548640" y="48371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548640" y="48371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19" name="Text 17"/>
          <p:cNvSpPr txBox="1"/>
          <p:nvPr/>
        </p:nvSpPr>
        <p:spPr>
          <a:xfrm>
            <a:off x="1097280" y="4809744"/>
            <a:ext cx="5212080" cy="274320"/>
          </a:xfrm>
          <a:prstGeom prst="rect">
            <a:avLst/>
          </a:prstGeom>
          <a:noFill/>
          <a:ln/>
        </p:spPr>
        <p:txBody>
          <a:bodyPr wrap="square" lIns="0" tIns="0" rIns="0" bIns="0" rtlCol="0" anchor="t"/>
          <a:lstStyle/>
          <a:p>
            <a:pPr marL="0" indent="0">
              <a:buNone/>
            </a:pPr>
            <a:r>
              <a:rPr lang="en-US" sz="1250" b="1" dirty="0">
                <a:solidFill>
                  <a:schemeClr val="tx1"/>
                </a:solidFill>
              </a:rPr>
              <a:t>Fit</a:t>
            </a:r>
            <a:endParaRPr lang="en-US" sz="1250" dirty="0"/>
          </a:p>
        </p:txBody>
      </p:sp>
      <p:sp>
        <p:nvSpPr>
          <p:cNvPr id="20" name="Text 18"/>
          <p:cNvSpPr txBox="1"/>
          <p:nvPr/>
        </p:nvSpPr>
        <p:spPr>
          <a:xfrm>
            <a:off x="1097280" y="5084064"/>
            <a:ext cx="5212080" cy="658368"/>
          </a:xfrm>
          <a:prstGeom prst="rect">
            <a:avLst/>
          </a:prstGeom>
          <a:noFill/>
          <a:ln/>
        </p:spPr>
        <p:txBody>
          <a:bodyPr wrap="square" lIns="0" tIns="0" rIns="0" bIns="0" rtlCol="0" anchor="t"/>
          <a:lstStyle/>
          <a:p>
            <a:pPr marL="0" indent="0">
              <a:buNone/>
            </a:pPr>
            <a:r>
              <a:rPr lang="en-US" sz="1150" dirty="0">
                <a:solidFill>
                  <a:schemeClr val="tx1"/>
                </a:solidFill>
              </a:rPr>
              <a:t>We work alongside Ian, your tax preparer, your auditor and Bell Bank, and we keep approvals with you. Stabilizing a close and the systems behind it is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7086600" y="1783080"/>
            <a:ext cx="4236415" cy="365760"/>
          </a:xfrm>
          <a:prstGeom prst="rect">
            <a:avLst/>
          </a:prstGeom>
          <a:noFill/>
          <a:ln/>
        </p:spPr>
        <p:txBody>
          <a:bodyPr wrap="square" lIns="0" tIns="0" rIns="0" bIns="0" rtlCol="0" anchor="t"/>
          <a:lstStyle/>
          <a:p>
            <a:pPr marL="0" indent="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marL="0" indent="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marL="0" indent="0">
              <a:buNone/>
            </a:pPr>
            <a:r>
              <a:rPr lang="en-US" sz="1150" dirty="0">
                <a:solidFill>
                  <a:schemeClr val="bg1"/>
                </a:solidFill>
              </a:rPr>
              <a:t>Share this proposal and the engagement letter with Shawne, Josh and Ian. We are glad to join a follow-up call to answer questions.</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marL="0" indent="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marL="0" indent="0">
              <a:buNone/>
            </a:pPr>
            <a:r>
              <a:rPr lang="en-US" sz="1150" dirty="0">
                <a:solidFill>
                  <a:schemeClr val="bg1"/>
                </a:solidFill>
              </a:rPr>
              <a:t>Sign the engagement letter; we can send it for electronic signature. The $3,000 retainer starts the engagement.</a:t>
            </a:r>
            <a:endParaRPr lang="en-US" sz="1150" dirty="0"/>
          </a:p>
        </p:txBody>
      </p:sp>
      <p:sp>
        <p:nvSpPr>
          <p:cNvPr id="29" name="Text 27"/>
          <p:cNvSpPr txBox="1"/>
          <p:nvPr/>
        </p:nvSpPr>
        <p:spPr>
          <a:xfrm>
            <a:off x="7086600" y="397764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3977640"/>
            <a:ext cx="3779215" cy="274320"/>
          </a:xfrm>
          <a:prstGeom prst="rect">
            <a:avLst/>
          </a:prstGeom>
          <a:noFill/>
          <a:ln/>
        </p:spPr>
        <p:txBody>
          <a:bodyPr wrap="square" lIns="0" tIns="0" rIns="0" bIns="0" rtlCol="0" anchor="t"/>
          <a:lstStyle/>
          <a:p>
            <a:pPr marL="0" indent="0">
              <a:buNone/>
            </a:pPr>
            <a:r>
              <a:rPr lang="en-US" sz="1250" b="1" dirty="0">
                <a:solidFill>
                  <a:schemeClr val="bg1"/>
                </a:solidFill>
              </a:rPr>
              <a:t>Grant access</a:t>
            </a:r>
            <a:endParaRPr lang="en-US" sz="1250" dirty="0"/>
          </a:p>
        </p:txBody>
      </p:sp>
      <p:sp>
        <p:nvSpPr>
          <p:cNvPr id="31" name="Text 29"/>
          <p:cNvSpPr txBox="1"/>
          <p:nvPr/>
        </p:nvSpPr>
        <p:spPr>
          <a:xfrm>
            <a:off x="7543800" y="4251960"/>
            <a:ext cx="3779215" cy="640080"/>
          </a:xfrm>
          <a:prstGeom prst="rect">
            <a:avLst/>
          </a:prstGeom>
          <a:noFill/>
          <a:ln/>
        </p:spPr>
        <p:txBody>
          <a:bodyPr wrap="square" lIns="0" tIns="0" rIns="0" bIns="0" rtlCol="0" anchor="t"/>
          <a:lstStyle/>
          <a:p>
            <a:pPr marL="0" indent="0">
              <a:buNone/>
            </a:pPr>
            <a:r>
              <a:rPr lang="en-US" sz="1150" dirty="0">
                <a:solidFill>
                  <a:schemeClr val="bg1"/>
                </a:solidFill>
              </a:rPr>
              <a:t>Sage Intacct, ServiceTitan, QStock, BambooHR and TRAX, Bell Bank view access, the close files and the 401(k) audit request list.</a:t>
            </a:r>
            <a:endParaRPr lang="en-US" sz="1150" dirty="0"/>
          </a:p>
        </p:txBody>
      </p:sp>
      <p:sp>
        <p:nvSpPr>
          <p:cNvPr id="32" name="Text 30"/>
          <p:cNvSpPr txBox="1"/>
          <p:nvPr/>
        </p:nvSpPr>
        <p:spPr>
          <a:xfrm>
            <a:off x="7086600" y="493776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4937760"/>
            <a:ext cx="3779215" cy="274320"/>
          </a:xfrm>
          <a:prstGeom prst="rect">
            <a:avLst/>
          </a:prstGeom>
          <a:noFill/>
          <a:ln/>
        </p:spPr>
        <p:txBody>
          <a:bodyPr wrap="square" lIns="0" tIns="0" rIns="0" bIns="0" rtlCol="0" anchor="t"/>
          <a:lstStyle/>
          <a:p>
            <a:pPr marL="0" indent="0">
              <a:buNone/>
            </a:pPr>
            <a:r>
              <a:rPr lang="en-US" sz="1250" b="1" dirty="0">
                <a:solidFill>
                  <a:schemeClr val="bg1"/>
                </a:solidFill>
              </a:rPr>
              <a:t>Kick off</a:t>
            </a:r>
            <a:endParaRPr lang="en-US" sz="1250" dirty="0"/>
          </a:p>
        </p:txBody>
      </p:sp>
      <p:sp>
        <p:nvSpPr>
          <p:cNvPr id="34" name="Text 32"/>
          <p:cNvSpPr txBox="1"/>
          <p:nvPr/>
        </p:nvSpPr>
        <p:spPr>
          <a:xfrm>
            <a:off x="7543800" y="5212080"/>
            <a:ext cx="3779215" cy="640080"/>
          </a:xfrm>
          <a:prstGeom prst="rect">
            <a:avLst/>
          </a:prstGeom>
          <a:noFill/>
          <a:ln/>
        </p:spPr>
        <p:txBody>
          <a:bodyPr wrap="square" lIns="0" tIns="0" rIns="0" bIns="0" rtlCol="0" anchor="t"/>
          <a:lstStyle/>
          <a:p>
            <a:pPr marL="0" indent="0">
              <a:buNone/>
            </a:pPr>
            <a:r>
              <a:rPr lang="en-US" sz="1150" dirty="0">
                <a:solidFill>
                  <a:schemeClr val="bg1"/>
                </a:solidFill>
              </a:rPr>
              <a:t>On site in Phoenix the following week. Knowledge capture, training with Ian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marL="0" indent="0">
              <a:buNone/>
            </a:pPr>
            <a:r>
              <a:rPr lang="en-US" sz="1100" b="1" dirty="0">
                <a:solidFill>
                  <a:schemeClr val="tx2"/>
                </a:solidFill>
              </a:rPr>
              <a:t>Steven Nikolov, Principal  |  steven@onyxcfo.com  |  direct 480-999-5509  |  mobile 480-772-5612</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marL="0" indent="0">
              <a:buNone/>
            </a:pPr>
            <a:r>
              <a:rPr lang="en-US" sz="1100" dirty="0">
                <a:solidFill>
                  <a:schemeClr val="accent3"/>
                </a:solidFill>
              </a:rPr>
              <a:t>Josephine Mack, Chief of Staff and Client Relations  |  jmack@onyxcfo.com</a:t>
            </a:r>
            <a:endParaRPr lang="en-US" sz="1100" dirty="0"/>
          </a:p>
        </p:txBody>
      </p:sp>
      <p:sp>
        <p:nvSpPr>
          <p:cNvPr id="3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marL="0" indent="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marL="0" indent="0">
              <a:buNone/>
            </a:pPr>
            <a:r>
              <a:rPr lang="en-US" sz="1400" dirty="0">
                <a:solidFill>
                  <a:schemeClr val="bg1"/>
                </a:solidFill>
              </a:rPr>
              <a:t>We appreciate the opportunity to earn George Brazil's business and to become a trusted partner to your team.</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marL="0" indent="0">
              <a:lnSpc>
                <a:spcPct val="115000"/>
              </a:lnSpc>
              <a:buNone/>
            </a:pPr>
            <a:r>
              <a:rPr lang="en-US" sz="1200" dirty="0">
                <a:solidFill>
                  <a:schemeClr val="bg1"/>
                </a:solidFill>
              </a:rPr>
              <a:t>Onyx Accounting Group, LLC</a:t>
            </a:r>
            <a:endParaRPr lang="en-US" sz="1200" dirty="0"/>
          </a:p>
          <a:p>
            <a:pPr marL="0" indent="0">
              <a:lnSpc>
                <a:spcPct val="115000"/>
              </a:lnSpc>
              <a:buNone/>
            </a:pPr>
            <a:r>
              <a:rPr lang="en-US" sz="1200" dirty="0">
                <a:solidFill>
                  <a:schemeClr val="bg1"/>
                </a:solidFill>
              </a:rPr>
              <a:t>14614 N Kierland Blvd, Suite N220</a:t>
            </a:r>
            <a:endParaRPr lang="en-US" sz="1200" dirty="0"/>
          </a:p>
          <a:p>
            <a:pPr marL="0" indent="0">
              <a:lnSpc>
                <a:spcPct val="115000"/>
              </a:lnSpc>
              <a:buNone/>
            </a:pPr>
            <a:r>
              <a:rPr lang="en-US" sz="1200" dirty="0">
                <a:solidFill>
                  <a:schemeClr val="bg1"/>
                </a:solidFill>
              </a:rPr>
              <a:t>Scottsdale, AZ 85254</a:t>
            </a:r>
            <a:endParaRPr lang="en-US" sz="1200" dirty="0"/>
          </a:p>
          <a:p>
            <a:pPr marL="0" indent="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txBody>
          <a:bodyPr/>
          <a:lstStyle/>
          <a:p>
            <a:endParaRPr lang="en-US"/>
          </a:p>
        </p:txBody>
      </p:sp>
      <p:pic>
        <p:nvPicPr>
          <p:cNvPr id="6" name="George Brazil logo" descr="preencoded.png"/>
          <p:cNvPicPr>
            <a:picLocks noChangeAspect="1"/>
          </p:cNvPicPr>
          <p:nvPr/>
        </p:nvPicPr>
        <p:blipFill>
          <a:blip r:embed="rId3"/>
          <a:stretch>
            <a:fillRect/>
          </a:stretch>
        </p:blipFill>
        <p:spPr>
          <a:xfrm>
            <a:off x="8458200" y="2258568"/>
            <a:ext cx="2834640" cy="893369"/>
          </a:xfrm>
          <a:prstGeom prst="rect">
            <a:avLst/>
          </a:prstGeom>
        </p:spPr>
      </p:pic>
      <p:sp>
        <p:nvSpPr>
          <p:cNvPr id="7" name="Text 4"/>
          <p:cNvSpPr txBox="1"/>
          <p:nvPr/>
        </p:nvSpPr>
        <p:spPr>
          <a:xfrm>
            <a:off x="8138160" y="3657600"/>
            <a:ext cx="3657600" cy="640080"/>
          </a:xfrm>
          <a:prstGeom prst="rect">
            <a:avLst/>
          </a:prstGeom>
          <a:noFill/>
          <a:ln/>
        </p:spPr>
        <p:txBody>
          <a:bodyPr wrap="square" lIns="0" tIns="0" rIns="0" bIns="0" rtlCol="0" anchor="t"/>
          <a:lstStyle/>
          <a:p>
            <a:pPr marL="0" indent="0">
              <a:buNone/>
            </a:pPr>
            <a:r>
              <a:rPr lang="en-US" sz="1100" dirty="0">
                <a:solidFill>
                  <a:schemeClr val="bg1"/>
                </a:solidFill>
              </a:rPr>
              <a:t>Prepared for AJAC, Inc. dba George Brazil</a:t>
            </a:r>
            <a:endParaRPr lang="en-US" sz="1100" dirty="0"/>
          </a:p>
          <a:p>
            <a:pPr marL="0" indent="0">
              <a:buNone/>
            </a:pPr>
            <a:r>
              <a:rPr lang="en-US" sz="1100" dirty="0">
                <a:solidFill>
                  <a:schemeClr val="bg1"/>
                </a:solidFill>
              </a:rPr>
              <a:t>Marc Erpenbeck, President</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3133</Words>
  <Application>Microsoft Office PowerPoint</Application>
  <PresentationFormat>Widescreen</PresentationFormat>
  <Paragraphs>365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ONYX Proposal</vt:lpstr>
      <vt:lpstr>PowerPoint Presentation</vt:lpstr>
      <vt:lpstr>A note to Marc and the leadership team</vt:lpstr>
      <vt:lpstr>What this proposal covers</vt:lpstr>
      <vt:lpstr>Onyx Accounting Group</vt:lpstr>
      <vt:lpstr>Your engagement team</vt:lpstr>
      <vt:lpstr>Our understanding of George Brazil</vt:lpstr>
      <vt:lpstr>Services proposed for George Brazil</vt:lpstr>
      <vt:lpstr>How we will work together</vt:lpstr>
      <vt:lpstr>October 2026 through March 2027</vt:lpstr>
      <vt:lpstr>The first 90 days</vt:lpstr>
      <vt:lpstr>What you receive, and when</vt:lpstr>
      <vt:lpstr>Hourly rates and billing terms</vt:lpstr>
      <vt:lpstr>What a team gives you, and how we start</vt:lpstr>
      <vt:lpstr>PowerPoint Presentation</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Proposal for Accounting, Controller and CFO Services</dc:title>
  <dc:subject>PptxGenJS Presentation</dc:subject>
  <dc:creator>Onyx Accounting Group</dc:creator>
  <cp:lastModifiedBy>Steven Nikolov</cp:lastModifiedBy>
  <cp:revision>4</cp:revision>
  <dcterms:created xsi:type="dcterms:W3CDTF">2026-10-05T09:00:00Z</dcterms:created>
  <dcterms:modified xsi:type="dcterms:W3CDTF">2026-10-05T09:00:00Z</dcterms:modified>
</cp:coreProperties>
</file>