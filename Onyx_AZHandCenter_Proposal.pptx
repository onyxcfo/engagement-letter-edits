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66928"/>
            <a:ext cx="1219196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7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9072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400" b="1" i="0" spc="34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ACCOUNTING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84831"/>
            <a:ext cx="1219196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2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Bookkeeping, Controller &amp; CFO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6048" y="2615184"/>
            <a:ext cx="2286000" cy="0"/>
          </a:xfrm>
          <a:prstGeom prst="line">
            <a:avLst/>
          </a:prstGeom>
          <a:ln w="12700">
            <a:solidFill>
              <a:srgbClr val="8F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52928"/>
            <a:ext cx="12191969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5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Finance leadership your physicians can count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9584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03904"/>
            <a:ext cx="1219196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9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ARIZONA CENTER FOR HAND TO SHOULDER SURGERY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06240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1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15 surgeons  ·  5 clinics  ·  3 entities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791456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108192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14614 N Kierland Blvd, Suite N220  ·  Scottsdale, AZ 85254  ·  (480) 999-5509  ·  onyxcfo.com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95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finance leader the physicians can count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What we understand the practice needs from this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One consistent, senior finance contact while Mark steps back, with what he knows captured before he goes.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138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170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CONTROLLER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6170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 controller who leads the monthly close and the internal team, with every output reviewed.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1636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PHYSICIAN &amp; RCM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7668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Physician compensation, bonus calculations and revenue-cycle analysis the physicians trust.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3134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73134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9165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SYSTEMS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9165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Less manual work between eClinicalWorks, payroll and QuickBooks, with review controls built 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4"/>
            <a:ext cx="11091672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8640" y="4443984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1036015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974336"/>
            <a:ext cx="1036015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dependable, documented finance function across all three entities, led by a team that does not turn over, and able to grow from controller support into full CFO leadership.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Two controller hires have not stuck. The answer is a team, not another single point of failure.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$32M practice, one person’s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Drawn from our introductory call with Mark Williamson on October 5, 2026.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11091672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81328" y="2139696"/>
            <a:ext cx="962863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1550" b="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physicians need a consistent, trusted finance contact rather than rotating personnel. Two recent controller hires have not worked out, and Mark plans to step away next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71216"/>
            <a:ext cx="962863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What we heard on the introductory 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$32M+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Annual revenue, up from about $13M in 2019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138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6170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170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Surgeons across five clinics, each with a therapy 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7668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Entities: the practice, surgery center and pharmacy company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3134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9165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40%+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9165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Government payers in the mix, with Medicare at about 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75504"/>
            <a:ext cx="1109167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month without a documented close is a month of knowledge that lives in one person’s head.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Mark has agreed to support the transition. The sooner the handover starts, the more of what he knows gets written down, tested and owned by a team.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961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Source: introductory call, October 5, 2026. All figures to be confirmed during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WHO WE ARE · THE 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boutique firm with big-firm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Scottsdale-based. Partner-level work, delivered by the people you actually talk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TOP 10 FIRM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Directors and Managers from top 10 national accounting firms — the tier above regional practices.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MULTI-INDUSTRY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Construction · real estate · property management · professional services · distribution &amp; retail ·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PRIVATE EQUITY / FAMILY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PE-backed and private-industry operating experience, including transaction and investor reporting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21024"/>
            <a:ext cx="11091672" cy="197510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40480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HOW THIS ENGAGEMENT IS STAFFED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4169663"/>
            <a:ext cx="10506457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4476" y="4334256"/>
            <a:ext cx="0" cy="1078992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41247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US TEAM · MANAGEMENT &amp;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Engagement leadership, the controller and CFO roles, physician and lender reporting, and every judgment call. Your day-to-day contacts sit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EUROPE · STAFF &amp; GLOBAL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Reconciliations, schedule preparation and transaction support behind the engagement: a distributed team on our systems and our review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 accountant on the team carries 10+ years. One firm, scaled from transaction detail to the boardroom.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ENGAGEMENT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Steven Nikolov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Founder, Principal &amp; Outsourced CFO  ·  steven@onyxcfo.com  ·  (480) 999-5509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83664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194560"/>
            <a:ext cx="6446519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359152"/>
            <a:ext cx="644652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Top 10 national accounting firm background at Director and Manager level, the tier above regional practices.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Outsourced CFO and controller to owner-led and PE-backed companies across distribution and retail, construction, real estate and professional services.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Builds books for outside scrutiny: owners, boards, lenders and auditors. The standard does not change, only who is reading.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Leads the controller and CFO work personally: close design, management and board reporting, budgeting and forecasting, and lender reporting.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Uses automation and AI as controlled tools, with documented human review of every material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04688"/>
            <a:ext cx="6446520" cy="47548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614416"/>
            <a:ext cx="600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1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[ Steven to confirm before sending: CPA licence and state, years in practice, and any healthcare-practice engagements to name.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1883664"/>
            <a:ext cx="4279392" cy="37124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60920" y="1883664"/>
            <a:ext cx="427939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53528" y="2157984"/>
            <a:ext cx="36941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THIS ENGAGEMENT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560320"/>
            <a:ext cx="3694176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multi-entity practice with physician-level class allocations and a monthly bonus cycle.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lender relationship with borrowing-base reporting that has to be right every time.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lean internal team that needs leadership and review, not replacement.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Physicians who want one senior, consistent finance contact.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53528" y="5047488"/>
            <a:ext cx="3694176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53528" y="5193792"/>
            <a:ext cx="3694176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0" i="1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You get the principal on the file, not a hand-off after the sale.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Finance leadership, with clear lines on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You asked for dependable controller and CFO leadership. That is exactly the scope. Here is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08676" cy="3657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 SCOPE: WHAT WE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60320"/>
            <a:ext cx="4823460" cy="2834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 the monthly close and review reconciliations and journal entries.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 the close, physician compensation and borrowing-base processes.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Prepare physician compensation and bonus support for your approval.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Reconcile revenue-cycle activity to the ledger and analyze payer trends.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Produce management, executive board and shareholder reporting.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 budgeting, forecasting and lender reporting.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Guide and support the internal accounting team day to day.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 an automation roadmap with documented review controls.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920240"/>
            <a:ext cx="5408676" cy="3657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1636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24244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NOT IN SCOPE: AND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244" y="2560320"/>
            <a:ext cx="482346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Signing authority or moving money. Your team keeps every approval and payment.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audit, review or compilation. We express no opinion and provide no assurance.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Tax return preparation or filing. Your tax preparer files; we hand them clean books.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Patient billing, coding or payer compliance. Your revenue-cycle team owns these.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Legal advice or regulatory opinions on healthcare compliance.</a:t>
            </a:r>
          </a:p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forensic or fraud investigation.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24244" y="4901184"/>
            <a:ext cx="4823460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244" y="5047488"/>
            <a:ext cx="482346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If something looks irregular, we escalate it to you in writing immediately. Investigating it is a separate engagement.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Naming the boundary up front keeps approvals where they belong: with the practice.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makes a physician practice’s books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The six areas where a multi-entity orthopedic practice’s finance function is won or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PHYSICIAN COMPENSATION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QBO CLASSES · BONUS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Class-based allocations by physician drive the mid-month bonus calculation. It has to be right, explainable and on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REVENUE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ECLINICALWORKS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Gross charges, collection rates, denials and payer trends, with government payers above 40% of the mix.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CASH-BASIS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6–7 BUSINESS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close depends on payment posting, allocations and physician-level reporting. Every dependency needs an owner.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THREE ENTITIES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PRACTICE · SURGERY CENTER · PHARMACY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practice, a separately owned surgery center with outsourced billing, and Arizona Pharmacy Consultants.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7304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11624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PAYROLL &amp; BENEFITS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1624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PAYLOCITY · PAYCHEX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1624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Biweekly payroll, a possible move to Paychex, a March 1 benefits renewal and a pooled retirement plan.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5968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0288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LENDER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0288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LINES OF CREDIT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288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Borrowing-base reporting to the bank. Lenders read the same numbers the physicians do, so they have to tie.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None of this is exotic. All of it is where a lean team runs out of hours, and where a new hire takes months to learn the practice.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FIRST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30/60/90-day plan, then a steady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Each phase ends with a check-in with Mark and the executive board.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HANDOVER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Working sessions with Mark and the internal team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Close, bonus and borrowing-base processes documented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Access, systems and class structure reviewed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 started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Documented close &amp; process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138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90138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7882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STABILIZE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882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31–60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7882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close led and reviewed by ONYX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Physician compensation package reviewed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Revenue-cycle activity tied to the ledger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Gaps and fixes logged with owners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27882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27882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7882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Reviewed close &amp; physician 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31636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79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79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61–90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9379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eCW-to-QBO and payroll-to-GL workflows mapped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KPI dashboard and board pack defined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Payroll-provider change assessed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69379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69379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79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KPI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73134" y="1865376"/>
            <a:ext cx="2567178" cy="3749039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073134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0878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STEADY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0878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Day 91 onward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0878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close and reporting rhythm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Budget, forecast and lender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Executive board and shareholder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Team mix adjusted as Mark steps back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10878" y="4901183"/>
            <a:ext cx="2091689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10878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0878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finance function run by a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phases overlap by design. Close support starts in week one, not on day 31.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Six months to a team-run finance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Indicative schedule, confirmed with Mark in the first week.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2044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0040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8158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6154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272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2268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0386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8382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500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4496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2614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610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8728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6724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377440"/>
            <a:ext cx="11091672" cy="0"/>
          </a:xfrm>
          <a:prstGeom prst="line">
            <a:avLst/>
          </a:prstGeom>
          <a:ln w="1270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3" y="2496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Knowledge transfer with 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487168"/>
            <a:ext cx="2523743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2834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3" y="29535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Close stabilization &amp; documentation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9443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32918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Physician comp &amp; RCM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4015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CBB3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48640" y="3749039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3" y="3867911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3" y="38587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2062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3503" y="43251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Payroll change &amp; benefits renewal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06056" y="4315968"/>
            <a:ext cx="2523744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48640" y="46634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3503" y="4782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Ongoing controller &amp; CFO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6056" y="47731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537667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KEY CHECKPOINTS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384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Kickoff, access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discovery materials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044952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44952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and bonus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processes documented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5776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303520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ONYX-reviewed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physician pack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24344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62088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KPI pack agreed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820656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Ready for Mark’s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step-back next year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104241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Assumes a start in late October or November 2026 and system access from day 1. The December shareholder meeting falls inside the first 60 days.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WHAT YOU RECEIVE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Documented, reviewed and owned by a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Delivered as one shared file, not knowledge in one person’s 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2542032"/>
            <a:ext cx="2965705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Monthly close for all three entities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 reviewed by a second person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Physician compensation and bonus support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Revenue-cycle activity tied to the ledger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Borrowing-base and covenant reporting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Budget, forecast and variance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REPORTING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1624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11624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Executive board reporting as needed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Annual shareholder meeting package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Revenue-cycle dashboard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Payer-mix and trend analysis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KPI definitions agreed with physicians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Weekly updates during onboarding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MACHINE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0288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00288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Documented close calendar and checklist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 notes for every recurring task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 and completed-work log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Payroll-to-GL and eCW-to-QBO mappings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Invoices with time detail by person and task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74336"/>
            <a:ext cx="11091672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38928"/>
            <a:ext cx="105064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376672"/>
            <a:ext cx="105064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One shared file: every report tied to the ledger, every process written down, every recurring task with a named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Everything is built so that a new controller, a new physician leader or a lender can pick it up cold.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 at published rates, with the mix of people set by the structure you choose. Change the mix at any time by email.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002536"/>
            <a:ext cx="280720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2002536"/>
            <a:ext cx="399592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IT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1" y="2002536"/>
            <a:ext cx="152704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025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HOURLY RATES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1  ·  CFO +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450592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Full finance leadership: a CFO lead and an ONYX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450592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4323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$250 + $185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9806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2953512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2  ·  Controller-led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62656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controller leads the function, CFO oversight as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962656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94436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$185 + $250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3465576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3  ·  Staff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47472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staff add capacity to your team under controller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474720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4564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$100 + $185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3977639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Onboarding  ·  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986783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Knowledge transfer, close stabilization, automation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986783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96849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Same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34256"/>
            <a:ext cx="11091672" cy="438912"/>
          </a:xfrm>
          <a:prstGeom prst="rect">
            <a:avLst/>
          </a:prstGeom>
          <a:solidFill>
            <a:srgbClr val="EF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446227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Staff · Controller · CFO, guaranteed through December 31,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453128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300" b="1" i="0">
                <a:solidFill>
                  <a:srgbClr val="8F7346"/>
                </a:solidFill>
                <a:latin typeface="Cambria"/>
                <a:ea typeface="Cambria"/>
                <a:cs typeface="Cambria"/>
              </a:rPr>
              <a:t>$100 · $185 · $250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1091672" cy="7863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8640" y="5010912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59" y="5175504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RETAINER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394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retainer, set after we review the books and applied to the final invoice. Invoices every two weeks, net 7, with time detail by person and task.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248656"/>
            <a:ext cx="2862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No lock-in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0176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Move between options at any time by email. No re-signing, no minimum term.  ·  Weekly progress-and-budget updates during onboarding.</a:t>
            </a:r>
          </a:p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Not included: tax return preparation and filing, any audit fee, and software subscriptions held in the practice’s name.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BEYOND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the physicians get every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Onboarding is a milestone. The monthly rhythm is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 CLOSE THAT RUNS 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Books closed on a set calendar each month, reviewed by someone other than the preparer, without anyone chasing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PHYSICIAN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Class-based allocations and the mid-month bonus calculation, prepared, reviewed and explained.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REVENUE-CYCLE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Gross charges, collection rates, denials and payer trends, with a human read on what 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BOARD &amp; SHAREHOLDER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Results for the executive board as needed and a package for the annual December shareholder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7304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1624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LENDER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Borrowing-base and covenant reporting for the practice’s lines of credit, delivered on time.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5968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00288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CONTROLS WITH 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288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Automation and AI used as tools, never as the final word. Every material output is verified.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33872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Most of our clients blend all three levels (staff, controller and CFO) and adjust the mix as needs change. That range is what a single new hire cannot offer.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WHY 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Why this firm, for this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Three things that decide whether this transition goes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Staff accountant through CFO under one roof. If a person changes, the team and the file do not, and the physicians keep the same senior contact. Nothing is lost in a hand-off.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Perform and review, every time: the person who prepares a number is never the one who signs off on it. It is how professional-services firms control quality, and how we run your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 work alongside your internal team, revenue-cycle manager, tax advisors, counsel and bank. We support those relationships rather than compete with them, and keep the physicians out of the middle.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3350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453542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WE ASK OF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7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named internal owner, with Mark available during the handover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18154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18154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Access to QuickBooks, eClinicalWorks reports, payroll and bank portals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5060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Timely answers and approvals from the 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1966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71966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Management keeps approvals and owns the financial statements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None of it is unusual. All of it is what keeps the transition on schedule.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we start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Physician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Mark shares this proposal at the October 16 physicians’ meeting. We are glad to join or answer questions beforehand.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61872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390138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90138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138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Choose &amp;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138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Pick a starting option and sign the engagement letter. You can change the mix later by email.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3370" y="2295144"/>
            <a:ext cx="1981961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31636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31636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Grant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QuickBooks Online, eClinicalWorks reports, Paylocity, bank portals, the close checklist, bonus calculations and the borrowing-base package.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4868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73134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73134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3134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Kickoff ·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3134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Knowledge-transfer sessions with Mark begin in the first week, with weekly updates from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11091672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7" y="462686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STANDING OFFER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4864608"/>
            <a:ext cx="1050645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complimentary accounting and treasury review each quarter with you and your executive board, for as long as we work together.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577840"/>
            <a:ext cx="11091672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76072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 Accounting Group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14614 N Kierland Blvd, Suite N220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Scottsdale, AZ 85254  ·  (480) 999-5509</a:t>
            </a:r>
          </a:p>
          <a:p>
            <a:pPr algn="r" marL="0" indent="0"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onyxcfo.com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ONYX Proposal: Arizona Center for Hand to Shoulder Surgery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