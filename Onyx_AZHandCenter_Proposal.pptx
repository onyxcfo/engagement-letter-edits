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FD9E79A-E356-4544-6A09-9A1D45D72EAE}">
          <p14:sldIdLst>
            <p14:sldId id="256"/>
            <p14:sldId id="257"/>
            <p14:sldId id="258"/>
          </p14:sldIdLst>
        </p14:section>
        <p14:section name="01 Who we are" id="{6920C485-F38D-0467-708E-BF131F7EEDBF}">
          <p14:sldIdLst>
            <p14:sldId id="259"/>
            <p14:sldId id="260"/>
          </p14:sldIdLst>
        </p14:section>
        <p14:section name="02 What we can help with" id="{D865D581-AB5B-50E4-5CE6-5C1110189744}">
          <p14:sldIdLst>
            <p14:sldId id="261"/>
            <p14:sldId id="262"/>
            <p14:sldId id="263"/>
          </p14:sldIdLst>
        </p14:section>
        <p14:section name="03 Engagement timeline" id="{BE9016A4-BCED-42AE-D5BD-4F440FFB9306}">
          <p14:sldIdLst>
            <p14:sldId id="264"/>
          </p14:sldIdLst>
        </p14:section>
        <p14:section name="04 30/60/90-day plan" id="{D18E2FDC-9B0B-F83D-9C01-56E6F221050F}">
          <p14:sldIdLst>
            <p14:sldId id="265"/>
            <p14:sldId id="266"/>
          </p14:sldIdLst>
        </p14:section>
        <p14:section name="05 Proposed fees" id="{8A093D5D-E9FB-CDCE-3C1B-581F527438CF}">
          <p14:sldIdLst>
            <p14:sldId id="267"/>
          </p14:sldIdLst>
        </p14:section>
        <p14:section name="06 Why ONYX and next steps" id="{7CE09CF9-53E3-4C8F-DF64-AD829310B33F}">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0" d="100"/>
          <a:sy n="80" d="100"/>
        </p:scale>
        <p:origin x="682"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145418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Cover. Proposal accompanies the ACHS engagement letter.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4480560" cy="6858000"/>
          </a:xfrm>
          <a:prstGeom prst="rect">
            <a:avLst/>
          </a:prstGeom>
          <a:solidFill>
            <a:srgbClr val="1B2A49"/>
          </a:solidFill>
          <a:ln/>
        </p:spPr>
        <p:txBody>
          <a:bodyPr/>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10500055" y="301752"/>
            <a:ext cx="1143000" cy="537667"/>
          </a:xfrm>
          <a:prstGeom prst="rect">
            <a:avLst/>
          </a:prstGeom>
        </p:spPr>
      </p:pic>
      <p:sp>
        <p:nvSpPr>
          <p:cNvPr id="3" name="Text 0"/>
          <p:cNvSpPr txBox="1"/>
          <p:nvPr/>
        </p:nvSpPr>
        <p:spPr>
          <a:xfrm>
            <a:off x="548640" y="6400800"/>
            <a:ext cx="7315200" cy="274320"/>
          </a:xfrm>
          <a:prstGeom prst="rect">
            <a:avLst/>
          </a:prstGeom>
          <a:noFill/>
          <a:ln/>
        </p:spPr>
        <p:txBody>
          <a:bodyPr wrap="square" lIns="0" tIns="0" rIns="0" bIns="0" rtlCol="0" anchor="ctr"/>
          <a:lstStyle/>
          <a:p>
            <a:pPr marL="0" indent="0">
              <a:buNone/>
            </a:pPr>
            <a:r>
              <a:rPr lang="en-US" sz="900" dirty="0">
                <a:solidFill>
                  <a:srgbClr val="5B6472"/>
                </a:solidFill>
              </a:rPr>
              <a:t>Proposal for Arizona Center for Hand to Shoulder Surgery  |  Confidential</a:t>
            </a:r>
            <a:endParaRPr lang="en-US" sz="900" dirty="0"/>
          </a:p>
        </p:txBody>
      </p:sp>
      <p:sp>
        <p:nvSpPr>
          <p:cNvPr id="4" name="Text 1"/>
          <p:cNvSpPr>
            <a:spLocks noGrp="1"/>
          </p:cNvSpPr>
          <p:nvPr>
            <p:ph type="body" idx="102" hasCustomPrompt="1"/>
          </p:nvPr>
        </p:nvSpPr>
        <p:spPr>
          <a:xfrm>
            <a:off x="548640" y="384048"/>
            <a:ext cx="8229600" cy="274320"/>
          </a:xfrm>
          <a:prstGeom prst="rect">
            <a:avLst/>
          </a:prstGeom>
          <a:noFill/>
          <a:ln/>
        </p:spPr>
        <p:txBody>
          <a:bodyPr wrap="square" rtlCol="0"/>
          <a:lstStyle>
            <a:lvl1pPr marL="0" indent="0">
              <a:buNone/>
              <a:defRPr lang="en-US" sz="1100" b="1" kern="0" spc="200" dirty="0">
                <a:solidFill>
                  <a:srgbClr val="AF1F29"/>
                </a:solidFill>
              </a:defRPr>
            </a:lvl1pPr>
          </a:lstStyle>
          <a:p>
            <a:pPr marL="0" indent="0">
              <a:buNone/>
            </a:pPr>
            <a:endParaRPr lang="en-US" sz="1100" dirty="0"/>
          </a:p>
        </p:txBody>
      </p:sp>
      <p:sp>
        <p:nvSpPr>
          <p:cNvPr id="5" name="Text 1"/>
          <p:cNvSpPr>
            <a:spLocks noGrp="1"/>
          </p:cNvSpPr>
          <p:nvPr>
            <p:ph type="title" idx="103" hasCustomPrompt="1"/>
          </p:nvPr>
        </p:nvSpPr>
        <p:spPr>
          <a:xfrm>
            <a:off x="548640" y="658368"/>
            <a:ext cx="9692640" cy="731520"/>
          </a:xfrm>
          <a:prstGeom prst="rect">
            <a:avLst/>
          </a:prstGeom>
          <a:noFill/>
          <a:ln/>
        </p:spPr>
        <p:txBody>
          <a:bodyPr wrap="square" rtlCol="0"/>
          <a:lstStyle>
            <a:lvl1pPr marL="0" indent="0" algn="l">
              <a:buNone/>
              <a:defRPr lang="en-US" sz="2800" dirty="0">
                <a:solidFill>
                  <a:srgbClr val="16181D"/>
                </a:solidFill>
              </a:defRPr>
            </a:lvl1pPr>
          </a:lstStyle>
          <a:p>
            <a:pPr marL="0" indent="0" algn="l">
              <a:buNone/>
            </a:pPr>
            <a:endParaRPr lang="en-US" sz="2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472"/>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rgbClr val="1B2A49"/>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548640" y="457200"/>
            <a:ext cx="1463040" cy="687629"/>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47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ONYX logo" descr="preencoded.png"/>
          <p:cNvPicPr>
            <a:picLocks noChangeAspect="1"/>
          </p:cNvPicPr>
          <p:nvPr/>
        </p:nvPicPr>
        <p:blipFill>
          <a:blip r:embed="rId3"/>
          <a:stretch>
            <a:fillRect/>
          </a:stretch>
        </p:blipFill>
        <p:spPr>
          <a:xfrm>
            <a:off x="548640" y="548640"/>
            <a:ext cx="1828800" cy="859536"/>
          </a:xfrm>
          <a:prstGeom prst="rect">
            <a:avLst/>
          </a:prstGeom>
        </p:spPr>
      </p:pic>
      <p:sp>
        <p:nvSpPr>
          <p:cNvPr id="3" name="Text 0"/>
          <p:cNvSpPr txBox="1"/>
          <p:nvPr/>
        </p:nvSpPr>
        <p:spPr>
          <a:xfrm>
            <a:off x="548640" y="2377440"/>
            <a:ext cx="3474720" cy="1737360"/>
          </a:xfrm>
          <a:prstGeom prst="rect">
            <a:avLst/>
          </a:prstGeom>
          <a:noFill/>
          <a:ln/>
        </p:spPr>
        <p:txBody>
          <a:bodyPr wrap="square" lIns="0" tIns="0" rIns="0" bIns="0" rtlCol="0" anchor="t"/>
          <a:lstStyle/>
          <a:p>
            <a:pPr marL="0" indent="0">
              <a:lnSpc>
                <a:spcPct val="110000"/>
              </a:lnSpc>
              <a:buNone/>
            </a:pPr>
            <a:r>
              <a:rPr lang="en-US" sz="2400" dirty="0">
                <a:solidFill>
                  <a:schemeClr val="bg1"/>
                </a:solidFill>
                <a:latin typeface="Cambria" pitchFamily="34" charset="0"/>
                <a:ea typeface="Cambria" pitchFamily="34" charset="-122"/>
                <a:cs typeface="Cambria" pitchFamily="34" charset="-120"/>
              </a:rPr>
              <a:t>Proposal for Accounting, Controller and CFO Services</a:t>
            </a:r>
            <a:endParaRPr lang="en-US" sz="2400" dirty="0"/>
          </a:p>
        </p:txBody>
      </p:sp>
      <p:sp>
        <p:nvSpPr>
          <p:cNvPr id="4" name="Text 1"/>
          <p:cNvSpPr txBox="1"/>
          <p:nvPr/>
        </p:nvSpPr>
        <p:spPr>
          <a:xfrm>
            <a:off x="548640" y="5943600"/>
            <a:ext cx="3474720" cy="320040"/>
          </a:xfrm>
          <a:prstGeom prst="rect">
            <a:avLst/>
          </a:prstGeom>
          <a:noFill/>
          <a:ln/>
        </p:spPr>
        <p:txBody>
          <a:bodyPr wrap="square" lIns="0" tIns="0" rIns="0" bIns="0" rtlCol="0" anchor="t"/>
          <a:lstStyle/>
          <a:p>
            <a:pPr marL="0" indent="0">
              <a:buNone/>
            </a:pPr>
            <a:r>
              <a:rPr lang="en-US" sz="1200" dirty="0">
                <a:solidFill>
                  <a:schemeClr val="bg1"/>
                </a:solidFill>
              </a:rPr>
              <a:t>October 7, 2026</a:t>
            </a:r>
            <a:endParaRPr lang="en-US" sz="1200" dirty="0"/>
          </a:p>
        </p:txBody>
      </p:sp>
      <p:sp>
        <p:nvSpPr>
          <p:cNvPr id="5" name="Text 2"/>
          <p:cNvSpPr txBox="1"/>
          <p:nvPr/>
        </p:nvSpPr>
        <p:spPr>
          <a:xfrm>
            <a:off x="5212080" y="1097280"/>
            <a:ext cx="4572000" cy="274320"/>
          </a:xfrm>
          <a:prstGeom prst="rect">
            <a:avLst/>
          </a:prstGeom>
          <a:noFill/>
          <a:ln/>
        </p:spPr>
        <p:txBody>
          <a:bodyPr wrap="square" lIns="0" tIns="0" rIns="0" bIns="0" rtlCol="0" anchor="t"/>
          <a:lstStyle/>
          <a:p>
            <a:pPr marL="0" indent="0">
              <a:buNone/>
            </a:pPr>
            <a:r>
              <a:rPr lang="en-US" sz="1100" b="1" kern="0" spc="200" dirty="0">
                <a:solidFill>
                  <a:schemeClr val="accent2"/>
                </a:solidFill>
              </a:rPr>
              <a:t>PREPARED FOR</a:t>
            </a:r>
            <a:endParaRPr lang="en-US" sz="1100" dirty="0"/>
          </a:p>
        </p:txBody>
      </p:sp>
      <p:pic>
        <p:nvPicPr>
          <p:cNvPr id="12" name="Client logo" descr="AZHandCenter.png"/>
          <p:cNvPicPr>
            <a:picLocks noChangeAspect="1"/>
          </p:cNvPicPr>
          <p:nvPr/>
        </p:nvPicPr>
        <p:blipFill>
          <a:blip r:embed="rId5"/>
          <a:stretch>
            <a:fillRect/>
          </a:stretch>
        </p:blipFill>
        <p:spPr>
          <a:xfrm>
            <a:off x="5212080" y="1508760"/>
            <a:ext cx="4480560" cy="916314"/>
          </a:xfrm>
          <a:prstGeom prst="rect">
            <a:avLst/>
          </a:prstGeom>
        </p:spPr>
      </p:pic>
      <p:sp>
        <p:nvSpPr>
          <p:cNvPr id="7" name="Text 3"/>
          <p:cNvSpPr txBox="1"/>
          <p:nvPr/>
        </p:nvSpPr>
        <p:spPr>
          <a:xfrm>
            <a:off x="5212080" y="2651760"/>
            <a:ext cx="6400800" cy="411480"/>
          </a:xfrm>
          <a:prstGeom prst="rect">
            <a:avLst/>
          </a:prstGeom>
          <a:noFill/>
          <a:ln/>
        </p:spPr>
        <p:txBody>
          <a:bodyPr wrap="square" lIns="0" tIns="0" rIns="0" bIns="0" rtlCol="0" anchor="t"/>
          <a:lstStyle/>
          <a:p>
            <a:pPr marL="0" indent="0">
              <a:buNone/>
            </a:pPr>
            <a:r>
              <a:rPr lang="en-US" sz="1800" dirty="0">
                <a:solidFill>
                  <a:schemeClr val="tx1"/>
                </a:solidFill>
                <a:latin typeface="Cambria" pitchFamily="34" charset="0"/>
                <a:ea typeface="Cambria" pitchFamily="34" charset="-122"/>
                <a:cs typeface="Cambria" pitchFamily="34" charset="-120"/>
              </a:rPr>
              <a:t>Arizona Center for Hand to Shoulder Surgery</a:t>
            </a:r>
            <a:endParaRPr lang="en-US" sz="1800" dirty="0"/>
          </a:p>
        </p:txBody>
      </p:sp>
      <p:sp>
        <p:nvSpPr>
          <p:cNvPr id="8" name="Text 4"/>
          <p:cNvSpPr txBox="1"/>
          <p:nvPr/>
        </p:nvSpPr>
        <p:spPr>
          <a:xfrm>
            <a:off x="5212080" y="3108960"/>
            <a:ext cx="6400800" cy="640080"/>
          </a:xfrm>
          <a:prstGeom prst="rect">
            <a:avLst/>
          </a:prstGeom>
          <a:noFill/>
          <a:ln/>
        </p:spPr>
        <p:txBody>
          <a:bodyPr wrap="square" lIns="0" tIns="0" rIns="0" bIns="0" rtlCol="0" anchor="t"/>
          <a:lstStyle/>
          <a:p>
            <a:pPr marL="0" indent="0">
              <a:buNone/>
            </a:pPr>
            <a:r>
              <a:rPr lang="en-US" sz="1200" dirty="0">
                <a:solidFill>
                  <a:schemeClr val="accent3"/>
                </a:solidFill>
              </a:rPr>
              <a:t>370 E Virginia Ave, Ste 100, Phoenix, AZ 85004</a:t>
            </a:r>
            <a:endParaRPr lang="en-US" sz="1200" dirty="0"/>
          </a:p>
          <a:p>
            <a:pPr marL="0" indent="0">
              <a:buNone/>
            </a:pPr>
            <a:r>
              <a:rPr lang="en-US" sz="1200" dirty="0">
                <a:solidFill>
                  <a:schemeClr val="accent3"/>
                </a:solidFill>
              </a:rPr>
              <a:t>Attn: Mark Williamson, CFO</a:t>
            </a:r>
            <a:endParaRPr lang="en-US" sz="1200" dirty="0"/>
          </a:p>
        </p:txBody>
      </p:sp>
      <p:sp>
        <p:nvSpPr>
          <p:cNvPr id="9" name="Text 5"/>
          <p:cNvSpPr txBox="1"/>
          <p:nvPr/>
        </p:nvSpPr>
        <p:spPr>
          <a:xfrm>
            <a:off x="5212080" y="4206240"/>
            <a:ext cx="4572000" cy="274320"/>
          </a:xfrm>
          <a:prstGeom prst="rect">
            <a:avLst/>
          </a:prstGeom>
          <a:noFill/>
          <a:ln/>
        </p:spPr>
        <p:txBody>
          <a:bodyPr wrap="square" lIns="0" tIns="0" rIns="0" bIns="0" rtlCol="0" anchor="t"/>
          <a:lstStyle/>
          <a:p>
            <a:pPr marL="0" indent="0">
              <a:buNone/>
            </a:pPr>
            <a:r>
              <a:rPr lang="en-US" sz="1100" b="1" kern="0" spc="200" dirty="0">
                <a:solidFill>
                  <a:schemeClr val="accent2"/>
                </a:solidFill>
              </a:rPr>
              <a:t>PREPARED BY</a:t>
            </a:r>
            <a:endParaRPr lang="en-US" sz="1100" dirty="0"/>
          </a:p>
        </p:txBody>
      </p:sp>
      <p:sp>
        <p:nvSpPr>
          <p:cNvPr id="10" name="Text 6"/>
          <p:cNvSpPr txBox="1"/>
          <p:nvPr/>
        </p:nvSpPr>
        <p:spPr>
          <a:xfrm>
            <a:off x="5212080" y="4526280"/>
            <a:ext cx="6400800" cy="1280160"/>
          </a:xfrm>
          <a:prstGeom prst="rect">
            <a:avLst/>
          </a:prstGeom>
          <a:noFill/>
          <a:ln/>
        </p:spPr>
        <p:txBody>
          <a:bodyPr wrap="square" lIns="0" tIns="0" rIns="0" bIns="0" rtlCol="0" anchor="t"/>
          <a:lstStyle/>
          <a:p>
            <a:pPr marL="0" indent="0">
              <a:buNone/>
            </a:pPr>
            <a:r>
              <a:rPr lang="en-US" sz="1200" b="1" dirty="0">
                <a:solidFill>
                  <a:schemeClr val="tx1"/>
                </a:solidFill>
              </a:rPr>
              <a:t>Steven Nikolov, Principal</a:t>
            </a:r>
            <a:endParaRPr lang="en-US" sz="1200" dirty="0"/>
          </a:p>
          <a:p>
            <a:pPr marL="0" indent="0">
              <a:buNone/>
            </a:pPr>
            <a:r>
              <a:rPr lang="en-US" sz="1200" dirty="0">
                <a:solidFill>
                  <a:srgbClr val="5B6472"/>
                </a:solidFill>
              </a:rPr>
              <a:t>steven@onyxcfo.com  |  direct 480-999-5509  |  mobile 480-772-5612</a:t>
            </a:r>
            <a:endParaRPr lang="en-US" sz="1200" dirty="0"/>
          </a:p>
          <a:p>
            <a:pPr marL="0" indent="0">
              <a:buNone/>
            </a:pPr>
            <a:r>
              <a:rPr lang="en-US" sz="600" dirty="0">
                <a:solidFill>
                  <a:schemeClr val="tx1"/>
                </a:solidFill>
              </a:rPr>
              <a:t> </a:t>
            </a:r>
            <a:endParaRPr lang="en-US" sz="1200" dirty="0"/>
          </a:p>
          <a:p>
            <a:pPr marL="0" indent="0">
              <a:buNone/>
            </a:pPr>
            <a:r>
              <a:rPr lang="en-US" sz="1200" b="1" dirty="0">
                <a:solidFill>
                  <a:schemeClr val="tx1"/>
                </a:solidFill>
              </a:rPr>
              <a:t>Josephine Mack, Chief of Staff &amp; Client Relations</a:t>
            </a:r>
            <a:endParaRPr lang="en-US" sz="1200" dirty="0"/>
          </a:p>
          <a:p>
            <a:pPr marL="0" indent="0">
              <a:buNone/>
            </a:pPr>
            <a:r>
              <a:rPr lang="en-US" sz="1200" dirty="0">
                <a:solidFill>
                  <a:srgbClr val="5B6472"/>
                </a:solidFill>
              </a:rPr>
              <a:t>jmack@onyxcfo.com</a:t>
            </a:r>
            <a:endParaRPr lang="en-US" sz="1200" dirty="0"/>
          </a:p>
        </p:txBody>
      </p:sp>
      <p:sp>
        <p:nvSpPr>
          <p:cNvPr id="11" name="Text 7"/>
          <p:cNvSpPr txBox="1"/>
          <p:nvPr/>
        </p:nvSpPr>
        <p:spPr>
          <a:xfrm>
            <a:off x="5212080" y="5989320"/>
            <a:ext cx="6583680" cy="274320"/>
          </a:xfrm>
          <a:prstGeom prst="rect">
            <a:avLst/>
          </a:prstGeom>
          <a:noFill/>
          <a:ln/>
        </p:spPr>
        <p:txBody>
          <a:bodyPr wrap="square" lIns="0" tIns="0" rIns="0" bIns="0" rtlCol="0" anchor="t"/>
          <a:lstStyle/>
          <a:p>
            <a:pPr marL="0" indent="0">
              <a:buNone/>
            </a:pPr>
            <a:r>
              <a:rPr lang="en-US" sz="1000" dirty="0">
                <a:solidFill>
                  <a:schemeClr val="accent3"/>
                </a:solidFill>
              </a:rPr>
              <a:t>Onyx Accounting Group, LLC  |  14614 N Kierland Blvd, Suite N220, Scottsdale, AZ 85254  |  onyxcfo.com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body" idx="102" hasCustomPrompt="1"/>
          </p:nvPr>
        </p:nvSpPr>
        <p:spPr>
          <a:xfrm>
            <a:off x="548640" y="384048"/>
            <a:ext cx="8229600" cy="274320"/>
          </a:xfrm>
          <a:prstGeom prst="rect">
            <a:avLst/>
          </a:prstGeom>
          <a:noFill/>
          <a:ln/>
        </p:spPr>
        <p:txBody>
          <a:bodyPr wrap="square" lIns="0" tIns="0" rIns="0" bIns="0" rtlCol="0"/>
          <a:lstStyle/>
          <a:p>
            <a:pPr marL="0" indent="0">
              <a:buNone/>
            </a:pPr>
            <a:r>
              <a:rPr lang="en-US" sz="1100" b="1" kern="0" spc="200" dirty="0">
                <a:solidFill>
                  <a:srgbClr val="AF1F29"/>
                </a:solidFill>
              </a:rPr>
              <a:t>INTRODUCTION</a:t>
            </a:r>
            <a:endParaRPr lang="en-US" sz="1100" dirty="0"/>
          </a:p>
        </p:txBody>
      </p:sp>
      <p:sp>
        <p:nvSpPr>
          <p:cNvPr id="3" name="Text 1"/>
          <p:cNvSpPr>
            <a:spLocks noGrp="1"/>
          </p:cNvSpPr>
          <p:nvPr>
            <p:ph type="title" idx="103" hasCustomPrompt="1"/>
          </p:nvPr>
        </p:nvSpPr>
        <p:spPr>
          <a:xfrm>
            <a:off x="548640" y="658368"/>
            <a:ext cx="9692640" cy="731520"/>
          </a:xfrm>
          <a:prstGeom prst="rect">
            <a:avLst/>
          </a:prstGeom>
          <a:noFill/>
          <a:ln/>
        </p:spPr>
        <p:txBody>
          <a:bodyPr wrap="square" lIns="0" tIns="0" rIns="0" bIns="0" rtlCol="0" anchor="t"/>
          <a:lstStyle/>
          <a:p>
            <a:pPr marL="0" indent="0" algn="l">
              <a:buNone/>
            </a:pPr>
            <a:r>
              <a:rPr lang="en-US" sz="2800" dirty="0">
                <a:solidFill>
                  <a:srgbClr val="16181D"/>
                </a:solidFill>
              </a:rPr>
              <a:t>A note to Mark and the physicians</a:t>
            </a:r>
            <a:endParaRPr lang="en-US" sz="2800" dirty="0"/>
          </a:p>
        </p:txBody>
      </p:sp>
      <p:sp>
        <p:nvSpPr>
          <p:cNvPr id="4" name="Text 2"/>
          <p:cNvSpPr txBox="1"/>
          <p:nvPr/>
        </p:nvSpPr>
        <p:spPr>
          <a:xfrm>
            <a:off x="548640" y="1600200"/>
            <a:ext cx="3383280" cy="1828800"/>
          </a:xfrm>
          <a:prstGeom prst="rect">
            <a:avLst/>
          </a:prstGeom>
          <a:noFill/>
          <a:ln/>
        </p:spPr>
        <p:txBody>
          <a:bodyPr wrap="square" lIns="0" tIns="0" rIns="0" bIns="0" rtlCol="0" anchor="t"/>
          <a:lstStyle/>
          <a:p>
            <a:pPr marL="0" indent="0">
              <a:lnSpc>
                <a:spcPct val="115000"/>
              </a:lnSpc>
              <a:buNone/>
            </a:pPr>
            <a:r>
              <a:rPr lang="en-US" sz="1100" dirty="0">
                <a:solidFill>
                  <a:schemeClr val="accent3"/>
                </a:solidFill>
              </a:rPr>
              <a:t>October 7, 2026</a:t>
            </a:r>
            <a:endParaRPr lang="en-US" sz="1200" dirty="0"/>
          </a:p>
          <a:p>
            <a:pPr marL="0" indent="0">
              <a:lnSpc>
                <a:spcPct val="115000"/>
              </a:lnSpc>
              <a:buNone/>
            </a:pPr>
            <a:endParaRPr lang="en-US" sz="1200" dirty="0"/>
          </a:p>
          <a:p>
            <a:pPr marL="0" indent="0">
              <a:lnSpc>
                <a:spcPct val="115000"/>
              </a:lnSpc>
              <a:buNone/>
            </a:pPr>
            <a:r>
              <a:rPr lang="en-US" sz="1100" dirty="0">
                <a:solidFill>
                  <a:schemeClr val="accent3"/>
                </a:solidFill>
              </a:rPr>
              <a:t>Mark Williamson, CFO</a:t>
            </a:r>
            <a:endParaRPr lang="en-US" sz="1200" dirty="0"/>
          </a:p>
          <a:p>
            <a:pPr marL="0" indent="0">
              <a:lnSpc>
                <a:spcPct val="115000"/>
              </a:lnSpc>
              <a:buNone/>
            </a:pPr>
            <a:r>
              <a:rPr lang="en-US" sz="1100" dirty="0">
                <a:solidFill>
                  <a:schemeClr val="accent3"/>
                </a:solidFill>
              </a:rPr>
              <a:t>Arizona Center for Hand to Shoulder Surgery</a:t>
            </a:r>
            <a:endParaRPr lang="en-US" sz="1200" dirty="0"/>
          </a:p>
          <a:p>
            <a:pPr marL="0" indent="0">
              <a:lnSpc>
                <a:spcPct val="115000"/>
              </a:lnSpc>
              <a:buNone/>
            </a:pPr>
            <a:r>
              <a:rPr lang="en-US" sz="1100" dirty="0">
                <a:solidFill>
                  <a:schemeClr val="accent3"/>
                </a:solidFill>
              </a:rPr>
              <a:t>370 E Virginia Ave, Ste 100</a:t>
            </a:r>
            <a:endParaRPr lang="en-US" sz="1200" dirty="0"/>
          </a:p>
          <a:p>
            <a:pPr marL="0" indent="0">
              <a:lnSpc>
                <a:spcPct val="115000"/>
              </a:lnSpc>
              <a:buNone/>
            </a:pPr>
            <a:r>
              <a:rPr lang="en-US" sz="1100" dirty="0">
                <a:solidFill>
                  <a:schemeClr val="accent3"/>
                </a:solidFill>
              </a:rPr>
              <a:t>Phoenix, AZ 85004</a:t>
            </a:r>
            <a:endParaRPr lang="en-US" sz="1200" dirty="0"/>
          </a:p>
        </p:txBody>
      </p:sp>
      <p:sp>
        <p:nvSpPr>
          <p:cNvPr id="5" name="Text 3"/>
          <p:cNvSpPr txBox="1"/>
          <p:nvPr/>
        </p:nvSpPr>
        <p:spPr>
          <a:xfrm>
            <a:off x="4023360" y="1600200"/>
            <a:ext cx="7589520" cy="3840480"/>
          </a:xfrm>
          <a:prstGeom prst="rect">
            <a:avLst/>
          </a:prstGeom>
          <a:noFill/>
          <a:ln/>
        </p:spPr>
        <p:txBody>
          <a:bodyPr wrap="square" lIns="0" tIns="0" rIns="0" bIns="0" rtlCol="0" anchor="t"/>
          <a:lstStyle/>
          <a:p>
            <a:pPr marL="0" indent="0">
              <a:lnSpc>
                <a:spcPct val="112000"/>
              </a:lnSpc>
              <a:spcAft>
                <a:spcPts val="1000"/>
              </a:spcAft>
              <a:buNone/>
            </a:pPr>
            <a:r>
              <a:rPr lang="en-US" sz="1250" dirty="0">
                <a:solidFill>
                  <a:schemeClr val="tx1"/>
                </a:solidFill>
              </a:rPr>
              <a:t>Dear Mark,</a:t>
            </a:r>
            <a:endParaRPr lang="en-US" sz="1250" dirty="0"/>
          </a:p>
          <a:p>
            <a:pPr marL="0" indent="0">
              <a:lnSpc>
                <a:spcPct val="112000"/>
              </a:lnSpc>
              <a:spcAft>
                <a:spcPts val="1000"/>
              </a:spcAft>
              <a:buNone/>
            </a:pPr>
            <a:r>
              <a:rPr lang="en-US" sz="1250" dirty="0">
                <a:solidFill>
                  <a:schemeClr val="tx1"/>
                </a:solidFill>
              </a:rPr>
              <a:t>Thank you for the time you gave us on our October 5 call. This proposal accompanies the enclosed engagement letter and describes how Onyx Accounting Group would support Arizona Center for Hand to Shoulder Surgery as you move toward retirement.</a:t>
            </a:r>
            <a:endParaRPr lang="en-US" sz="1250" dirty="0"/>
          </a:p>
          <a:p>
            <a:pPr marL="0" indent="0">
              <a:lnSpc>
                <a:spcPct val="112000"/>
              </a:lnSpc>
              <a:spcAft>
                <a:spcPts val="1000"/>
              </a:spcAft>
              <a:buNone/>
            </a:pPr>
            <a:r>
              <a:rPr lang="en-US" sz="1250" dirty="0">
                <a:solidFill>
                  <a:schemeClr val="tx1"/>
                </a:solidFill>
              </a:rPr>
              <a:t>We have organized it around what we heard. The first priority is continuity: a consistent senior finance contact for the physicians, knowledge transfer from you before you retire, and a monthly close that stays on track across all three entities. Behind that sits the work that needs controller and CFO judgment: physician compensation and the mid-month bonus, revenue-cycle and borrowing-base reporting, less manual work between eClinicalWorks, payroll and QuickBooks Online, and an automation roadmap with review controls.</a:t>
            </a:r>
            <a:endParaRPr lang="en-US" sz="1250" dirty="0"/>
          </a:p>
          <a:p>
            <a:pPr marL="0" indent="0">
              <a:lnSpc>
                <a:spcPct val="112000"/>
              </a:lnSpc>
              <a:spcAft>
                <a:spcPts val="1000"/>
              </a:spcAft>
              <a:buNone/>
            </a:pPr>
            <a:r>
              <a:rPr lang="en-US" sz="1250" dirty="0">
                <a:solidFill>
                  <a:schemeClr val="tx1"/>
                </a:solidFill>
              </a:rPr>
              <a:t>Our fees are hourly at the rates in Section 05. You pay for the hours worked, and you can start with CFO plus controller, controller-led or staff support and change the mix by email. There is no minimum term.</a:t>
            </a:r>
            <a:endParaRPr lang="en-US" sz="1250" dirty="0"/>
          </a:p>
          <a:p>
            <a:pPr marL="0" indent="0">
              <a:lnSpc>
                <a:spcPct val="112000"/>
              </a:lnSpc>
              <a:spcAft>
                <a:spcPts val="1000"/>
              </a:spcAft>
              <a:buNone/>
            </a:pPr>
            <a:r>
              <a:rPr lang="en-US" sz="1250" dirty="0">
                <a:solidFill>
                  <a:schemeClr val="tx1"/>
                </a:solidFill>
              </a:rPr>
              <a:t>We would welcome the opportunity to work with your team and are glad to walk through any part of this proposal before October 16.</a:t>
            </a:r>
            <a:endParaRPr lang="en-US" sz="1250" dirty="0"/>
          </a:p>
        </p:txBody>
      </p:sp>
      <p:sp>
        <p:nvSpPr>
          <p:cNvPr id="6" name="Text 4"/>
          <p:cNvSpPr txBox="1"/>
          <p:nvPr/>
        </p:nvSpPr>
        <p:spPr>
          <a:xfrm>
            <a:off x="4023360" y="5532120"/>
            <a:ext cx="5486400" cy="548640"/>
          </a:xfrm>
          <a:prstGeom prst="rect">
            <a:avLst/>
          </a:prstGeom>
          <a:noFill/>
          <a:ln/>
        </p:spPr>
        <p:txBody>
          <a:bodyPr wrap="square" lIns="0" tIns="0" rIns="0" bIns="0" rtlCol="0" anchor="t"/>
          <a:lstStyle/>
          <a:p>
            <a:pPr marL="0" indent="0">
              <a:buNone/>
            </a:pPr>
            <a:r>
              <a:rPr lang="en-US" sz="1200" b="1" dirty="0">
                <a:solidFill>
                  <a:schemeClr val="tx1"/>
                </a:solidFill>
              </a:rPr>
              <a:t>Steven Nikolov</a:t>
            </a:r>
            <a:endParaRPr lang="en-US" sz="1200" dirty="0"/>
          </a:p>
          <a:p>
            <a:pPr marL="0" indent="0">
              <a:buNone/>
            </a:pPr>
            <a:r>
              <a:rPr lang="en-US" sz="1200" dirty="0">
                <a:solidFill>
                  <a:srgbClr val="5B6472"/>
                </a:solidFill>
              </a:rPr>
              <a:t>Principal, Onyx Accounting Group</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47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body" idx="102" hasCustomPrompt="1"/>
          </p:nvPr>
        </p:nvSpPr>
        <p:spPr>
          <a:xfrm>
            <a:off x="548640" y="384048"/>
            <a:ext cx="8229600" cy="274320"/>
          </a:xfrm>
          <a:prstGeom prst="rect">
            <a:avLst/>
          </a:prstGeom>
          <a:noFill/>
          <a:ln/>
        </p:spPr>
        <p:txBody>
          <a:bodyPr wrap="square" lIns="0" tIns="0" rIns="0" bIns="0" rtlCol="0"/>
          <a:lstStyle/>
          <a:p>
            <a:pPr marL="0" indent="0">
              <a:buNone/>
            </a:pPr>
            <a:r>
              <a:rPr lang="en-US" sz="1100" b="1" kern="0" spc="200" dirty="0">
                <a:solidFill>
                  <a:srgbClr val="AF1F29"/>
                </a:solidFill>
              </a:rPr>
              <a:t>CONTENTS</a:t>
            </a:r>
            <a:endParaRPr lang="en-US" sz="1100" dirty="0"/>
          </a:p>
        </p:txBody>
      </p:sp>
      <p:sp>
        <p:nvSpPr>
          <p:cNvPr id="3" name="Text 1"/>
          <p:cNvSpPr>
            <a:spLocks noGrp="1"/>
          </p:cNvSpPr>
          <p:nvPr>
            <p:ph type="title" idx="103" hasCustomPrompt="1"/>
          </p:nvPr>
        </p:nvSpPr>
        <p:spPr>
          <a:xfrm>
            <a:off x="548640" y="658368"/>
            <a:ext cx="9692640" cy="731520"/>
          </a:xfrm>
          <a:prstGeom prst="rect">
            <a:avLst/>
          </a:prstGeom>
          <a:noFill/>
          <a:ln/>
        </p:spPr>
        <p:txBody>
          <a:bodyPr wrap="square" lIns="0" tIns="0" rIns="0" bIns="0" rtlCol="0" anchor="t"/>
          <a:lstStyle/>
          <a:p>
            <a:pPr marL="0" indent="0" algn="l">
              <a:buNone/>
            </a:pPr>
            <a:r>
              <a:rPr lang="en-US" sz="2800" dirty="0">
                <a:solidFill>
                  <a:srgbClr val="16181D"/>
                </a:solidFill>
              </a:rPr>
              <a:t>What this proposal covers</a:t>
            </a:r>
            <a:endParaRPr lang="en-US" sz="2800" dirty="0"/>
          </a:p>
        </p:txBody>
      </p:sp>
      <p:sp>
        <p:nvSpPr>
          <p:cNvPr id="4" name="contents 01"/>
          <p:cNvSpPr/>
          <p:nvPr/>
        </p:nvSpPr>
        <p:spPr>
          <a:xfrm>
            <a:off x="548640" y="1737360"/>
            <a:ext cx="5349240" cy="1188720"/>
          </a:xfrm>
          <a:prstGeom prst="rect">
            <a:avLst/>
          </a:prstGeom>
          <a:solidFill>
            <a:schemeClr val="accent5"/>
          </a:solidFill>
          <a:ln w="9525">
            <a:solidFill>
              <a:srgbClr val="D5D9E0"/>
            </a:solidFill>
            <a:prstDash val="solid"/>
          </a:ln>
        </p:spPr>
        <p:txBody>
          <a:bodyPr/>
          <a:lstStyle/>
          <a:p>
            <a:endParaRPr lang="en-US"/>
          </a:p>
        </p:txBody>
      </p:sp>
      <p:sp>
        <p:nvSpPr>
          <p:cNvPr id="5" name="Text 3"/>
          <p:cNvSpPr txBox="1"/>
          <p:nvPr/>
        </p:nvSpPr>
        <p:spPr>
          <a:xfrm>
            <a:off x="777240" y="2011680"/>
            <a:ext cx="914400" cy="640080"/>
          </a:xfrm>
          <a:prstGeom prst="rect">
            <a:avLst/>
          </a:prstGeom>
          <a:noFill/>
          <a:ln/>
        </p:spPr>
        <p:txBody>
          <a:bodyPr wrap="square" lIns="0" tIns="0" rIns="0" bIns="0" rtlCol="0" anchor="t"/>
          <a:lstStyle/>
          <a:p>
            <a:pPr marL="0" indent="0">
              <a:buNone/>
            </a:pPr>
            <a:r>
              <a:rPr lang="en-US" sz="3000" b="1" dirty="0">
                <a:solidFill>
                  <a:schemeClr val="accent4"/>
                </a:solidFill>
                <a:latin typeface="Cambria" pitchFamily="34" charset="0"/>
                <a:ea typeface="Cambria" pitchFamily="34" charset="-122"/>
                <a:cs typeface="Cambria" pitchFamily="34" charset="-120"/>
              </a:rPr>
              <a:t>01</a:t>
            </a:r>
            <a:endParaRPr lang="en-US" sz="3000" dirty="0"/>
          </a:p>
        </p:txBody>
      </p:sp>
      <p:sp>
        <p:nvSpPr>
          <p:cNvPr id="6" name="Text 4"/>
          <p:cNvSpPr txBox="1"/>
          <p:nvPr/>
        </p:nvSpPr>
        <p:spPr>
          <a:xfrm>
            <a:off x="1737360" y="1965960"/>
            <a:ext cx="4023360" cy="365760"/>
          </a:xfrm>
          <a:prstGeom prst="rect">
            <a:avLst/>
          </a:prstGeom>
          <a:noFill/>
          <a:ln/>
        </p:spPr>
        <p:txBody>
          <a:bodyPr wrap="square" lIns="0" tIns="0" rIns="0" bIns="0" rtlCol="0" anchor="t"/>
          <a:lstStyle/>
          <a:p>
            <a:pPr marL="0" indent="0">
              <a:buNone/>
            </a:pPr>
            <a:r>
              <a:rPr lang="en-US" sz="1500" b="1" dirty="0">
                <a:solidFill>
                  <a:schemeClr val="tx2"/>
                </a:solidFill>
                <a:latin typeface="Cambria" pitchFamily="34" charset="0"/>
                <a:ea typeface="Cambria" pitchFamily="34" charset="-122"/>
                <a:cs typeface="Cambria" pitchFamily="34" charset="-120"/>
              </a:rPr>
              <a:t>Who we are</a:t>
            </a:r>
            <a:endParaRPr lang="en-US" sz="1500" dirty="0"/>
          </a:p>
        </p:txBody>
      </p:sp>
      <p:sp>
        <p:nvSpPr>
          <p:cNvPr id="7" name="Text 5"/>
          <p:cNvSpPr txBox="1"/>
          <p:nvPr/>
        </p:nvSpPr>
        <p:spPr>
          <a:xfrm>
            <a:off x="1737360" y="2331720"/>
            <a:ext cx="4023360" cy="548640"/>
          </a:xfrm>
          <a:prstGeom prst="rect">
            <a:avLst/>
          </a:prstGeom>
          <a:noFill/>
          <a:ln/>
        </p:spPr>
        <p:txBody>
          <a:bodyPr wrap="square" lIns="0" tIns="0" rIns="0" bIns="0" rtlCol="0" anchor="t"/>
          <a:lstStyle/>
          <a:p>
            <a:pPr marL="0" indent="0">
              <a:buNone/>
            </a:pPr>
            <a:r>
              <a:rPr lang="en-US" sz="1150" dirty="0">
                <a:solidFill>
                  <a:schemeClr val="accent3"/>
                </a:solidFill>
              </a:rPr>
              <a:t>The firm, how we staff an engagement, and your engagement team</a:t>
            </a:r>
            <a:endParaRPr lang="en-US" sz="1150" dirty="0"/>
          </a:p>
        </p:txBody>
      </p:sp>
      <p:sp>
        <p:nvSpPr>
          <p:cNvPr id="8" name="contents 02"/>
          <p:cNvSpPr/>
          <p:nvPr/>
        </p:nvSpPr>
        <p:spPr>
          <a:xfrm>
            <a:off x="548640" y="3154680"/>
            <a:ext cx="5349240" cy="1188720"/>
          </a:xfrm>
          <a:prstGeom prst="rect">
            <a:avLst/>
          </a:prstGeom>
          <a:solidFill>
            <a:schemeClr val="accent5"/>
          </a:solidFill>
          <a:ln w="9525">
            <a:solidFill>
              <a:srgbClr val="D5D9E0"/>
            </a:solidFill>
            <a:prstDash val="solid"/>
          </a:ln>
        </p:spPr>
        <p:txBody>
          <a:bodyPr/>
          <a:lstStyle/>
          <a:p>
            <a:endParaRPr lang="en-US"/>
          </a:p>
        </p:txBody>
      </p:sp>
      <p:sp>
        <p:nvSpPr>
          <p:cNvPr id="9" name="Text 7"/>
          <p:cNvSpPr txBox="1"/>
          <p:nvPr/>
        </p:nvSpPr>
        <p:spPr>
          <a:xfrm>
            <a:off x="777240" y="3429000"/>
            <a:ext cx="914400" cy="640080"/>
          </a:xfrm>
          <a:prstGeom prst="rect">
            <a:avLst/>
          </a:prstGeom>
          <a:noFill/>
          <a:ln/>
        </p:spPr>
        <p:txBody>
          <a:bodyPr wrap="square" lIns="0" tIns="0" rIns="0" bIns="0" rtlCol="0" anchor="t"/>
          <a:lstStyle/>
          <a:p>
            <a:pPr marL="0" indent="0">
              <a:buNone/>
            </a:pPr>
            <a:r>
              <a:rPr lang="en-US" sz="3000" b="1" dirty="0">
                <a:solidFill>
                  <a:schemeClr val="accent4"/>
                </a:solidFill>
                <a:latin typeface="Cambria" pitchFamily="34" charset="0"/>
                <a:ea typeface="Cambria" pitchFamily="34" charset="-122"/>
                <a:cs typeface="Cambria" pitchFamily="34" charset="-120"/>
              </a:rPr>
              <a:t>02</a:t>
            </a:r>
            <a:endParaRPr lang="en-US" sz="3000" dirty="0"/>
          </a:p>
        </p:txBody>
      </p:sp>
      <p:sp>
        <p:nvSpPr>
          <p:cNvPr id="10" name="Text 8"/>
          <p:cNvSpPr txBox="1"/>
          <p:nvPr/>
        </p:nvSpPr>
        <p:spPr>
          <a:xfrm>
            <a:off x="1737360" y="3383280"/>
            <a:ext cx="4023360" cy="365760"/>
          </a:xfrm>
          <a:prstGeom prst="rect">
            <a:avLst/>
          </a:prstGeom>
          <a:noFill/>
          <a:ln/>
        </p:spPr>
        <p:txBody>
          <a:bodyPr wrap="square" lIns="0" tIns="0" rIns="0" bIns="0" rtlCol="0" anchor="t"/>
          <a:lstStyle/>
          <a:p>
            <a:pPr marL="0" indent="0">
              <a:buNone/>
            </a:pPr>
            <a:r>
              <a:rPr lang="en-US" sz="1500" b="1" dirty="0">
                <a:solidFill>
                  <a:schemeClr val="tx2"/>
                </a:solidFill>
                <a:latin typeface="Cambria" pitchFamily="34" charset="0"/>
                <a:ea typeface="Cambria" pitchFamily="34" charset="-122"/>
                <a:cs typeface="Cambria" pitchFamily="34" charset="-120"/>
              </a:rPr>
              <a:t>What we can help with</a:t>
            </a:r>
            <a:endParaRPr lang="en-US" sz="1500" dirty="0"/>
          </a:p>
        </p:txBody>
      </p:sp>
      <p:sp>
        <p:nvSpPr>
          <p:cNvPr id="11" name="Text 9"/>
          <p:cNvSpPr txBox="1"/>
          <p:nvPr/>
        </p:nvSpPr>
        <p:spPr>
          <a:xfrm>
            <a:off x="1737360" y="3749040"/>
            <a:ext cx="4023360" cy="548640"/>
          </a:xfrm>
          <a:prstGeom prst="rect">
            <a:avLst/>
          </a:prstGeom>
          <a:noFill/>
          <a:ln/>
        </p:spPr>
        <p:txBody>
          <a:bodyPr wrap="square" lIns="0" tIns="0" rIns="0" bIns="0" rtlCol="0" anchor="t"/>
          <a:lstStyle/>
          <a:p>
            <a:pPr marL="0" indent="0">
              <a:buNone/>
            </a:pPr>
            <a:r>
              <a:rPr lang="en-US" sz="1150" dirty="0">
                <a:solidFill>
                  <a:schemeClr val="accent3"/>
                </a:solidFill>
              </a:rPr>
              <a:t>Our understanding of the practice, the services proposed, and how we will work together</a:t>
            </a:r>
            <a:endParaRPr lang="en-US" sz="1150" dirty="0"/>
          </a:p>
        </p:txBody>
      </p:sp>
      <p:sp>
        <p:nvSpPr>
          <p:cNvPr id="12" name="contents 03"/>
          <p:cNvSpPr/>
          <p:nvPr/>
        </p:nvSpPr>
        <p:spPr>
          <a:xfrm>
            <a:off x="548640" y="4572000"/>
            <a:ext cx="5349240" cy="1188720"/>
          </a:xfrm>
          <a:prstGeom prst="rect">
            <a:avLst/>
          </a:prstGeom>
          <a:solidFill>
            <a:schemeClr val="accent5"/>
          </a:solidFill>
          <a:ln w="9525">
            <a:solidFill>
              <a:srgbClr val="D5D9E0"/>
            </a:solidFill>
            <a:prstDash val="solid"/>
          </a:ln>
        </p:spPr>
        <p:txBody>
          <a:bodyPr/>
          <a:lstStyle/>
          <a:p>
            <a:endParaRPr lang="en-US"/>
          </a:p>
        </p:txBody>
      </p:sp>
      <p:sp>
        <p:nvSpPr>
          <p:cNvPr id="13" name="Text 11"/>
          <p:cNvSpPr txBox="1"/>
          <p:nvPr/>
        </p:nvSpPr>
        <p:spPr>
          <a:xfrm>
            <a:off x="777240" y="4846320"/>
            <a:ext cx="914400" cy="640080"/>
          </a:xfrm>
          <a:prstGeom prst="rect">
            <a:avLst/>
          </a:prstGeom>
          <a:noFill/>
          <a:ln/>
        </p:spPr>
        <p:txBody>
          <a:bodyPr wrap="square" lIns="0" tIns="0" rIns="0" bIns="0" rtlCol="0" anchor="t"/>
          <a:lstStyle/>
          <a:p>
            <a:pPr marL="0" indent="0">
              <a:buNone/>
            </a:pPr>
            <a:r>
              <a:rPr lang="en-US" sz="3000" b="1" dirty="0">
                <a:solidFill>
                  <a:schemeClr val="accent4"/>
                </a:solidFill>
                <a:latin typeface="Cambria" pitchFamily="34" charset="0"/>
                <a:ea typeface="Cambria" pitchFamily="34" charset="-122"/>
                <a:cs typeface="Cambria" pitchFamily="34" charset="-120"/>
              </a:rPr>
              <a:t>03</a:t>
            </a:r>
            <a:endParaRPr lang="en-US" sz="3000" dirty="0"/>
          </a:p>
        </p:txBody>
      </p:sp>
      <p:sp>
        <p:nvSpPr>
          <p:cNvPr id="14" name="Text 12"/>
          <p:cNvSpPr txBox="1"/>
          <p:nvPr/>
        </p:nvSpPr>
        <p:spPr>
          <a:xfrm>
            <a:off x="1737360" y="4800600"/>
            <a:ext cx="4023360" cy="365760"/>
          </a:xfrm>
          <a:prstGeom prst="rect">
            <a:avLst/>
          </a:prstGeom>
          <a:noFill/>
          <a:ln/>
        </p:spPr>
        <p:txBody>
          <a:bodyPr wrap="square" lIns="0" tIns="0" rIns="0" bIns="0" rtlCol="0" anchor="t"/>
          <a:lstStyle/>
          <a:p>
            <a:pPr marL="0" indent="0">
              <a:buNone/>
            </a:pPr>
            <a:r>
              <a:rPr lang="en-US" sz="1500" b="1" dirty="0">
                <a:solidFill>
                  <a:schemeClr val="tx2"/>
                </a:solidFill>
                <a:latin typeface="Cambria" pitchFamily="34" charset="0"/>
                <a:ea typeface="Cambria" pitchFamily="34" charset="-122"/>
                <a:cs typeface="Cambria" pitchFamily="34" charset="-120"/>
              </a:rPr>
              <a:t>Engagement timeline</a:t>
            </a:r>
            <a:endParaRPr lang="en-US" sz="1500" dirty="0"/>
          </a:p>
        </p:txBody>
      </p:sp>
      <p:sp>
        <p:nvSpPr>
          <p:cNvPr id="15" name="Text 13"/>
          <p:cNvSpPr txBox="1"/>
          <p:nvPr/>
        </p:nvSpPr>
        <p:spPr>
          <a:xfrm>
            <a:off x="1737360" y="5166360"/>
            <a:ext cx="4023360" cy="548640"/>
          </a:xfrm>
          <a:prstGeom prst="rect">
            <a:avLst/>
          </a:prstGeom>
          <a:noFill/>
          <a:ln/>
        </p:spPr>
        <p:txBody>
          <a:bodyPr wrap="square" lIns="0" tIns="0" rIns="0" bIns="0" rtlCol="0" anchor="t"/>
          <a:lstStyle/>
          <a:p>
            <a:pPr marL="0" indent="0">
              <a:buNone/>
            </a:pPr>
            <a:r>
              <a:rPr lang="en-US" sz="1150" dirty="0">
                <a:solidFill>
                  <a:schemeClr val="accent3"/>
                </a:solidFill>
              </a:rPr>
              <a:t>Key dates from kickoff through April 2027</a:t>
            </a:r>
            <a:endParaRPr lang="en-US" sz="1150" dirty="0"/>
          </a:p>
        </p:txBody>
      </p:sp>
      <p:sp>
        <p:nvSpPr>
          <p:cNvPr id="16" name="contents 04"/>
          <p:cNvSpPr/>
          <p:nvPr/>
        </p:nvSpPr>
        <p:spPr>
          <a:xfrm>
            <a:off x="6263640" y="1737360"/>
            <a:ext cx="5349240" cy="1188720"/>
          </a:xfrm>
          <a:prstGeom prst="rect">
            <a:avLst/>
          </a:prstGeom>
          <a:solidFill>
            <a:schemeClr val="accent5"/>
          </a:solidFill>
          <a:ln w="9525">
            <a:solidFill>
              <a:srgbClr val="D5D9E0"/>
            </a:solidFill>
            <a:prstDash val="solid"/>
          </a:ln>
        </p:spPr>
        <p:txBody>
          <a:bodyPr/>
          <a:lstStyle/>
          <a:p>
            <a:endParaRPr lang="en-US"/>
          </a:p>
        </p:txBody>
      </p:sp>
      <p:sp>
        <p:nvSpPr>
          <p:cNvPr id="17" name="Text 15"/>
          <p:cNvSpPr txBox="1"/>
          <p:nvPr/>
        </p:nvSpPr>
        <p:spPr>
          <a:xfrm>
            <a:off x="6492240" y="2011680"/>
            <a:ext cx="914400" cy="640080"/>
          </a:xfrm>
          <a:prstGeom prst="rect">
            <a:avLst/>
          </a:prstGeom>
          <a:noFill/>
          <a:ln/>
        </p:spPr>
        <p:txBody>
          <a:bodyPr wrap="square" lIns="0" tIns="0" rIns="0" bIns="0" rtlCol="0" anchor="t"/>
          <a:lstStyle/>
          <a:p>
            <a:pPr marL="0" indent="0">
              <a:buNone/>
            </a:pPr>
            <a:r>
              <a:rPr lang="en-US" sz="3000" b="1" dirty="0">
                <a:solidFill>
                  <a:schemeClr val="accent4"/>
                </a:solidFill>
                <a:latin typeface="Cambria" pitchFamily="34" charset="0"/>
                <a:ea typeface="Cambria" pitchFamily="34" charset="-122"/>
                <a:cs typeface="Cambria" pitchFamily="34" charset="-120"/>
              </a:rPr>
              <a:t>04</a:t>
            </a:r>
            <a:endParaRPr lang="en-US" sz="3000" dirty="0"/>
          </a:p>
        </p:txBody>
      </p:sp>
      <p:sp>
        <p:nvSpPr>
          <p:cNvPr id="18" name="Text 16"/>
          <p:cNvSpPr txBox="1"/>
          <p:nvPr/>
        </p:nvSpPr>
        <p:spPr>
          <a:xfrm>
            <a:off x="7452360" y="1965960"/>
            <a:ext cx="4023360" cy="365760"/>
          </a:xfrm>
          <a:prstGeom prst="rect">
            <a:avLst/>
          </a:prstGeom>
          <a:noFill/>
          <a:ln/>
        </p:spPr>
        <p:txBody>
          <a:bodyPr wrap="square" lIns="0" tIns="0" rIns="0" bIns="0" rtlCol="0" anchor="t"/>
          <a:lstStyle/>
          <a:p>
            <a:pPr marL="0" indent="0">
              <a:buNone/>
            </a:pPr>
            <a:r>
              <a:rPr lang="en-US" sz="1500" b="1" dirty="0">
                <a:solidFill>
                  <a:schemeClr val="tx2"/>
                </a:solidFill>
                <a:latin typeface="Cambria" pitchFamily="34" charset="0"/>
                <a:ea typeface="Cambria" pitchFamily="34" charset="-122"/>
                <a:cs typeface="Cambria" pitchFamily="34" charset="-120"/>
              </a:rPr>
              <a:t>30/60/90-day plan</a:t>
            </a:r>
            <a:endParaRPr lang="en-US" sz="1500" dirty="0"/>
          </a:p>
        </p:txBody>
      </p:sp>
      <p:sp>
        <p:nvSpPr>
          <p:cNvPr id="19" name="Text 17"/>
          <p:cNvSpPr txBox="1"/>
          <p:nvPr/>
        </p:nvSpPr>
        <p:spPr>
          <a:xfrm>
            <a:off x="7452360" y="2331720"/>
            <a:ext cx="4023360" cy="548640"/>
          </a:xfrm>
          <a:prstGeom prst="rect">
            <a:avLst/>
          </a:prstGeom>
          <a:noFill/>
          <a:ln/>
        </p:spPr>
        <p:txBody>
          <a:bodyPr wrap="square" lIns="0" tIns="0" rIns="0" bIns="0" rtlCol="0" anchor="t"/>
          <a:lstStyle/>
          <a:p>
            <a:pPr marL="0" indent="0">
              <a:buNone/>
            </a:pPr>
            <a:r>
              <a:rPr lang="en-US" sz="1150" dirty="0">
                <a:solidFill>
                  <a:schemeClr val="accent3"/>
                </a:solidFill>
              </a:rPr>
              <a:t>What happens in each phase and what you receive at each checkpoint</a:t>
            </a:r>
            <a:endParaRPr lang="en-US" sz="1150" dirty="0"/>
          </a:p>
        </p:txBody>
      </p:sp>
      <p:sp>
        <p:nvSpPr>
          <p:cNvPr id="20" name="contents 05"/>
          <p:cNvSpPr/>
          <p:nvPr/>
        </p:nvSpPr>
        <p:spPr>
          <a:xfrm>
            <a:off x="6263640" y="3154680"/>
            <a:ext cx="5349240" cy="1188720"/>
          </a:xfrm>
          <a:prstGeom prst="rect">
            <a:avLst/>
          </a:prstGeom>
          <a:solidFill>
            <a:schemeClr val="accent5"/>
          </a:solidFill>
          <a:ln w="9525">
            <a:solidFill>
              <a:srgbClr val="D5D9E0"/>
            </a:solidFill>
            <a:prstDash val="solid"/>
          </a:ln>
        </p:spPr>
        <p:txBody>
          <a:bodyPr/>
          <a:lstStyle/>
          <a:p>
            <a:endParaRPr lang="en-US"/>
          </a:p>
        </p:txBody>
      </p:sp>
      <p:sp>
        <p:nvSpPr>
          <p:cNvPr id="21" name="Text 19"/>
          <p:cNvSpPr txBox="1"/>
          <p:nvPr/>
        </p:nvSpPr>
        <p:spPr>
          <a:xfrm>
            <a:off x="6492240" y="3429000"/>
            <a:ext cx="914400" cy="640080"/>
          </a:xfrm>
          <a:prstGeom prst="rect">
            <a:avLst/>
          </a:prstGeom>
          <a:noFill/>
          <a:ln/>
        </p:spPr>
        <p:txBody>
          <a:bodyPr wrap="square" lIns="0" tIns="0" rIns="0" bIns="0" rtlCol="0" anchor="t"/>
          <a:lstStyle/>
          <a:p>
            <a:pPr marL="0" indent="0">
              <a:buNone/>
            </a:pPr>
            <a:r>
              <a:rPr lang="en-US" sz="3000" b="1" dirty="0">
                <a:solidFill>
                  <a:schemeClr val="accent4"/>
                </a:solidFill>
                <a:latin typeface="Cambria" pitchFamily="34" charset="0"/>
                <a:ea typeface="Cambria" pitchFamily="34" charset="-122"/>
                <a:cs typeface="Cambria" pitchFamily="34" charset="-120"/>
              </a:rPr>
              <a:t>05</a:t>
            </a:r>
            <a:endParaRPr lang="en-US" sz="3000" dirty="0"/>
          </a:p>
        </p:txBody>
      </p:sp>
      <p:sp>
        <p:nvSpPr>
          <p:cNvPr id="22" name="Text 20"/>
          <p:cNvSpPr txBox="1"/>
          <p:nvPr/>
        </p:nvSpPr>
        <p:spPr>
          <a:xfrm>
            <a:off x="7452360" y="3383280"/>
            <a:ext cx="4023360" cy="365760"/>
          </a:xfrm>
          <a:prstGeom prst="rect">
            <a:avLst/>
          </a:prstGeom>
          <a:noFill/>
          <a:ln/>
        </p:spPr>
        <p:txBody>
          <a:bodyPr wrap="square" lIns="0" tIns="0" rIns="0" bIns="0" rtlCol="0" anchor="t"/>
          <a:lstStyle/>
          <a:p>
            <a:pPr marL="0" indent="0">
              <a:buNone/>
            </a:pPr>
            <a:r>
              <a:rPr lang="en-US" sz="1500" b="1" dirty="0">
                <a:solidFill>
                  <a:schemeClr val="tx2"/>
                </a:solidFill>
                <a:latin typeface="Cambria" pitchFamily="34" charset="0"/>
                <a:ea typeface="Cambria" pitchFamily="34" charset="-122"/>
                <a:cs typeface="Cambria" pitchFamily="34" charset="-120"/>
              </a:rPr>
              <a:t>Proposed fees</a:t>
            </a:r>
            <a:endParaRPr lang="en-US" sz="1500" dirty="0"/>
          </a:p>
        </p:txBody>
      </p:sp>
      <p:sp>
        <p:nvSpPr>
          <p:cNvPr id="23" name="Text 21"/>
          <p:cNvSpPr txBox="1"/>
          <p:nvPr/>
        </p:nvSpPr>
        <p:spPr>
          <a:xfrm>
            <a:off x="7452360" y="3749040"/>
            <a:ext cx="4023360" cy="548640"/>
          </a:xfrm>
          <a:prstGeom prst="rect">
            <a:avLst/>
          </a:prstGeom>
          <a:noFill/>
          <a:ln/>
        </p:spPr>
        <p:txBody>
          <a:bodyPr wrap="square" lIns="0" tIns="0" rIns="0" bIns="0" rtlCol="0" anchor="t"/>
          <a:lstStyle/>
          <a:p>
            <a:pPr marL="0" indent="0">
              <a:buNone/>
            </a:pPr>
            <a:r>
              <a:rPr lang="en-US" sz="1150" dirty="0">
                <a:solidFill>
                  <a:schemeClr val="accent3"/>
                </a:solidFill>
              </a:rPr>
              <a:t>Hourly rates, billing terms and how we manage the budget</a:t>
            </a:r>
            <a:endParaRPr lang="en-US" sz="1150" dirty="0"/>
          </a:p>
        </p:txBody>
      </p:sp>
      <p:sp>
        <p:nvSpPr>
          <p:cNvPr id="24" name="contents 06"/>
          <p:cNvSpPr/>
          <p:nvPr/>
        </p:nvSpPr>
        <p:spPr>
          <a:xfrm>
            <a:off x="6263640" y="4572000"/>
            <a:ext cx="5349240" cy="1188720"/>
          </a:xfrm>
          <a:prstGeom prst="rect">
            <a:avLst/>
          </a:prstGeom>
          <a:solidFill>
            <a:schemeClr val="accent5"/>
          </a:solidFill>
          <a:ln w="9525">
            <a:solidFill>
              <a:srgbClr val="D5D9E0"/>
            </a:solidFill>
            <a:prstDash val="solid"/>
          </a:ln>
        </p:spPr>
        <p:txBody>
          <a:bodyPr/>
          <a:lstStyle/>
          <a:p>
            <a:endParaRPr lang="en-US"/>
          </a:p>
        </p:txBody>
      </p:sp>
      <p:sp>
        <p:nvSpPr>
          <p:cNvPr id="25" name="Text 23"/>
          <p:cNvSpPr txBox="1"/>
          <p:nvPr/>
        </p:nvSpPr>
        <p:spPr>
          <a:xfrm>
            <a:off x="6492240" y="4846320"/>
            <a:ext cx="914400" cy="640080"/>
          </a:xfrm>
          <a:prstGeom prst="rect">
            <a:avLst/>
          </a:prstGeom>
          <a:noFill/>
          <a:ln/>
        </p:spPr>
        <p:txBody>
          <a:bodyPr wrap="square" lIns="0" tIns="0" rIns="0" bIns="0" rtlCol="0" anchor="t"/>
          <a:lstStyle/>
          <a:p>
            <a:pPr marL="0" indent="0">
              <a:buNone/>
            </a:pPr>
            <a:r>
              <a:rPr lang="en-US" sz="3000" b="1" dirty="0">
                <a:solidFill>
                  <a:schemeClr val="accent4"/>
                </a:solidFill>
                <a:latin typeface="Cambria" pitchFamily="34" charset="0"/>
                <a:ea typeface="Cambria" pitchFamily="34" charset="-122"/>
                <a:cs typeface="Cambria" pitchFamily="34" charset="-120"/>
              </a:rPr>
              <a:t>06</a:t>
            </a:r>
            <a:endParaRPr lang="en-US" sz="3000" dirty="0"/>
          </a:p>
        </p:txBody>
      </p:sp>
      <p:sp>
        <p:nvSpPr>
          <p:cNvPr id="26" name="Text 24"/>
          <p:cNvSpPr txBox="1"/>
          <p:nvPr/>
        </p:nvSpPr>
        <p:spPr>
          <a:xfrm>
            <a:off x="7452360" y="4800600"/>
            <a:ext cx="4023360" cy="365760"/>
          </a:xfrm>
          <a:prstGeom prst="rect">
            <a:avLst/>
          </a:prstGeom>
          <a:noFill/>
          <a:ln/>
        </p:spPr>
        <p:txBody>
          <a:bodyPr wrap="square" lIns="0" tIns="0" rIns="0" bIns="0" rtlCol="0" anchor="t"/>
          <a:lstStyle/>
          <a:p>
            <a:pPr marL="0" indent="0">
              <a:buNone/>
            </a:pPr>
            <a:r>
              <a:rPr lang="en-US" sz="1500" b="1" dirty="0">
                <a:solidFill>
                  <a:schemeClr val="tx2"/>
                </a:solidFill>
                <a:latin typeface="Cambria" pitchFamily="34" charset="0"/>
                <a:ea typeface="Cambria" pitchFamily="34" charset="-122"/>
                <a:cs typeface="Cambria" pitchFamily="34" charset="-120"/>
              </a:rPr>
              <a:t>Why ONYX and next steps</a:t>
            </a:r>
            <a:endParaRPr lang="en-US" sz="1500" dirty="0"/>
          </a:p>
        </p:txBody>
      </p:sp>
      <p:sp>
        <p:nvSpPr>
          <p:cNvPr id="27" name="Text 25"/>
          <p:cNvSpPr txBox="1"/>
          <p:nvPr/>
        </p:nvSpPr>
        <p:spPr>
          <a:xfrm>
            <a:off x="7452360" y="5166360"/>
            <a:ext cx="4023360" cy="548640"/>
          </a:xfrm>
          <a:prstGeom prst="rect">
            <a:avLst/>
          </a:prstGeom>
          <a:noFill/>
          <a:ln/>
        </p:spPr>
        <p:txBody>
          <a:bodyPr wrap="square" lIns="0" tIns="0" rIns="0" bIns="0" rtlCol="0" anchor="t"/>
          <a:lstStyle/>
          <a:p>
            <a:pPr marL="0" indent="0">
              <a:buNone/>
            </a:pPr>
            <a:r>
              <a:rPr lang="en-US" sz="1150" dirty="0">
                <a:solidFill>
                  <a:schemeClr val="accent3"/>
                </a:solidFill>
              </a:rPr>
              <a:t>What a team gives you that a single hire cannot, and how we start</a:t>
            </a:r>
            <a:endParaRPr lang="en-US" sz="1150" dirty="0"/>
          </a:p>
        </p:txBody>
      </p:sp>
      <p:sp>
        <p:nvSpPr>
          <p:cNvPr id="28"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47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body" idx="102" hasCustomPrompt="1"/>
          </p:nvPr>
        </p:nvSpPr>
        <p:spPr>
          <a:xfrm>
            <a:off x="548640" y="384048"/>
            <a:ext cx="8229600" cy="274320"/>
          </a:xfrm>
          <a:prstGeom prst="rect">
            <a:avLst/>
          </a:prstGeom>
          <a:noFill/>
          <a:ln/>
        </p:spPr>
        <p:txBody>
          <a:bodyPr wrap="square" lIns="0" tIns="0" rIns="0" bIns="0" rtlCol="0"/>
          <a:lstStyle/>
          <a:p>
            <a:pPr marL="0" indent="0">
              <a:buNone/>
            </a:pPr>
            <a:r>
              <a:rPr lang="en-US" sz="1100" b="1" kern="0" spc="200" dirty="0">
                <a:solidFill>
                  <a:srgbClr val="AF1F29"/>
                </a:solidFill>
              </a:rPr>
              <a:t>01  WHO WE ARE</a:t>
            </a:r>
            <a:endParaRPr lang="en-US" sz="1100" dirty="0"/>
          </a:p>
        </p:txBody>
      </p:sp>
      <p:sp>
        <p:nvSpPr>
          <p:cNvPr id="3" name="Text 1"/>
          <p:cNvSpPr>
            <a:spLocks noGrp="1"/>
          </p:cNvSpPr>
          <p:nvPr>
            <p:ph type="title" idx="103" hasCustomPrompt="1"/>
          </p:nvPr>
        </p:nvSpPr>
        <p:spPr>
          <a:xfrm>
            <a:off x="548640" y="658368"/>
            <a:ext cx="9692640" cy="731520"/>
          </a:xfrm>
          <a:prstGeom prst="rect">
            <a:avLst/>
          </a:prstGeom>
          <a:noFill/>
          <a:ln/>
        </p:spPr>
        <p:txBody>
          <a:bodyPr wrap="square" lIns="0" tIns="0" rIns="0" bIns="0" rtlCol="0" anchor="t"/>
          <a:lstStyle/>
          <a:p>
            <a:pPr marL="0" indent="0" algn="l">
              <a:buNone/>
            </a:pPr>
            <a:r>
              <a:rPr lang="en-US" sz="2800" dirty="0">
                <a:solidFill>
                  <a:srgbClr val="16181D"/>
                </a:solidFill>
              </a:rPr>
              <a:t>Onyx Accounting Group</a:t>
            </a:r>
            <a:endParaRPr lang="en-US" sz="2800" dirty="0"/>
          </a:p>
        </p:txBody>
      </p:sp>
      <p:sp>
        <p:nvSpPr>
          <p:cNvPr id="4" name="Text 2"/>
          <p:cNvSpPr txBox="1"/>
          <p:nvPr/>
        </p:nvSpPr>
        <p:spPr>
          <a:xfrm>
            <a:off x="548640" y="1600200"/>
            <a:ext cx="5486400" cy="1554480"/>
          </a:xfrm>
          <a:prstGeom prst="rect">
            <a:avLst/>
          </a:prstGeom>
          <a:noFill/>
          <a:ln/>
        </p:spPr>
        <p:txBody>
          <a:bodyPr wrap="square" lIns="0" tIns="0" rIns="0" bIns="0" rtlCol="0" anchor="t"/>
          <a:lstStyle/>
          <a:p>
            <a:pPr marL="0" indent="0">
              <a:lnSpc>
                <a:spcPct val="112000"/>
              </a:lnSpc>
              <a:buNone/>
            </a:pPr>
            <a:r>
              <a:rPr lang="en-US" sz="1250" dirty="0">
                <a:solidFill>
                  <a:schemeClr val="tx1"/>
                </a:solidFill>
              </a:rPr>
              <a:t>Onyx Accounting Group is a Scottsdale, Arizona accounting firm that provides bookkeeping, controller and CFO services to privately held companies. We are an Elite Level Partner of Intuit (QuickBooks Online) and work inside our clients' own systems as an extension of their finance team, covering the full range from transaction detail to the owner's table.</a:t>
            </a:r>
            <a:endParaRPr lang="en-US" sz="1250" dirty="0"/>
          </a:p>
        </p:txBody>
      </p:sp>
      <p:sp>
        <p:nvSpPr>
          <p:cNvPr id="5" name="dot Big-firm background"/>
          <p:cNvSpPr/>
          <p:nvPr/>
        </p:nvSpPr>
        <p:spPr>
          <a:xfrm>
            <a:off x="548640" y="3383280"/>
            <a:ext cx="384048" cy="384048"/>
          </a:xfrm>
          <a:prstGeom prst="ellipse">
            <a:avLst/>
          </a:prstGeom>
          <a:solidFill>
            <a:schemeClr val="accent1"/>
          </a:solidFill>
          <a:ln w="12700">
            <a:solidFill>
              <a:srgbClr val="1B2A49"/>
            </a:solidFill>
            <a:prstDash val="solid"/>
          </a:ln>
        </p:spPr>
        <p:txBody>
          <a:bodyPr/>
          <a:lstStyle/>
          <a:p>
            <a:endParaRPr lang="en-US"/>
          </a:p>
        </p:txBody>
      </p:sp>
      <p:sp>
        <p:nvSpPr>
          <p:cNvPr id="6" name="Text 4"/>
          <p:cNvSpPr txBox="1"/>
          <p:nvPr/>
        </p:nvSpPr>
        <p:spPr>
          <a:xfrm>
            <a:off x="548640" y="3383280"/>
            <a:ext cx="384048" cy="384048"/>
          </a:xfrm>
          <a:prstGeom prst="rect">
            <a:avLst/>
          </a:prstGeom>
          <a:noFill/>
          <a:ln/>
        </p:spPr>
        <p:txBody>
          <a:bodyPr wrap="square" lIns="0" tIns="0" rIns="0" bIns="0" rtlCol="0" anchor="ctr"/>
          <a:lstStyle/>
          <a:p>
            <a:pPr marL="0" indent="0" algn="ctr">
              <a:buNone/>
            </a:pPr>
            <a:r>
              <a:rPr lang="en-US" sz="1200" b="1" dirty="0">
                <a:solidFill>
                  <a:schemeClr val="bg1"/>
                </a:solidFill>
              </a:rPr>
              <a:t>1</a:t>
            </a:r>
            <a:endParaRPr lang="en-US" sz="1200" dirty="0"/>
          </a:p>
        </p:txBody>
      </p:sp>
      <p:sp>
        <p:nvSpPr>
          <p:cNvPr id="7" name="Text 5"/>
          <p:cNvSpPr txBox="1"/>
          <p:nvPr/>
        </p:nvSpPr>
        <p:spPr>
          <a:xfrm>
            <a:off x="1097280" y="3337560"/>
            <a:ext cx="4937760" cy="274320"/>
          </a:xfrm>
          <a:prstGeom prst="rect">
            <a:avLst/>
          </a:prstGeom>
          <a:noFill/>
          <a:ln/>
        </p:spPr>
        <p:txBody>
          <a:bodyPr wrap="square" lIns="0" tIns="0" rIns="0" bIns="0" rtlCol="0" anchor="t"/>
          <a:lstStyle/>
          <a:p>
            <a:pPr marL="0" indent="0">
              <a:buNone/>
            </a:pPr>
            <a:r>
              <a:rPr lang="en-US" sz="1300" b="1" dirty="0">
                <a:solidFill>
                  <a:schemeClr val="tx2"/>
                </a:solidFill>
                <a:latin typeface="Cambria" pitchFamily="34" charset="0"/>
                <a:ea typeface="Cambria" pitchFamily="34" charset="-122"/>
                <a:cs typeface="Cambria" pitchFamily="34" charset="-120"/>
              </a:rPr>
              <a:t>Big-firm background</a:t>
            </a:r>
            <a:endParaRPr lang="en-US" sz="1300" dirty="0"/>
          </a:p>
        </p:txBody>
      </p:sp>
      <p:sp>
        <p:nvSpPr>
          <p:cNvPr id="8" name="Text 6"/>
          <p:cNvSpPr txBox="1"/>
          <p:nvPr/>
        </p:nvSpPr>
        <p:spPr>
          <a:xfrm>
            <a:off x="1097280" y="3611880"/>
            <a:ext cx="4937760" cy="640080"/>
          </a:xfrm>
          <a:prstGeom prst="rect">
            <a:avLst/>
          </a:prstGeom>
          <a:noFill/>
          <a:ln/>
        </p:spPr>
        <p:txBody>
          <a:bodyPr wrap="square" lIns="0" tIns="0" rIns="0" bIns="0" rtlCol="0" anchor="t"/>
          <a:lstStyle/>
          <a:p>
            <a:pPr marL="0" indent="0">
              <a:buNone/>
            </a:pPr>
            <a:r>
              <a:rPr lang="en-US" sz="1150" dirty="0">
                <a:solidFill>
                  <a:schemeClr val="tx1"/>
                </a:solidFill>
              </a:rPr>
              <a:t>Our leadership held Director and Manager roles at top 10 national accounting firms and brings that standard of review and documentation to privately held companies.</a:t>
            </a:r>
            <a:endParaRPr lang="en-US" sz="1150" dirty="0"/>
          </a:p>
        </p:txBody>
      </p:sp>
      <p:sp>
        <p:nvSpPr>
          <p:cNvPr id="9" name="dot Industry experience"/>
          <p:cNvSpPr/>
          <p:nvPr/>
        </p:nvSpPr>
        <p:spPr>
          <a:xfrm>
            <a:off x="548640" y="4297680"/>
            <a:ext cx="384048" cy="384048"/>
          </a:xfrm>
          <a:prstGeom prst="ellipse">
            <a:avLst/>
          </a:prstGeom>
          <a:solidFill>
            <a:schemeClr val="accent1"/>
          </a:solidFill>
          <a:ln w="12700">
            <a:solidFill>
              <a:srgbClr val="1B2A49"/>
            </a:solidFill>
            <a:prstDash val="solid"/>
          </a:ln>
        </p:spPr>
        <p:txBody>
          <a:bodyPr/>
          <a:lstStyle/>
          <a:p>
            <a:endParaRPr lang="en-US"/>
          </a:p>
        </p:txBody>
      </p:sp>
      <p:sp>
        <p:nvSpPr>
          <p:cNvPr id="10" name="Text 8"/>
          <p:cNvSpPr txBox="1"/>
          <p:nvPr/>
        </p:nvSpPr>
        <p:spPr>
          <a:xfrm>
            <a:off x="548640" y="4297680"/>
            <a:ext cx="384048" cy="384048"/>
          </a:xfrm>
          <a:prstGeom prst="rect">
            <a:avLst/>
          </a:prstGeom>
          <a:noFill/>
          <a:ln/>
        </p:spPr>
        <p:txBody>
          <a:bodyPr wrap="square" lIns="0" tIns="0" rIns="0" bIns="0" rtlCol="0" anchor="ctr"/>
          <a:lstStyle/>
          <a:p>
            <a:pPr marL="0" indent="0" algn="ctr">
              <a:buNone/>
            </a:pPr>
            <a:r>
              <a:rPr lang="en-US" sz="1200" b="1" dirty="0">
                <a:solidFill>
                  <a:schemeClr val="bg1"/>
                </a:solidFill>
              </a:rPr>
              <a:t>2</a:t>
            </a:r>
            <a:endParaRPr lang="en-US" sz="1200" dirty="0"/>
          </a:p>
        </p:txBody>
      </p:sp>
      <p:sp>
        <p:nvSpPr>
          <p:cNvPr id="11" name="Text 9"/>
          <p:cNvSpPr txBox="1"/>
          <p:nvPr/>
        </p:nvSpPr>
        <p:spPr>
          <a:xfrm>
            <a:off x="1097280" y="4251960"/>
            <a:ext cx="4937760" cy="274320"/>
          </a:xfrm>
          <a:prstGeom prst="rect">
            <a:avLst/>
          </a:prstGeom>
          <a:noFill/>
          <a:ln/>
        </p:spPr>
        <p:txBody>
          <a:bodyPr wrap="square" lIns="0" tIns="0" rIns="0" bIns="0" rtlCol="0" anchor="t"/>
          <a:lstStyle/>
          <a:p>
            <a:pPr marL="0" indent="0">
              <a:buNone/>
            </a:pPr>
            <a:r>
              <a:rPr lang="en-US" sz="1300" b="1" dirty="0">
                <a:solidFill>
                  <a:schemeClr val="tx2"/>
                </a:solidFill>
                <a:latin typeface="Cambria" pitchFamily="34" charset="0"/>
                <a:ea typeface="Cambria" pitchFamily="34" charset="-122"/>
                <a:cs typeface="Cambria" pitchFamily="34" charset="-120"/>
              </a:rPr>
              <a:t>Industry experience</a:t>
            </a:r>
            <a:endParaRPr lang="en-US" sz="1300" dirty="0"/>
          </a:p>
        </p:txBody>
      </p:sp>
      <p:sp>
        <p:nvSpPr>
          <p:cNvPr id="12" name="Text 10"/>
          <p:cNvSpPr txBox="1"/>
          <p:nvPr/>
        </p:nvSpPr>
        <p:spPr>
          <a:xfrm>
            <a:off x="1097280" y="4526280"/>
            <a:ext cx="4937760" cy="640080"/>
          </a:xfrm>
          <a:prstGeom prst="rect">
            <a:avLst/>
          </a:prstGeom>
          <a:noFill/>
          <a:ln/>
        </p:spPr>
        <p:txBody>
          <a:bodyPr wrap="square" lIns="0" tIns="0" rIns="0" bIns="0" rtlCol="0" anchor="t"/>
          <a:lstStyle/>
          <a:p>
            <a:pPr marL="0" indent="0">
              <a:buNone/>
            </a:pPr>
            <a:r>
              <a:rPr lang="en-US" sz="1150" dirty="0">
                <a:solidFill>
                  <a:schemeClr val="tx1"/>
                </a:solidFill>
              </a:rPr>
              <a:t>Construction and the trades, real estate and property management, professional services, distribution and retail, and hospitality.</a:t>
            </a:r>
            <a:endParaRPr lang="en-US" sz="1150" dirty="0"/>
          </a:p>
        </p:txBody>
      </p:sp>
      <p:sp>
        <p:nvSpPr>
          <p:cNvPr id="13" name="dot Ownership structures"/>
          <p:cNvSpPr/>
          <p:nvPr/>
        </p:nvSpPr>
        <p:spPr>
          <a:xfrm>
            <a:off x="548640" y="5065776"/>
            <a:ext cx="384048" cy="384048"/>
          </a:xfrm>
          <a:prstGeom prst="ellipse">
            <a:avLst/>
          </a:prstGeom>
          <a:solidFill>
            <a:schemeClr val="accent1"/>
          </a:solidFill>
          <a:ln w="12700">
            <a:solidFill>
              <a:srgbClr val="1B2A49"/>
            </a:solidFill>
            <a:prstDash val="solid"/>
          </a:ln>
        </p:spPr>
        <p:txBody>
          <a:bodyPr/>
          <a:lstStyle/>
          <a:p>
            <a:endParaRPr lang="en-US"/>
          </a:p>
        </p:txBody>
      </p:sp>
      <p:sp>
        <p:nvSpPr>
          <p:cNvPr id="14" name="Text 12"/>
          <p:cNvSpPr txBox="1"/>
          <p:nvPr/>
        </p:nvSpPr>
        <p:spPr>
          <a:xfrm>
            <a:off x="548640" y="5065776"/>
            <a:ext cx="384048" cy="384048"/>
          </a:xfrm>
          <a:prstGeom prst="rect">
            <a:avLst/>
          </a:prstGeom>
          <a:noFill/>
          <a:ln/>
        </p:spPr>
        <p:txBody>
          <a:bodyPr wrap="square" lIns="0" tIns="0" rIns="0" bIns="0" rtlCol="0" anchor="ctr"/>
          <a:lstStyle/>
          <a:p>
            <a:pPr marL="0" indent="0" algn="ctr">
              <a:buNone/>
            </a:pPr>
            <a:r>
              <a:rPr lang="en-US" sz="1200" b="1" dirty="0">
                <a:solidFill>
                  <a:schemeClr val="bg1"/>
                </a:solidFill>
              </a:rPr>
              <a:t>3</a:t>
            </a:r>
            <a:endParaRPr lang="en-US" sz="1200" dirty="0"/>
          </a:p>
        </p:txBody>
      </p:sp>
      <p:sp>
        <p:nvSpPr>
          <p:cNvPr id="15" name="Text 13"/>
          <p:cNvSpPr txBox="1"/>
          <p:nvPr/>
        </p:nvSpPr>
        <p:spPr>
          <a:xfrm>
            <a:off x="1097280" y="5020056"/>
            <a:ext cx="4937760" cy="274320"/>
          </a:xfrm>
          <a:prstGeom prst="rect">
            <a:avLst/>
          </a:prstGeom>
          <a:noFill/>
          <a:ln/>
        </p:spPr>
        <p:txBody>
          <a:bodyPr wrap="square" lIns="0" tIns="0" rIns="0" bIns="0" rtlCol="0" anchor="t"/>
          <a:lstStyle/>
          <a:p>
            <a:pPr marL="0" indent="0">
              <a:buNone/>
            </a:pPr>
            <a:r>
              <a:rPr lang="en-US" sz="1300" b="1" dirty="0">
                <a:solidFill>
                  <a:schemeClr val="tx2"/>
                </a:solidFill>
                <a:latin typeface="Cambria" pitchFamily="34" charset="0"/>
                <a:ea typeface="Cambria" pitchFamily="34" charset="-122"/>
                <a:cs typeface="Cambria" pitchFamily="34" charset="-120"/>
              </a:rPr>
              <a:t>Ownership structures</a:t>
            </a:r>
            <a:endParaRPr lang="en-US" sz="1300" dirty="0"/>
          </a:p>
        </p:txBody>
      </p:sp>
      <p:sp>
        <p:nvSpPr>
          <p:cNvPr id="16" name="Text 14"/>
          <p:cNvSpPr txBox="1"/>
          <p:nvPr/>
        </p:nvSpPr>
        <p:spPr>
          <a:xfrm>
            <a:off x="1097280" y="5294376"/>
            <a:ext cx="4937760" cy="640080"/>
          </a:xfrm>
          <a:prstGeom prst="rect">
            <a:avLst/>
          </a:prstGeom>
          <a:noFill/>
          <a:ln/>
        </p:spPr>
        <p:txBody>
          <a:bodyPr wrap="square" lIns="0" tIns="0" rIns="0" bIns="0" rtlCol="0" anchor="t"/>
          <a:lstStyle/>
          <a:p>
            <a:pPr marL="0" indent="0">
              <a:buNone/>
            </a:pPr>
            <a:r>
              <a:rPr lang="en-US" sz="1150" dirty="0">
                <a:solidFill>
                  <a:schemeClr val="tx1"/>
                </a:solidFill>
              </a:rPr>
              <a:t>Owner-led, private equity backed and family office companies, including lender, investor and audit reporting.</a:t>
            </a:r>
            <a:endParaRPr lang="en-US" sz="1150" dirty="0"/>
          </a:p>
        </p:txBody>
      </p:sp>
      <p:sp>
        <p:nvSpPr>
          <p:cNvPr id="17" name="staffing panel"/>
          <p:cNvSpPr/>
          <p:nvPr/>
        </p:nvSpPr>
        <p:spPr>
          <a:xfrm>
            <a:off x="6583680" y="1600200"/>
            <a:ext cx="5059375" cy="4526280"/>
          </a:xfrm>
          <a:prstGeom prst="rect">
            <a:avLst/>
          </a:prstGeom>
          <a:solidFill>
            <a:schemeClr val="accent5"/>
          </a:solidFill>
          <a:ln w="9525">
            <a:solidFill>
              <a:srgbClr val="D5D9E0"/>
            </a:solidFill>
            <a:prstDash val="solid"/>
          </a:ln>
        </p:spPr>
        <p:txBody>
          <a:bodyPr/>
          <a:lstStyle/>
          <a:p>
            <a:endParaRPr lang="en-US"/>
          </a:p>
        </p:txBody>
      </p:sp>
      <p:sp>
        <p:nvSpPr>
          <p:cNvPr id="18" name="Text 16"/>
          <p:cNvSpPr txBox="1"/>
          <p:nvPr/>
        </p:nvSpPr>
        <p:spPr>
          <a:xfrm>
            <a:off x="6858000" y="1783080"/>
            <a:ext cx="4510735" cy="365760"/>
          </a:xfrm>
          <a:prstGeom prst="rect">
            <a:avLst/>
          </a:prstGeom>
          <a:noFill/>
          <a:ln/>
        </p:spPr>
        <p:txBody>
          <a:bodyPr wrap="square" lIns="0" tIns="0" rIns="0" bIns="0" rtlCol="0" anchor="t"/>
          <a:lstStyle/>
          <a:p>
            <a:pPr marL="0" indent="0">
              <a:buNone/>
            </a:pPr>
            <a:r>
              <a:rPr lang="en-US" sz="1400" b="1" dirty="0">
                <a:solidFill>
                  <a:schemeClr val="tx2"/>
                </a:solidFill>
                <a:latin typeface="Cambria" pitchFamily="34" charset="0"/>
                <a:ea typeface="Cambria" pitchFamily="34" charset="-122"/>
                <a:cs typeface="Cambria" pitchFamily="34" charset="-120"/>
              </a:rPr>
              <a:t>How we staff an engagement</a:t>
            </a:r>
            <a:endParaRPr lang="en-US" sz="1400" dirty="0"/>
          </a:p>
        </p:txBody>
      </p:sp>
      <p:sp>
        <p:nvSpPr>
          <p:cNvPr id="19" name="Text 17"/>
          <p:cNvSpPr txBox="1"/>
          <p:nvPr/>
        </p:nvSpPr>
        <p:spPr>
          <a:xfrm>
            <a:off x="6858000" y="2240280"/>
            <a:ext cx="4510735" cy="274320"/>
          </a:xfrm>
          <a:prstGeom prst="rect">
            <a:avLst/>
          </a:prstGeom>
          <a:noFill/>
          <a:ln/>
        </p:spPr>
        <p:txBody>
          <a:bodyPr wrap="square" lIns="0" tIns="0" rIns="0" bIns="0" rtlCol="0" anchor="t"/>
          <a:lstStyle/>
          <a:p>
            <a:pPr marL="0" indent="0">
              <a:buNone/>
            </a:pPr>
            <a:r>
              <a:rPr lang="en-US" sz="1250" b="1" dirty="0">
                <a:solidFill>
                  <a:schemeClr val="tx1"/>
                </a:solidFill>
              </a:rPr>
              <a:t>Scottsdale team</a:t>
            </a:r>
            <a:endParaRPr lang="en-US" sz="1250" dirty="0"/>
          </a:p>
        </p:txBody>
      </p:sp>
      <p:sp>
        <p:nvSpPr>
          <p:cNvPr id="20" name="Text 18"/>
          <p:cNvSpPr txBox="1"/>
          <p:nvPr/>
        </p:nvSpPr>
        <p:spPr>
          <a:xfrm>
            <a:off x="6858000" y="2514600"/>
            <a:ext cx="4510735" cy="658368"/>
          </a:xfrm>
          <a:prstGeom prst="rect">
            <a:avLst/>
          </a:prstGeom>
          <a:noFill/>
          <a:ln/>
        </p:spPr>
        <p:txBody>
          <a:bodyPr wrap="square" lIns="0" tIns="0" rIns="0" bIns="0" rtlCol="0" anchor="t"/>
          <a:lstStyle/>
          <a:p>
            <a:pPr marL="0" indent="0">
              <a:buNone/>
            </a:pPr>
            <a:r>
              <a:rPr lang="en-US" sz="1150" dirty="0">
                <a:solidFill>
                  <a:schemeClr val="tx1"/>
                </a:solidFill>
              </a:rPr>
              <a:t>Engagement leadership, the controller and CFO roles, every judgment call, and on-site time in Phoenix for onboarding and training.</a:t>
            </a:r>
            <a:endParaRPr lang="en-US" sz="1150" dirty="0"/>
          </a:p>
        </p:txBody>
      </p:sp>
      <p:sp>
        <p:nvSpPr>
          <p:cNvPr id="21" name="Text 19"/>
          <p:cNvSpPr txBox="1"/>
          <p:nvPr/>
        </p:nvSpPr>
        <p:spPr>
          <a:xfrm>
            <a:off x="6858000" y="3090672"/>
            <a:ext cx="4510735" cy="274320"/>
          </a:xfrm>
          <a:prstGeom prst="rect">
            <a:avLst/>
          </a:prstGeom>
          <a:noFill/>
          <a:ln/>
        </p:spPr>
        <p:txBody>
          <a:bodyPr wrap="square" lIns="0" tIns="0" rIns="0" bIns="0" rtlCol="0" anchor="t"/>
          <a:lstStyle/>
          <a:p>
            <a:pPr marL="0" indent="0">
              <a:buNone/>
            </a:pPr>
            <a:r>
              <a:rPr lang="en-US" sz="1250" b="1" dirty="0">
                <a:solidFill>
                  <a:schemeClr val="tx1"/>
                </a:solidFill>
              </a:rPr>
              <a:t>Supporting staff</a:t>
            </a:r>
            <a:endParaRPr lang="en-US" sz="1250" dirty="0"/>
          </a:p>
        </p:txBody>
      </p:sp>
      <p:sp>
        <p:nvSpPr>
          <p:cNvPr id="22" name="Text 20"/>
          <p:cNvSpPr txBox="1"/>
          <p:nvPr/>
        </p:nvSpPr>
        <p:spPr>
          <a:xfrm>
            <a:off x="6858000" y="3364992"/>
            <a:ext cx="4510735" cy="658368"/>
          </a:xfrm>
          <a:prstGeom prst="rect">
            <a:avLst/>
          </a:prstGeom>
          <a:noFill/>
          <a:ln/>
        </p:spPr>
        <p:txBody>
          <a:bodyPr wrap="square" lIns="0" tIns="0" rIns="0" bIns="0" rtlCol="0" anchor="t"/>
          <a:lstStyle/>
          <a:p>
            <a:pPr marL="0" indent="0">
              <a:buNone/>
            </a:pPr>
            <a:r>
              <a:rPr lang="en-US" sz="1150" dirty="0">
                <a:solidFill>
                  <a:schemeClr val="tx1"/>
                </a:solidFill>
              </a:rPr>
              <a:t>Reconciliations, schedules and transaction support prepared on our systems by accountants with ten or more years of experience.</a:t>
            </a:r>
            <a:endParaRPr lang="en-US" sz="1150" dirty="0"/>
          </a:p>
        </p:txBody>
      </p:sp>
      <p:sp>
        <p:nvSpPr>
          <p:cNvPr id="23" name="Text 21"/>
          <p:cNvSpPr txBox="1"/>
          <p:nvPr/>
        </p:nvSpPr>
        <p:spPr>
          <a:xfrm>
            <a:off x="6858000" y="3867912"/>
            <a:ext cx="4510735" cy="274320"/>
          </a:xfrm>
          <a:prstGeom prst="rect">
            <a:avLst/>
          </a:prstGeom>
          <a:noFill/>
          <a:ln/>
        </p:spPr>
        <p:txBody>
          <a:bodyPr wrap="square" lIns="0" tIns="0" rIns="0" bIns="0" rtlCol="0" anchor="t"/>
          <a:lstStyle/>
          <a:p>
            <a:pPr marL="0" indent="0">
              <a:buNone/>
            </a:pPr>
            <a:r>
              <a:rPr lang="en-US" sz="1250" b="1" dirty="0">
                <a:solidFill>
                  <a:schemeClr val="tx1"/>
                </a:solidFill>
              </a:rPr>
              <a:t>Perform and review</a:t>
            </a:r>
            <a:endParaRPr lang="en-US" sz="1250" dirty="0"/>
          </a:p>
        </p:txBody>
      </p:sp>
      <p:sp>
        <p:nvSpPr>
          <p:cNvPr id="24" name="Text 22"/>
          <p:cNvSpPr txBox="1"/>
          <p:nvPr/>
        </p:nvSpPr>
        <p:spPr>
          <a:xfrm>
            <a:off x="6858000" y="4142232"/>
            <a:ext cx="4510735" cy="658368"/>
          </a:xfrm>
          <a:prstGeom prst="rect">
            <a:avLst/>
          </a:prstGeom>
          <a:noFill/>
          <a:ln/>
        </p:spPr>
        <p:txBody>
          <a:bodyPr wrap="square" lIns="0" tIns="0" rIns="0" bIns="0" rtlCol="0" anchor="t"/>
          <a:lstStyle/>
          <a:p>
            <a:pPr marL="0" indent="0">
              <a:buNone/>
            </a:pPr>
            <a:r>
              <a:rPr lang="en-US" sz="1150" dirty="0">
                <a:solidFill>
                  <a:schemeClr val="tx1"/>
                </a:solidFill>
              </a:rPr>
              <a:t>The person who prepares a number is never the person who approves it. Every reconciliation, journal entry and report is reviewed by a second accountant before it reaches you.</a:t>
            </a:r>
            <a:endParaRPr lang="en-US" sz="1150" dirty="0"/>
          </a:p>
        </p:txBody>
      </p:sp>
      <p:sp>
        <p:nvSpPr>
          <p:cNvPr id="25" name="Text 23"/>
          <p:cNvSpPr txBox="1"/>
          <p:nvPr/>
        </p:nvSpPr>
        <p:spPr>
          <a:xfrm>
            <a:off x="6858000" y="4828032"/>
            <a:ext cx="4510735" cy="274320"/>
          </a:xfrm>
          <a:prstGeom prst="rect">
            <a:avLst/>
          </a:prstGeom>
          <a:noFill/>
          <a:ln/>
        </p:spPr>
        <p:txBody>
          <a:bodyPr wrap="square" lIns="0" tIns="0" rIns="0" bIns="0" rtlCol="0" anchor="t"/>
          <a:lstStyle/>
          <a:p>
            <a:pPr marL="0" indent="0">
              <a:buNone/>
            </a:pPr>
            <a:r>
              <a:rPr lang="en-US" sz="1250" b="1" dirty="0">
                <a:solidFill>
                  <a:schemeClr val="tx1"/>
                </a:solidFill>
              </a:rPr>
              <a:t>One file, not one person</a:t>
            </a:r>
            <a:endParaRPr lang="en-US" sz="1250" dirty="0"/>
          </a:p>
        </p:txBody>
      </p:sp>
      <p:sp>
        <p:nvSpPr>
          <p:cNvPr id="26" name="Text 24"/>
          <p:cNvSpPr txBox="1"/>
          <p:nvPr/>
        </p:nvSpPr>
        <p:spPr>
          <a:xfrm>
            <a:off x="6858000" y="5102352"/>
            <a:ext cx="4510735" cy="658368"/>
          </a:xfrm>
          <a:prstGeom prst="rect">
            <a:avLst/>
          </a:prstGeom>
          <a:noFill/>
          <a:ln/>
        </p:spPr>
        <p:txBody>
          <a:bodyPr wrap="square" lIns="0" tIns="0" rIns="0" bIns="0" rtlCol="0" anchor="t"/>
          <a:lstStyle/>
          <a:p>
            <a:pPr marL="0" indent="0">
              <a:buNone/>
            </a:pPr>
            <a:r>
              <a:rPr lang="en-US" sz="1150" dirty="0">
                <a:solidFill>
                  <a:schemeClr val="tx1"/>
                </a:solidFill>
              </a:rPr>
              <a:t>Procedures, the close checklist and the open-items list live in a shared file your team can see, so nothing depends on a single individual.</a:t>
            </a:r>
            <a:endParaRPr lang="en-US" sz="1150" dirty="0"/>
          </a:p>
        </p:txBody>
      </p:sp>
      <p:sp>
        <p:nvSpPr>
          <p:cNvPr id="27"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47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body" idx="102" hasCustomPrompt="1"/>
          </p:nvPr>
        </p:nvSpPr>
        <p:spPr>
          <a:xfrm>
            <a:off x="548640" y="384048"/>
            <a:ext cx="8229600" cy="274320"/>
          </a:xfrm>
          <a:prstGeom prst="rect">
            <a:avLst/>
          </a:prstGeom>
          <a:noFill/>
          <a:ln/>
        </p:spPr>
        <p:txBody>
          <a:bodyPr wrap="square" lIns="0" tIns="0" rIns="0" bIns="0" rtlCol="0"/>
          <a:lstStyle/>
          <a:p>
            <a:pPr marL="0" indent="0">
              <a:buNone/>
            </a:pPr>
            <a:r>
              <a:rPr lang="en-US" sz="1100" b="1" kern="0" spc="200" dirty="0">
                <a:solidFill>
                  <a:srgbClr val="AF1F29"/>
                </a:solidFill>
              </a:rPr>
              <a:t>01  WHO WE ARE</a:t>
            </a:r>
            <a:endParaRPr lang="en-US" sz="1100" dirty="0"/>
          </a:p>
        </p:txBody>
      </p:sp>
      <p:sp>
        <p:nvSpPr>
          <p:cNvPr id="3" name="Text 1"/>
          <p:cNvSpPr>
            <a:spLocks noGrp="1"/>
          </p:cNvSpPr>
          <p:nvPr>
            <p:ph type="title" idx="103" hasCustomPrompt="1"/>
          </p:nvPr>
        </p:nvSpPr>
        <p:spPr>
          <a:xfrm>
            <a:off x="548640" y="658368"/>
            <a:ext cx="9692640" cy="731520"/>
          </a:xfrm>
          <a:prstGeom prst="rect">
            <a:avLst/>
          </a:prstGeom>
          <a:noFill/>
          <a:ln/>
        </p:spPr>
        <p:txBody>
          <a:bodyPr wrap="square" lIns="0" tIns="0" rIns="0" bIns="0" rtlCol="0" anchor="t"/>
          <a:lstStyle/>
          <a:p>
            <a:pPr marL="0" indent="0" algn="l">
              <a:buNone/>
            </a:pPr>
            <a:r>
              <a:rPr lang="en-US" sz="2800" dirty="0">
                <a:solidFill>
                  <a:srgbClr val="16181D"/>
                </a:solidFill>
              </a:rPr>
              <a:t>Your engagement team</a:t>
            </a:r>
            <a:endParaRPr lang="en-US" sz="2800" dirty="0"/>
          </a:p>
        </p:txBody>
      </p:sp>
      <p:sp>
        <p:nvSpPr>
          <p:cNvPr id="4" name="Text 2"/>
          <p:cNvSpPr txBox="1"/>
          <p:nvPr/>
        </p:nvSpPr>
        <p:spPr>
          <a:xfrm>
            <a:off x="548640" y="1554480"/>
            <a:ext cx="10972800" cy="457200"/>
          </a:xfrm>
          <a:prstGeom prst="rect">
            <a:avLst/>
          </a:prstGeom>
          <a:noFill/>
          <a:ln/>
        </p:spPr>
        <p:txBody>
          <a:bodyPr wrap="square" lIns="0" tIns="0" rIns="0" bIns="0" rtlCol="0" anchor="t"/>
          <a:lstStyle/>
          <a:p>
            <a:pPr marL="0" indent="0">
              <a:buNone/>
            </a:pPr>
            <a:r>
              <a:rPr lang="en-US" sz="1250" dirty="0">
                <a:solidFill>
                  <a:schemeClr val="accent3"/>
                </a:solidFill>
              </a:rPr>
              <a:t>The principal leads the engagement and stays on it as your relationship lead. Lisa Danforth, CPA, provides CFO-level support, and Jessica Bumphus leads the controller work. Staff support is assigned as the work settles, and the mix is adjusted with you.</a:t>
            </a:r>
            <a:endParaRPr lang="en-US" sz="1250" dirty="0"/>
          </a:p>
        </p:txBody>
      </p:sp>
      <p:graphicFrame>
        <p:nvGraphicFramePr>
          <p:cNvPr id="6" name="team table"/>
          <p:cNvGraphicFramePr>
            <a:graphicFrameLocks noGrp="1"/>
          </p:cNvGraphicFramePr>
          <p:nvPr>
            <p:extLst>
              <p:ext uri="{D42A27DB-BD31-4B8C-83A1-F6EECF244321}">
                <p14:modId xmlns:p14="http://schemas.microsoft.com/office/powerpoint/2010/main" val="1913832357"/>
              </p:ext>
            </p:extLst>
          </p:nvPr>
        </p:nvGraphicFramePr>
        <p:xfrm>
          <a:off x="548640" y="2057400"/>
          <a:ext cx="11091672" cy="3108960"/>
        </p:xfrm>
        <a:graphic>
          <a:graphicData uri="http://schemas.openxmlformats.org/drawingml/2006/table">
            <a:tbl>
              <a:tblPr/>
              <a:tblGrid>
                <a:gridCol w="237744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4480560">
                  <a:extLst>
                    <a:ext uri="{9D8B030D-6E8A-4147-A177-3AD203B41FA5}">
                      <a16:colId xmlns:a16="http://schemas.microsoft.com/office/drawing/2014/main" val="20002"/>
                    </a:ext>
                  </a:extLst>
                </a:gridCol>
                <a:gridCol w="2221992">
                  <a:extLst>
                    <a:ext uri="{9D8B030D-6E8A-4147-A177-3AD203B41FA5}">
                      <a16:colId xmlns:a16="http://schemas.microsoft.com/office/drawing/2014/main" val="20003"/>
                    </a:ext>
                  </a:extLst>
                </a:gridCol>
              </a:tblGrid>
              <a:tr h="365760">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Team member</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1B2A49"/>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Role on this engagement</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1B2A49"/>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Responsibilities</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1B2A49"/>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Involvement</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1B2A49"/>
                    </a:solidFill>
                  </a:tcPr>
                </a:tc>
                <a:extLst>
                  <a:ext uri="{0D108BD9-81ED-4DB2-BD59-A6C34878D82A}">
                    <a16:rowId xmlns:a16="http://schemas.microsoft.com/office/drawing/2014/main" val="10000"/>
                  </a:ext>
                </a:extLst>
              </a:tr>
              <a:tr h="548640">
                <a:tc>
                  <a:txBody>
                    <a:bodyPr/>
                    <a:lstStyle/>
                    <a:p>
                      <a:pPr marL="0" indent="0">
                        <a:buNone/>
                      </a:pPr>
                      <a:r>
                        <a:rPr lang="en-US" sz="1050" b="1" dirty="0">
                          <a:solidFill>
                            <a:srgbClr val="16181D"/>
                          </a:solidFill>
                          <a:latin typeface="Calibri" pitchFamily="34" charset="0"/>
                          <a:ea typeface="Calibri" pitchFamily="34" charset="-122"/>
                          <a:cs typeface="Calibri" pitchFamily="34" charset="-120"/>
                        </a:rPr>
                        <a:t>Steven Nikolov</a:t>
                      </a:r>
                      <a:endParaRPr lang="en-US" sz="1100" dirty="0">
                        <a:latin typeface="Calibri" charset="0"/>
                        <a:ea typeface="Calibri" charset="0"/>
                        <a:cs typeface="Calibri" charset="0"/>
                      </a:endParaRPr>
                    </a:p>
                    <a:p>
                      <a:pPr marL="0" indent="0">
                        <a:buNone/>
                      </a:pPr>
                      <a:r>
                        <a:rPr lang="en-US" sz="1050" b="1" dirty="0">
                          <a:solidFill>
                            <a:srgbClr val="16181D"/>
                          </a:solidFill>
                          <a:latin typeface="Calibri" pitchFamily="34" charset="0"/>
                          <a:ea typeface="Calibri" pitchFamily="34" charset="-122"/>
                          <a:cs typeface="Calibri" pitchFamily="34" charset="-120"/>
                        </a:rPr>
                        <a:t>Principal &amp; CFO</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buNone/>
                      </a:pPr>
                      <a:r>
                        <a:rPr lang="en-US" sz="1050" dirty="0">
                          <a:solidFill>
                            <a:srgbClr val="16181D"/>
                          </a:solidFill>
                          <a:latin typeface="Calibri" pitchFamily="34" charset="0"/>
                          <a:ea typeface="Calibri" pitchFamily="34" charset="-122"/>
                          <a:cs typeface="Calibri" pitchFamily="34" charset="-120"/>
                        </a:rPr>
                        <a:t>Relationship lead and CFO</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buNone/>
                      </a:pPr>
                      <a:r>
                        <a:rPr lang="en-US" sz="1050" dirty="0">
                          <a:solidFill>
                            <a:srgbClr val="16181D"/>
                          </a:solidFill>
                          <a:latin typeface="Calibri" pitchFamily="34" charset="0"/>
                          <a:ea typeface="Calibri" pitchFamily="34" charset="-122"/>
                          <a:cs typeface="Calibri" pitchFamily="34" charset="-120"/>
                        </a:rPr>
                        <a:t>Overall direction and quality. CFO-level work: close design, board and lender reporting, budgeting and forecasting, covenant matters, direction to the finance team.</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buNone/>
                      </a:pPr>
                      <a:r>
                        <a:rPr lang="en-US" sz="1050" dirty="0">
                          <a:solidFill>
                            <a:srgbClr val="16181D"/>
                          </a:solidFill>
                          <a:latin typeface="Calibri" pitchFamily="34" charset="0"/>
                          <a:ea typeface="Calibri" pitchFamily="34" charset="-122"/>
                          <a:cs typeface="Calibri" pitchFamily="34" charset="-120"/>
                        </a:rPr>
                        <a:t>On site for kickoff. Weekly during the first 90 days, then at the monthly review and as needed.</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extLst>
                  <a:ext uri="{0D108BD9-81ED-4DB2-BD59-A6C34878D82A}">
                    <a16:rowId xmlns:a16="http://schemas.microsoft.com/office/drawing/2014/main" val="10001"/>
                  </a:ext>
                </a:extLst>
              </a:tr>
              <a:tr h="548640">
                <a:tc>
                  <a:txBody>
                    <a:bodyPr/>
                    <a:lstStyle/>
                    <a:p>
                      <a:pPr marL="0" indent="0">
                        <a:buNone/>
                      </a:pPr>
                      <a:r>
                        <a:rPr lang="en-US" sz="1050" b="1" dirty="0">
                          <a:solidFill>
                            <a:srgbClr val="16181D"/>
                          </a:solidFill>
                          <a:latin typeface="Calibri" pitchFamily="34" charset="0"/>
                          <a:ea typeface="Calibri" pitchFamily="34" charset="-122"/>
                          <a:cs typeface="Calibri" pitchFamily="34" charset="-120"/>
                        </a:rPr>
                        <a:t>Lisa Danforth, CPA</a:t>
                      </a:r>
                      <a:endParaRPr lang="en-US" sz="1100" dirty="0">
                        <a:latin typeface="Calibri" charset="0"/>
                        <a:ea typeface="Calibri" charset="0"/>
                        <a:cs typeface="Calibri" charset="0"/>
                      </a:endParaRPr>
                    </a:p>
                    <a:p>
                      <a:pPr marL="0" indent="0">
                        <a:buNone/>
                      </a:pPr>
                      <a:r>
                        <a:rPr lang="en-US" sz="1050" b="1" dirty="0">
                          <a:solidFill>
                            <a:srgbClr val="16181D"/>
                          </a:solidFill>
                          <a:latin typeface="Calibri" pitchFamily="34" charset="0"/>
                          <a:ea typeface="Calibri" pitchFamily="34" charset="-122"/>
                          <a:cs typeface="Calibri" pitchFamily="34" charset="-120"/>
                        </a:rPr>
                        <a:t>CFO</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buNone/>
                      </a:pPr>
                      <a:r>
                        <a:rPr lang="en-US" sz="1050" dirty="0">
                          <a:solidFill>
                            <a:srgbClr val="16181D"/>
                          </a:solidFill>
                          <a:latin typeface="Calibri" pitchFamily="34" charset="0"/>
                          <a:ea typeface="Calibri" pitchFamily="34" charset="-122"/>
                          <a:cs typeface="Calibri" pitchFamily="34" charset="-120"/>
                        </a:rPr>
                        <a:t>CFO support</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buNone/>
                      </a:pPr>
                      <a:r>
                        <a:rPr lang="en-US" sz="1050" dirty="0">
                          <a:solidFill>
                            <a:srgbClr val="16181D"/>
                          </a:solidFill>
                          <a:latin typeface="Calibri" pitchFamily="34" charset="0"/>
                          <a:ea typeface="Calibri" pitchFamily="34" charset="-122"/>
                          <a:cs typeface="Calibri" pitchFamily="34" charset="-120"/>
                        </a:rPr>
                        <a:t>CFO-level support alongside Steven: management and board reporting, physician compensation review, budgeting and forecasting, a second senior contact for the physicians.</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buNone/>
                      </a:pPr>
                      <a:r>
                        <a:rPr lang="en-US" sz="1050" dirty="0">
                          <a:solidFill>
                            <a:srgbClr val="16181D"/>
                          </a:solidFill>
                          <a:latin typeface="Calibri" pitchFamily="34" charset="0"/>
                          <a:ea typeface="Calibri" pitchFamily="34" charset="-122"/>
                          <a:cs typeface="Calibri" pitchFamily="34" charset="-120"/>
                        </a:rPr>
                        <a:t>Weekly during the first 90 days, then as needed.</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extLst>
                  <a:ext uri="{0D108BD9-81ED-4DB2-BD59-A6C34878D82A}">
                    <a16:rowId xmlns:a16="http://schemas.microsoft.com/office/drawing/2014/main" val="10002"/>
                  </a:ext>
                </a:extLst>
              </a:tr>
              <a:tr h="548640">
                <a:tc>
                  <a:txBody>
                    <a:bodyPr/>
                    <a:lstStyle/>
                    <a:p>
                      <a:pPr marL="0" indent="0">
                        <a:buNone/>
                      </a:pPr>
                      <a:r>
                        <a:rPr lang="en-US" sz="1050" b="1" dirty="0">
                          <a:solidFill>
                            <a:srgbClr val="16181D"/>
                          </a:solidFill>
                          <a:latin typeface="Calibri" pitchFamily="34" charset="0"/>
                          <a:ea typeface="Calibri" pitchFamily="34" charset="-122"/>
                          <a:cs typeface="Calibri" pitchFamily="34" charset="-120"/>
                        </a:rPr>
                        <a:t>Jessica Bumphus</a:t>
                      </a:r>
                      <a:endParaRPr lang="en-US" sz="1100" dirty="0">
                        <a:latin typeface="Calibri" charset="0"/>
                        <a:ea typeface="Calibri" charset="0"/>
                        <a:cs typeface="Calibri" charset="0"/>
                      </a:endParaRPr>
                    </a:p>
                    <a:p>
                      <a:pPr marL="0" indent="0">
                        <a:buNone/>
                      </a:pPr>
                      <a:r>
                        <a:rPr lang="en-US" sz="1050" b="1" dirty="0">
                          <a:solidFill>
                            <a:srgbClr val="16181D"/>
                          </a:solidFill>
                          <a:latin typeface="Calibri" pitchFamily="34" charset="0"/>
                          <a:ea typeface="Calibri" pitchFamily="34" charset="-122"/>
                          <a:cs typeface="Calibri" pitchFamily="34" charset="-120"/>
                        </a:rPr>
                        <a:t>Controller</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buNone/>
                      </a:pPr>
                      <a:r>
                        <a:rPr lang="en-US" sz="1050" dirty="0">
                          <a:solidFill>
                            <a:srgbClr val="16181D"/>
                          </a:solidFill>
                          <a:latin typeface="Calibri" pitchFamily="34" charset="0"/>
                          <a:ea typeface="Calibri" pitchFamily="34" charset="-122"/>
                          <a:cs typeface="Calibri" pitchFamily="34" charset="-120"/>
                        </a:rPr>
                        <a:t>ONYX controller</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buNone/>
                      </a:pPr>
                      <a:r>
                        <a:rPr lang="en-US" sz="1050" dirty="0">
                          <a:solidFill>
                            <a:srgbClr val="16181D"/>
                          </a:solidFill>
                          <a:latin typeface="Calibri" pitchFamily="34" charset="0"/>
                          <a:ea typeface="Calibri" pitchFamily="34" charset="-122"/>
                          <a:cs typeface="Calibri" pitchFamily="34" charset="-120"/>
                        </a:rPr>
                        <a:t>Leads the monthly close, reviews the team's reconciliations and entries, supports physician compensation and revenue-cycle reporting, drives the systems and automation work.</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buNone/>
                      </a:pPr>
                      <a:r>
                        <a:rPr lang="en-US" sz="1050" dirty="0">
                          <a:solidFill>
                            <a:srgbClr val="16181D"/>
                          </a:solidFill>
                          <a:latin typeface="Calibri" pitchFamily="34" charset="0"/>
                          <a:ea typeface="Calibri" pitchFamily="34" charset="-122"/>
                          <a:cs typeface="Calibri" pitchFamily="34" charset="-120"/>
                        </a:rPr>
                        <a:t>Weekly. On site in Phoenix for onboarding and training, remote otherwise.</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extLst>
                  <a:ext uri="{0D108BD9-81ED-4DB2-BD59-A6C34878D82A}">
                    <a16:rowId xmlns:a16="http://schemas.microsoft.com/office/drawing/2014/main" val="10003"/>
                  </a:ext>
                </a:extLst>
              </a:tr>
              <a:tr h="548640">
                <a:tc>
                  <a:txBody>
                    <a:bodyPr/>
                    <a:lstStyle/>
                    <a:p>
                      <a:pPr marL="0" indent="0">
                        <a:buNone/>
                      </a:pPr>
                      <a:r>
                        <a:rPr lang="en-US" sz="1050" b="1" dirty="0">
                          <a:solidFill>
                            <a:srgbClr val="16181D"/>
                          </a:solidFill>
                          <a:latin typeface="Calibri" pitchFamily="34" charset="0"/>
                          <a:ea typeface="Calibri" pitchFamily="34" charset="-122"/>
                          <a:cs typeface="Calibri" pitchFamily="34" charset="-120"/>
                        </a:rPr>
                        <a:t>Josephine Mack</a:t>
                      </a:r>
                      <a:endParaRPr lang="en-US" sz="1100" dirty="0">
                        <a:latin typeface="Calibri" charset="0"/>
                        <a:ea typeface="Calibri" charset="0"/>
                        <a:cs typeface="Calibri" charset="0"/>
                      </a:endParaRPr>
                    </a:p>
                    <a:p>
                      <a:pPr marL="0" indent="0">
                        <a:buNone/>
                      </a:pPr>
                      <a:r>
                        <a:rPr lang="en-US" sz="1050" b="1" dirty="0">
                          <a:solidFill>
                            <a:srgbClr val="16181D"/>
                          </a:solidFill>
                          <a:latin typeface="Calibri" pitchFamily="34" charset="0"/>
                          <a:ea typeface="Calibri" pitchFamily="34" charset="-122"/>
                          <a:cs typeface="Calibri" pitchFamily="34" charset="-120"/>
                        </a:rPr>
                        <a:t>Chief of Staff &amp; Client Relations</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buNone/>
                      </a:pPr>
                      <a:r>
                        <a:rPr lang="en-US" sz="1050" dirty="0">
                          <a:solidFill>
                            <a:srgbClr val="16181D"/>
                          </a:solidFill>
                          <a:latin typeface="Calibri" pitchFamily="34" charset="0"/>
                          <a:ea typeface="Calibri" pitchFamily="34" charset="-122"/>
                          <a:cs typeface="Calibri" pitchFamily="34" charset="-120"/>
                        </a:rPr>
                        <a:t>Client relations and staffing</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buNone/>
                      </a:pPr>
                      <a:r>
                        <a:rPr lang="en-US" sz="1050" dirty="0">
                          <a:solidFill>
                            <a:srgbClr val="16181D"/>
                          </a:solidFill>
                          <a:latin typeface="Calibri" pitchFamily="34" charset="0"/>
                          <a:ea typeface="Calibri" pitchFamily="34" charset="-122"/>
                          <a:cs typeface="Calibri" pitchFamily="34" charset="-120"/>
                        </a:rPr>
                        <a:t>Scheduling, staffing and client service. Your contact for anything about the engagement itself: scope changes, invoices, access and timing.</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buNone/>
                      </a:pPr>
                      <a:r>
                        <a:rPr lang="en-US" sz="1050" dirty="0">
                          <a:solidFill>
                            <a:srgbClr val="16181D"/>
                          </a:solidFill>
                          <a:latin typeface="Calibri" pitchFamily="34" charset="0"/>
                          <a:ea typeface="Calibri" pitchFamily="34" charset="-122"/>
                          <a:cs typeface="Calibri" pitchFamily="34" charset="-120"/>
                        </a:rPr>
                        <a:t>Throughout the engagement.</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extLst>
                  <a:ext uri="{0D108BD9-81ED-4DB2-BD59-A6C34878D82A}">
                    <a16:rowId xmlns:a16="http://schemas.microsoft.com/office/drawing/2014/main" val="10004"/>
                  </a:ext>
                </a:extLst>
              </a:tr>
              <a:tr h="548640">
                <a:tc>
                  <a:txBody>
                    <a:bodyPr/>
                    <a:lstStyle/>
                    <a:p>
                      <a:pPr marL="0" indent="0">
                        <a:buNone/>
                      </a:pPr>
                      <a:r>
                        <a:rPr lang="en-US" sz="1050" b="1" dirty="0">
                          <a:solidFill>
                            <a:srgbClr val="16181D"/>
                          </a:solidFill>
                          <a:latin typeface="Calibri" pitchFamily="34" charset="0"/>
                          <a:ea typeface="Calibri" pitchFamily="34" charset="-122"/>
                          <a:cs typeface="Calibri" pitchFamily="34" charset="-120"/>
                        </a:rPr>
                        <a:t>ONYX Staff Accountant(s)</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buNone/>
                      </a:pPr>
                      <a:r>
                        <a:rPr lang="en-US" sz="1050" dirty="0">
                          <a:solidFill>
                            <a:srgbClr val="16181D"/>
                          </a:solidFill>
                          <a:latin typeface="Calibri" pitchFamily="34" charset="0"/>
                          <a:ea typeface="Calibri" pitchFamily="34" charset="-122"/>
                          <a:cs typeface="Calibri" pitchFamily="34" charset="-120"/>
                        </a:rPr>
                        <a:t>Staff support</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buNone/>
                      </a:pPr>
                      <a:r>
                        <a:rPr lang="en-US" sz="1050" dirty="0">
                          <a:solidFill>
                            <a:srgbClr val="16181D"/>
                          </a:solidFill>
                          <a:latin typeface="Calibri" pitchFamily="34" charset="0"/>
                          <a:ea typeface="Calibri" pitchFamily="34" charset="-122"/>
                          <a:cs typeface="Calibri" pitchFamily="34" charset="-120"/>
                        </a:rPr>
                        <a:t>Reconciliations, journal entries and month-end schedules, AP and payroll journal support, audit and tax request lists and data work, all under controller review.</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buNone/>
                      </a:pPr>
                      <a:r>
                        <a:rPr lang="en-US" sz="1050" dirty="0">
                          <a:solidFill>
                            <a:srgbClr val="16181D"/>
                          </a:solidFill>
                          <a:latin typeface="Calibri" pitchFamily="34" charset="0"/>
                          <a:ea typeface="Calibri" pitchFamily="34" charset="-122"/>
                          <a:cs typeface="Calibri" pitchFamily="34" charset="-120"/>
                        </a:rPr>
                        <a:t>As needed or requested.</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3"/>
          <p:cNvSpPr txBox="1"/>
          <p:nvPr/>
        </p:nvSpPr>
        <p:spPr>
          <a:xfrm>
            <a:off x="548640" y="5897880"/>
            <a:ext cx="10972800" cy="457200"/>
          </a:xfrm>
          <a:prstGeom prst="rect">
            <a:avLst/>
          </a:prstGeom>
          <a:noFill/>
          <a:ln/>
        </p:spPr>
        <p:txBody>
          <a:bodyPr wrap="square" lIns="0" tIns="0" rIns="0" bIns="0" rtlCol="0" anchor="t"/>
          <a:lstStyle/>
          <a:p>
            <a:pPr marL="0" indent="0">
              <a:buNone/>
            </a:pPr>
            <a:r>
              <a:rPr lang="en-US" sz="1100" dirty="0">
                <a:solidFill>
                  <a:schemeClr val="accent3"/>
                </a:solidFill>
              </a:rPr>
              <a:t>Your team keeps approval authority over payments, vendors, payroll and physician compensation. ONYX works from view access to bank and loan accounts and from the access you grant in QuickBooks Online, eClinicalWorks reports and payroll.</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47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body" idx="102" hasCustomPrompt="1"/>
          </p:nvPr>
        </p:nvSpPr>
        <p:spPr>
          <a:xfrm>
            <a:off x="548640" y="384048"/>
            <a:ext cx="8229600" cy="274320"/>
          </a:xfrm>
          <a:prstGeom prst="rect">
            <a:avLst/>
          </a:prstGeom>
          <a:noFill/>
          <a:ln/>
        </p:spPr>
        <p:txBody>
          <a:bodyPr wrap="square" lIns="0" tIns="0" rIns="0" bIns="0" rtlCol="0"/>
          <a:lstStyle/>
          <a:p>
            <a:pPr marL="0" indent="0">
              <a:buNone/>
            </a:pPr>
            <a:r>
              <a:rPr lang="en-US" sz="1100" b="1" kern="0" spc="200" dirty="0">
                <a:solidFill>
                  <a:srgbClr val="AF1F29"/>
                </a:solidFill>
              </a:rPr>
              <a:t>02  WHAT WE CAN HELP WITH</a:t>
            </a:r>
            <a:endParaRPr lang="en-US" sz="1100" dirty="0"/>
          </a:p>
        </p:txBody>
      </p:sp>
      <p:sp>
        <p:nvSpPr>
          <p:cNvPr id="3" name="Text 1"/>
          <p:cNvSpPr>
            <a:spLocks noGrp="1"/>
          </p:cNvSpPr>
          <p:nvPr>
            <p:ph type="title" idx="103" hasCustomPrompt="1"/>
          </p:nvPr>
        </p:nvSpPr>
        <p:spPr>
          <a:xfrm>
            <a:off x="548640" y="658368"/>
            <a:ext cx="9692640" cy="731520"/>
          </a:xfrm>
          <a:prstGeom prst="rect">
            <a:avLst/>
          </a:prstGeom>
          <a:noFill/>
          <a:ln/>
        </p:spPr>
        <p:txBody>
          <a:bodyPr wrap="square" lIns="0" tIns="0" rIns="0" bIns="0" rtlCol="0" anchor="t"/>
          <a:lstStyle/>
          <a:p>
            <a:pPr marL="0" indent="0" algn="l">
              <a:buNone/>
            </a:pPr>
            <a:r>
              <a:rPr lang="en-US" sz="2800" dirty="0">
                <a:solidFill>
                  <a:srgbClr val="16181D"/>
                </a:solidFill>
              </a:rPr>
              <a:t>Our understanding of the practice</a:t>
            </a:r>
            <a:endParaRPr lang="en-US" sz="2800" dirty="0"/>
          </a:p>
        </p:txBody>
      </p:sp>
      <p:sp>
        <p:nvSpPr>
          <p:cNvPr id="4" name="snapshot"/>
          <p:cNvSpPr/>
          <p:nvPr/>
        </p:nvSpPr>
        <p:spPr>
          <a:xfrm>
            <a:off x="548640" y="1600200"/>
            <a:ext cx="3515258" cy="4526280"/>
          </a:xfrm>
          <a:prstGeom prst="rect">
            <a:avLst/>
          </a:prstGeom>
          <a:solidFill>
            <a:schemeClr val="accent5"/>
          </a:solidFill>
          <a:ln w="9525">
            <a:solidFill>
              <a:srgbClr val="D5D9E0"/>
            </a:solidFill>
            <a:prstDash val="solid"/>
          </a:ln>
        </p:spPr>
        <p:txBody>
          <a:bodyPr/>
          <a:lstStyle/>
          <a:p>
            <a:endParaRPr lang="en-US"/>
          </a:p>
        </p:txBody>
      </p:sp>
      <p:sp>
        <p:nvSpPr>
          <p:cNvPr id="5" name="Text 3"/>
          <p:cNvSpPr txBox="1"/>
          <p:nvPr/>
        </p:nvSpPr>
        <p:spPr>
          <a:xfrm>
            <a:off x="777240" y="1783080"/>
            <a:ext cx="3058058" cy="320040"/>
          </a:xfrm>
          <a:prstGeom prst="rect">
            <a:avLst/>
          </a:prstGeom>
          <a:noFill/>
          <a:ln/>
        </p:spPr>
        <p:txBody>
          <a:bodyPr wrap="square" lIns="0" tIns="0" rIns="0" bIns="0" rtlCol="0" anchor="t"/>
          <a:lstStyle/>
          <a:p>
            <a:pPr marL="0" indent="0">
              <a:buNone/>
            </a:pPr>
            <a:r>
              <a:rPr lang="en-US" sz="1300" b="1" dirty="0">
                <a:solidFill>
                  <a:schemeClr val="tx2"/>
                </a:solidFill>
                <a:latin typeface="Cambria" pitchFamily="34" charset="0"/>
                <a:ea typeface="Cambria" pitchFamily="34" charset="-122"/>
                <a:cs typeface="Cambria" pitchFamily="34" charset="-120"/>
              </a:rPr>
              <a:t>The company</a:t>
            </a:r>
            <a:endParaRPr lang="en-US" sz="1300" dirty="0"/>
          </a:p>
        </p:txBody>
      </p:sp>
      <p:sp>
        <p:nvSpPr>
          <p:cNvPr id="6" name="Text 4"/>
          <p:cNvSpPr txBox="1"/>
          <p:nvPr/>
        </p:nvSpPr>
        <p:spPr>
          <a:xfrm>
            <a:off x="777240" y="2148840"/>
            <a:ext cx="3058058" cy="3840480"/>
          </a:xfrm>
          <a:prstGeom prst="rect">
            <a:avLst/>
          </a:prstGeom>
          <a:noFill/>
          <a:ln/>
        </p:spPr>
        <p:txBody>
          <a:bodyPr wrap="square" lIns="0" tIns="0" rIns="0" bIns="0" rtlCol="0" anchor="t"/>
          <a:lstStyle/>
          <a:p>
            <a:pPr marL="0" indent="0">
              <a:lnSpc>
                <a:spcPct val="108000"/>
              </a:lnSpc>
              <a:buNone/>
            </a:pPr>
            <a:r>
              <a:rPr lang="en-US" sz="1150" b="1" dirty="0">
                <a:solidFill>
                  <a:schemeClr val="tx1"/>
                </a:solidFill>
              </a:rPr>
              <a:t>The practice. </a:t>
            </a:r>
            <a:r>
              <a:rPr lang="en-US" sz="1150" dirty="0">
                <a:solidFill>
                  <a:schemeClr val="tx1"/>
                </a:solidFill>
              </a:rPr>
              <a:t>Physician-owned hand and trauma practice since 2000: 15 surgeons, five clinics with therapy suites, 24/7 trauma call at 17 hospitals. Revenue over $32 million.</a:t>
            </a:r>
            <a:endParaRPr lang="en-US" sz="1150" dirty="0"/>
          </a:p>
          <a:p>
            <a:pPr marL="0" indent="0">
              <a:lnSpc>
                <a:spcPct val="108000"/>
              </a:lnSpc>
              <a:buNone/>
            </a:pPr>
            <a:r>
              <a:rPr lang="en-US" sz="600" dirty="0">
                <a:solidFill>
                  <a:schemeClr val="tx1"/>
                </a:solidFill>
              </a:rPr>
              <a:t> </a:t>
            </a:r>
            <a:endParaRPr lang="en-US" sz="1150" dirty="0"/>
          </a:p>
          <a:p>
            <a:pPr marL="0" indent="0">
              <a:lnSpc>
                <a:spcPct val="108000"/>
              </a:lnSpc>
              <a:buNone/>
            </a:pPr>
            <a:r>
              <a:rPr lang="en-US" sz="1150" b="1" dirty="0">
                <a:solidFill>
                  <a:schemeClr val="tx1"/>
                </a:solidFill>
              </a:rPr>
              <a:t>Finance team. </a:t>
            </a:r>
            <a:r>
              <a:rPr lang="en-US" sz="1150" dirty="0">
                <a:solidFill>
                  <a:schemeClr val="tx1"/>
                </a:solidFill>
              </a:rPr>
              <a:t>Mark Williamson, CFO, retiring. A supervisory accountant, three staff and an international AP resource.</a:t>
            </a:r>
            <a:endParaRPr lang="en-US" sz="1150" dirty="0"/>
          </a:p>
          <a:p>
            <a:pPr marL="0" indent="0">
              <a:lnSpc>
                <a:spcPct val="108000"/>
              </a:lnSpc>
              <a:buNone/>
            </a:pPr>
            <a:r>
              <a:rPr lang="en-US" sz="600" dirty="0">
                <a:solidFill>
                  <a:schemeClr val="tx1"/>
                </a:solidFill>
              </a:rPr>
              <a:t> </a:t>
            </a:r>
            <a:endParaRPr lang="en-US" sz="1150" dirty="0"/>
          </a:p>
          <a:p>
            <a:pPr marL="0" indent="0">
              <a:lnSpc>
                <a:spcPct val="108000"/>
              </a:lnSpc>
              <a:buNone/>
            </a:pPr>
            <a:r>
              <a:rPr lang="en-US" sz="1150" b="1" dirty="0">
                <a:solidFill>
                  <a:schemeClr val="tx1"/>
                </a:solidFill>
              </a:rPr>
              <a:t>Systems. </a:t>
            </a:r>
            <a:r>
              <a:rPr lang="en-US" sz="1150" dirty="0">
                <a:solidFill>
                  <a:schemeClr val="tx1"/>
                </a:solidFill>
              </a:rPr>
              <a:t>QuickBooks Online with physician classes, eClinicalWorks for EMR and billing, Paylocity payroll (Paychex under evaluation).</a:t>
            </a:r>
            <a:endParaRPr lang="en-US" sz="1150" dirty="0"/>
          </a:p>
          <a:p>
            <a:pPr marL="0" indent="0">
              <a:lnSpc>
                <a:spcPct val="108000"/>
              </a:lnSpc>
              <a:buNone/>
            </a:pPr>
            <a:r>
              <a:rPr lang="en-US" sz="600" dirty="0">
                <a:solidFill>
                  <a:schemeClr val="tx1"/>
                </a:solidFill>
              </a:rPr>
              <a:t> </a:t>
            </a:r>
            <a:endParaRPr lang="en-US" sz="1150" dirty="0"/>
          </a:p>
          <a:p>
            <a:pPr marL="0" indent="0">
              <a:lnSpc>
                <a:spcPct val="108000"/>
              </a:lnSpc>
              <a:buNone/>
            </a:pPr>
            <a:r>
              <a:rPr lang="en-US" sz="1150" b="1" dirty="0">
                <a:solidFill>
                  <a:schemeClr val="tx1"/>
                </a:solidFill>
              </a:rPr>
              <a:t>Banking and structure. </a:t>
            </a:r>
            <a:r>
              <a:rPr lang="en-US" sz="1150" dirty="0">
                <a:solidFill>
                  <a:schemeClr val="tx1"/>
                </a:solidFill>
              </a:rPr>
              <a:t>Lines of credit with borrowing-base reporting. Entities: the practice, a surgery center acquired in 2024 and Arizona Pharmacy Consultants.</a:t>
            </a:r>
            <a:endParaRPr lang="en-US" sz="1150" dirty="0"/>
          </a:p>
        </p:txBody>
      </p:sp>
      <p:sp>
        <p:nvSpPr>
          <p:cNvPr id="7" name="Text 5"/>
          <p:cNvSpPr txBox="1"/>
          <p:nvPr/>
        </p:nvSpPr>
        <p:spPr>
          <a:xfrm>
            <a:off x="4338218" y="1783080"/>
            <a:ext cx="3515258" cy="320040"/>
          </a:xfrm>
          <a:prstGeom prst="rect">
            <a:avLst/>
          </a:prstGeom>
          <a:noFill/>
          <a:ln/>
        </p:spPr>
        <p:txBody>
          <a:bodyPr wrap="square" lIns="0" tIns="0" rIns="0" bIns="0" rtlCol="0" anchor="t"/>
          <a:lstStyle/>
          <a:p>
            <a:pPr marL="0" indent="0">
              <a:buNone/>
            </a:pPr>
            <a:r>
              <a:rPr lang="en-US" sz="1300" b="1" dirty="0">
                <a:solidFill>
                  <a:schemeClr val="tx2"/>
                </a:solidFill>
                <a:latin typeface="Cambria" pitchFamily="34" charset="0"/>
                <a:ea typeface="Cambria" pitchFamily="34" charset="-122"/>
                <a:cs typeface="Cambria" pitchFamily="34" charset="-120"/>
              </a:rPr>
              <a:t>What you asked for</a:t>
            </a:r>
            <a:endParaRPr lang="en-US" sz="1300" dirty="0"/>
          </a:p>
        </p:txBody>
      </p:sp>
      <p:sp>
        <p:nvSpPr>
          <p:cNvPr id="8" name="need 1"/>
          <p:cNvSpPr/>
          <p:nvPr/>
        </p:nvSpPr>
        <p:spPr>
          <a:xfrm>
            <a:off x="4338218" y="2221992"/>
            <a:ext cx="329184" cy="329184"/>
          </a:xfrm>
          <a:prstGeom prst="ellipse">
            <a:avLst/>
          </a:prstGeom>
          <a:solidFill>
            <a:schemeClr val="accent1"/>
          </a:solidFill>
          <a:ln w="12700">
            <a:solidFill>
              <a:srgbClr val="1B2A49"/>
            </a:solidFill>
            <a:prstDash val="solid"/>
          </a:ln>
        </p:spPr>
        <p:txBody>
          <a:bodyPr/>
          <a:lstStyle/>
          <a:p>
            <a:endParaRPr lang="en-US"/>
          </a:p>
        </p:txBody>
      </p:sp>
      <p:sp>
        <p:nvSpPr>
          <p:cNvPr id="9" name="Text 7"/>
          <p:cNvSpPr txBox="1"/>
          <p:nvPr/>
        </p:nvSpPr>
        <p:spPr>
          <a:xfrm>
            <a:off x="4338218" y="2221992"/>
            <a:ext cx="329184" cy="329184"/>
          </a:xfrm>
          <a:prstGeom prst="rect">
            <a:avLst/>
          </a:prstGeom>
          <a:noFill/>
          <a:ln/>
        </p:spPr>
        <p:txBody>
          <a:bodyPr wrap="square" lIns="0" tIns="0" rIns="0" bIns="0" rtlCol="0" anchor="ctr"/>
          <a:lstStyle/>
          <a:p>
            <a:pPr marL="0" indent="0" algn="ctr">
              <a:buNone/>
            </a:pPr>
            <a:r>
              <a:rPr lang="en-US" sz="1100" b="1" dirty="0">
                <a:solidFill>
                  <a:schemeClr val="bg1"/>
                </a:solidFill>
              </a:rPr>
              <a:t>1</a:t>
            </a:r>
            <a:endParaRPr lang="en-US" sz="1100" dirty="0"/>
          </a:p>
        </p:txBody>
      </p:sp>
      <p:sp>
        <p:nvSpPr>
          <p:cNvPr id="10" name="Text 8"/>
          <p:cNvSpPr txBox="1"/>
          <p:nvPr/>
        </p:nvSpPr>
        <p:spPr>
          <a:xfrm>
            <a:off x="4795418" y="2194560"/>
            <a:ext cx="3058058" cy="731520"/>
          </a:xfrm>
          <a:prstGeom prst="rect">
            <a:avLst/>
          </a:prstGeom>
          <a:noFill/>
          <a:ln/>
        </p:spPr>
        <p:txBody>
          <a:bodyPr wrap="square" lIns="0" tIns="0" rIns="0" bIns="0" rtlCol="0" anchor="t"/>
          <a:lstStyle/>
          <a:p>
            <a:pPr marL="0" indent="0">
              <a:buNone/>
            </a:pPr>
            <a:r>
              <a:rPr lang="en-US" sz="1150" dirty="0">
                <a:solidFill>
                  <a:schemeClr val="tx1"/>
                </a:solidFill>
              </a:rPr>
              <a:t>Dependable finance leadership now, without waiting for another hire to ramp up.</a:t>
            </a:r>
            <a:endParaRPr lang="en-US" sz="1150" dirty="0"/>
          </a:p>
        </p:txBody>
      </p:sp>
      <p:sp>
        <p:nvSpPr>
          <p:cNvPr id="11" name="need 2"/>
          <p:cNvSpPr/>
          <p:nvPr/>
        </p:nvSpPr>
        <p:spPr>
          <a:xfrm>
            <a:off x="4338218" y="2999232"/>
            <a:ext cx="329184" cy="329184"/>
          </a:xfrm>
          <a:prstGeom prst="ellipse">
            <a:avLst/>
          </a:prstGeom>
          <a:solidFill>
            <a:schemeClr val="accent1"/>
          </a:solidFill>
          <a:ln w="12700">
            <a:solidFill>
              <a:srgbClr val="1B2A49"/>
            </a:solidFill>
            <a:prstDash val="solid"/>
          </a:ln>
        </p:spPr>
        <p:txBody>
          <a:bodyPr/>
          <a:lstStyle/>
          <a:p>
            <a:endParaRPr lang="en-US"/>
          </a:p>
        </p:txBody>
      </p:sp>
      <p:sp>
        <p:nvSpPr>
          <p:cNvPr id="12" name="Text 10"/>
          <p:cNvSpPr txBox="1"/>
          <p:nvPr/>
        </p:nvSpPr>
        <p:spPr>
          <a:xfrm>
            <a:off x="4338218" y="2999232"/>
            <a:ext cx="329184" cy="329184"/>
          </a:xfrm>
          <a:prstGeom prst="rect">
            <a:avLst/>
          </a:prstGeom>
          <a:noFill/>
          <a:ln/>
        </p:spPr>
        <p:txBody>
          <a:bodyPr wrap="square" lIns="0" tIns="0" rIns="0" bIns="0" rtlCol="0" anchor="ctr"/>
          <a:lstStyle/>
          <a:p>
            <a:pPr marL="0" indent="0" algn="ctr">
              <a:buNone/>
            </a:pPr>
            <a:r>
              <a:rPr lang="en-US" sz="1100" b="1" dirty="0">
                <a:solidFill>
                  <a:schemeClr val="bg1"/>
                </a:solidFill>
              </a:rPr>
              <a:t>2</a:t>
            </a:r>
            <a:endParaRPr lang="en-US" sz="1100" dirty="0"/>
          </a:p>
        </p:txBody>
      </p:sp>
      <p:sp>
        <p:nvSpPr>
          <p:cNvPr id="13" name="Text 11"/>
          <p:cNvSpPr txBox="1"/>
          <p:nvPr/>
        </p:nvSpPr>
        <p:spPr>
          <a:xfrm>
            <a:off x="4795418" y="2971800"/>
            <a:ext cx="3058058" cy="731520"/>
          </a:xfrm>
          <a:prstGeom prst="rect">
            <a:avLst/>
          </a:prstGeom>
          <a:noFill/>
          <a:ln/>
        </p:spPr>
        <p:txBody>
          <a:bodyPr wrap="square" lIns="0" tIns="0" rIns="0" bIns="0" rtlCol="0" anchor="t"/>
          <a:lstStyle/>
          <a:p>
            <a:pPr marL="0" indent="0">
              <a:buNone/>
            </a:pPr>
            <a:r>
              <a:rPr lang="en-US" sz="1150" dirty="0">
                <a:solidFill>
                  <a:schemeClr val="tx1"/>
                </a:solidFill>
              </a:rPr>
              <a:t>Controller-led close and operational finance, with knowledge transfer from Mark before he retires.</a:t>
            </a:r>
            <a:endParaRPr lang="en-US" sz="1150" dirty="0"/>
          </a:p>
        </p:txBody>
      </p:sp>
      <p:sp>
        <p:nvSpPr>
          <p:cNvPr id="14" name="need 3"/>
          <p:cNvSpPr/>
          <p:nvPr/>
        </p:nvSpPr>
        <p:spPr>
          <a:xfrm>
            <a:off x="4338218" y="3776472"/>
            <a:ext cx="329184" cy="329184"/>
          </a:xfrm>
          <a:prstGeom prst="ellipse">
            <a:avLst/>
          </a:prstGeom>
          <a:solidFill>
            <a:schemeClr val="accent1"/>
          </a:solidFill>
          <a:ln w="12700">
            <a:solidFill>
              <a:srgbClr val="1B2A49"/>
            </a:solidFill>
            <a:prstDash val="solid"/>
          </a:ln>
        </p:spPr>
        <p:txBody>
          <a:bodyPr/>
          <a:lstStyle/>
          <a:p>
            <a:endParaRPr lang="en-US"/>
          </a:p>
        </p:txBody>
      </p:sp>
      <p:sp>
        <p:nvSpPr>
          <p:cNvPr id="15" name="Text 13"/>
          <p:cNvSpPr txBox="1"/>
          <p:nvPr/>
        </p:nvSpPr>
        <p:spPr>
          <a:xfrm>
            <a:off x="4338218" y="3776472"/>
            <a:ext cx="329184" cy="329184"/>
          </a:xfrm>
          <a:prstGeom prst="rect">
            <a:avLst/>
          </a:prstGeom>
          <a:noFill/>
          <a:ln/>
        </p:spPr>
        <p:txBody>
          <a:bodyPr wrap="square" lIns="0" tIns="0" rIns="0" bIns="0" rtlCol="0" anchor="ctr"/>
          <a:lstStyle/>
          <a:p>
            <a:pPr marL="0" indent="0" algn="ctr">
              <a:buNone/>
            </a:pPr>
            <a:r>
              <a:rPr lang="en-US" sz="1100" b="1" dirty="0">
                <a:solidFill>
                  <a:schemeClr val="bg1"/>
                </a:solidFill>
              </a:rPr>
              <a:t>3</a:t>
            </a:r>
            <a:endParaRPr lang="en-US" sz="1100" dirty="0"/>
          </a:p>
        </p:txBody>
      </p:sp>
      <p:sp>
        <p:nvSpPr>
          <p:cNvPr id="16" name="Text 14"/>
          <p:cNvSpPr txBox="1"/>
          <p:nvPr/>
        </p:nvSpPr>
        <p:spPr>
          <a:xfrm>
            <a:off x="4795418" y="3749040"/>
            <a:ext cx="3058058" cy="731520"/>
          </a:xfrm>
          <a:prstGeom prst="rect">
            <a:avLst/>
          </a:prstGeom>
          <a:noFill/>
          <a:ln/>
        </p:spPr>
        <p:txBody>
          <a:bodyPr wrap="square" lIns="0" tIns="0" rIns="0" bIns="0" rtlCol="0" anchor="t"/>
          <a:lstStyle/>
          <a:p>
            <a:pPr marL="0" indent="0">
              <a:buNone/>
            </a:pPr>
            <a:r>
              <a:rPr lang="en-US" sz="1150" dirty="0">
                <a:solidFill>
                  <a:schemeClr val="tx1"/>
                </a:solidFill>
              </a:rPr>
              <a:t>A consistent senior contact the physicians can trust and reach.</a:t>
            </a:r>
            <a:endParaRPr lang="en-US" sz="1150" dirty="0"/>
          </a:p>
        </p:txBody>
      </p:sp>
      <p:sp>
        <p:nvSpPr>
          <p:cNvPr id="17" name="need 4"/>
          <p:cNvSpPr/>
          <p:nvPr/>
        </p:nvSpPr>
        <p:spPr>
          <a:xfrm>
            <a:off x="4338218" y="4553712"/>
            <a:ext cx="329184" cy="329184"/>
          </a:xfrm>
          <a:prstGeom prst="ellipse">
            <a:avLst/>
          </a:prstGeom>
          <a:solidFill>
            <a:schemeClr val="accent1"/>
          </a:solidFill>
          <a:ln w="12700">
            <a:solidFill>
              <a:srgbClr val="1B2A49"/>
            </a:solidFill>
            <a:prstDash val="solid"/>
          </a:ln>
        </p:spPr>
        <p:txBody>
          <a:bodyPr/>
          <a:lstStyle/>
          <a:p>
            <a:endParaRPr lang="en-US"/>
          </a:p>
        </p:txBody>
      </p:sp>
      <p:sp>
        <p:nvSpPr>
          <p:cNvPr id="18" name="Text 16"/>
          <p:cNvSpPr txBox="1"/>
          <p:nvPr/>
        </p:nvSpPr>
        <p:spPr>
          <a:xfrm>
            <a:off x="4338218" y="4553712"/>
            <a:ext cx="329184" cy="329184"/>
          </a:xfrm>
          <a:prstGeom prst="rect">
            <a:avLst/>
          </a:prstGeom>
          <a:noFill/>
          <a:ln/>
        </p:spPr>
        <p:txBody>
          <a:bodyPr wrap="square" lIns="0" tIns="0" rIns="0" bIns="0" rtlCol="0" anchor="ctr"/>
          <a:lstStyle/>
          <a:p>
            <a:pPr marL="0" indent="0" algn="ctr">
              <a:buNone/>
            </a:pPr>
            <a:r>
              <a:rPr lang="en-US" sz="1100" b="1" dirty="0">
                <a:solidFill>
                  <a:schemeClr val="bg1"/>
                </a:solidFill>
              </a:rPr>
              <a:t>4</a:t>
            </a:r>
            <a:endParaRPr lang="en-US" sz="1100" dirty="0"/>
          </a:p>
        </p:txBody>
      </p:sp>
      <p:sp>
        <p:nvSpPr>
          <p:cNvPr id="19" name="Text 17"/>
          <p:cNvSpPr txBox="1"/>
          <p:nvPr/>
        </p:nvSpPr>
        <p:spPr>
          <a:xfrm>
            <a:off x="4795418" y="4526280"/>
            <a:ext cx="3058058" cy="731520"/>
          </a:xfrm>
          <a:prstGeom prst="rect">
            <a:avLst/>
          </a:prstGeom>
          <a:noFill/>
          <a:ln/>
        </p:spPr>
        <p:txBody>
          <a:bodyPr wrap="square" lIns="0" tIns="0" rIns="0" bIns="0" rtlCol="0" anchor="t"/>
          <a:lstStyle/>
          <a:p>
            <a:pPr marL="0" indent="0">
              <a:buNone/>
            </a:pPr>
            <a:r>
              <a:rPr lang="en-US" sz="1150" dirty="0">
                <a:solidFill>
                  <a:schemeClr val="tx1"/>
                </a:solidFill>
              </a:rPr>
              <a:t>Less manual work between eClinicalWorks, payroll and QuickBooks Online, with review controls on any automation.</a:t>
            </a:r>
            <a:endParaRPr lang="en-US" sz="1150" dirty="0"/>
          </a:p>
        </p:txBody>
      </p:sp>
      <p:sp>
        <p:nvSpPr>
          <p:cNvPr id="20" name="need 5"/>
          <p:cNvSpPr/>
          <p:nvPr/>
        </p:nvSpPr>
        <p:spPr>
          <a:xfrm>
            <a:off x="4338218" y="5330952"/>
            <a:ext cx="329184" cy="329184"/>
          </a:xfrm>
          <a:prstGeom prst="ellipse">
            <a:avLst/>
          </a:prstGeom>
          <a:solidFill>
            <a:schemeClr val="accent1"/>
          </a:solidFill>
          <a:ln w="12700">
            <a:solidFill>
              <a:srgbClr val="1B2A49"/>
            </a:solidFill>
            <a:prstDash val="solid"/>
          </a:ln>
        </p:spPr>
        <p:txBody>
          <a:bodyPr/>
          <a:lstStyle/>
          <a:p>
            <a:endParaRPr lang="en-US"/>
          </a:p>
        </p:txBody>
      </p:sp>
      <p:sp>
        <p:nvSpPr>
          <p:cNvPr id="21" name="Text 19"/>
          <p:cNvSpPr txBox="1"/>
          <p:nvPr/>
        </p:nvSpPr>
        <p:spPr>
          <a:xfrm>
            <a:off x="4338218" y="5330952"/>
            <a:ext cx="329184" cy="329184"/>
          </a:xfrm>
          <a:prstGeom prst="rect">
            <a:avLst/>
          </a:prstGeom>
          <a:noFill/>
          <a:ln/>
        </p:spPr>
        <p:txBody>
          <a:bodyPr wrap="square" lIns="0" tIns="0" rIns="0" bIns="0" rtlCol="0" anchor="ctr"/>
          <a:lstStyle/>
          <a:p>
            <a:pPr marL="0" indent="0" algn="ctr">
              <a:buNone/>
            </a:pPr>
            <a:r>
              <a:rPr lang="en-US" sz="1100" b="1" dirty="0">
                <a:solidFill>
                  <a:schemeClr val="bg1"/>
                </a:solidFill>
              </a:rPr>
              <a:t>5</a:t>
            </a:r>
            <a:endParaRPr lang="en-US" sz="1100" dirty="0"/>
          </a:p>
        </p:txBody>
      </p:sp>
      <p:sp>
        <p:nvSpPr>
          <p:cNvPr id="22" name="Text 20"/>
          <p:cNvSpPr txBox="1"/>
          <p:nvPr/>
        </p:nvSpPr>
        <p:spPr>
          <a:xfrm>
            <a:off x="4795418" y="5303520"/>
            <a:ext cx="3058058" cy="731520"/>
          </a:xfrm>
          <a:prstGeom prst="rect">
            <a:avLst/>
          </a:prstGeom>
          <a:noFill/>
          <a:ln/>
        </p:spPr>
        <p:txBody>
          <a:bodyPr wrap="square" lIns="0" tIns="0" rIns="0" bIns="0" rtlCol="0" anchor="t"/>
          <a:lstStyle/>
          <a:p>
            <a:pPr marL="0" indent="0">
              <a:buNone/>
            </a:pPr>
            <a:r>
              <a:rPr lang="en-US" sz="1150" dirty="0">
                <a:solidFill>
                  <a:schemeClr val="tx1"/>
                </a:solidFill>
              </a:rPr>
              <a:t>A path that can grow into broader CFO leadership: budgeting, board and lender reporting.</a:t>
            </a:r>
            <a:endParaRPr lang="en-US" sz="1150" dirty="0"/>
          </a:p>
        </p:txBody>
      </p:sp>
      <p:sp>
        <p:nvSpPr>
          <p:cNvPr id="23" name="Text 21"/>
          <p:cNvSpPr txBox="1"/>
          <p:nvPr/>
        </p:nvSpPr>
        <p:spPr>
          <a:xfrm>
            <a:off x="8127797" y="1783080"/>
            <a:ext cx="3515258" cy="320040"/>
          </a:xfrm>
          <a:prstGeom prst="rect">
            <a:avLst/>
          </a:prstGeom>
          <a:noFill/>
          <a:ln/>
        </p:spPr>
        <p:txBody>
          <a:bodyPr wrap="square" lIns="0" tIns="0" rIns="0" bIns="0" rtlCol="0" anchor="t"/>
          <a:lstStyle/>
          <a:p>
            <a:pPr marL="0" indent="0">
              <a:buNone/>
            </a:pPr>
            <a:r>
              <a:rPr lang="en-US" sz="1300" b="1" dirty="0">
                <a:solidFill>
                  <a:schemeClr val="tx2"/>
                </a:solidFill>
                <a:latin typeface="Cambria" pitchFamily="34" charset="0"/>
                <a:ea typeface="Cambria" pitchFamily="34" charset="-122"/>
                <a:cs typeface="Cambria" pitchFamily="34" charset="-120"/>
              </a:rPr>
              <a:t>Dates that do not wait</a:t>
            </a:r>
            <a:endParaRPr lang="en-US" sz="1300" dirty="0"/>
          </a:p>
        </p:txBody>
      </p:sp>
      <p:sp>
        <p:nvSpPr>
          <p:cNvPr id="24" name="date Oct 15"/>
          <p:cNvSpPr/>
          <p:nvPr/>
        </p:nvSpPr>
        <p:spPr>
          <a:xfrm>
            <a:off x="8127797" y="2194560"/>
            <a:ext cx="960120" cy="457200"/>
          </a:xfrm>
          <a:prstGeom prst="rect">
            <a:avLst/>
          </a:prstGeom>
          <a:solidFill>
            <a:schemeClr val="accent2"/>
          </a:solidFill>
          <a:ln w="12700">
            <a:solidFill>
              <a:srgbClr val="AF1F29"/>
            </a:solidFill>
            <a:prstDash val="solid"/>
          </a:ln>
        </p:spPr>
        <p:txBody>
          <a:bodyPr/>
          <a:lstStyle/>
          <a:p>
            <a:endParaRPr lang="en-US"/>
          </a:p>
        </p:txBody>
      </p:sp>
      <p:sp>
        <p:nvSpPr>
          <p:cNvPr id="25" name="Text 23"/>
          <p:cNvSpPr txBox="1"/>
          <p:nvPr/>
        </p:nvSpPr>
        <p:spPr>
          <a:xfrm>
            <a:off x="8127797" y="2194560"/>
            <a:ext cx="960120" cy="457200"/>
          </a:xfrm>
          <a:prstGeom prst="rect">
            <a:avLst/>
          </a:prstGeom>
          <a:noFill/>
          <a:ln/>
        </p:spPr>
        <p:txBody>
          <a:bodyPr wrap="square" lIns="0" tIns="0" rIns="0" bIns="0" rtlCol="0" anchor="ctr"/>
          <a:lstStyle/>
          <a:p>
            <a:pPr marL="0" indent="0" algn="ctr">
              <a:buNone/>
            </a:pPr>
            <a:r>
              <a:rPr lang="en-US" sz="1150" b="1" dirty="0">
                <a:solidFill>
                  <a:schemeClr val="bg1"/>
                </a:solidFill>
              </a:rPr>
              <a:t>Now</a:t>
            </a:r>
            <a:endParaRPr lang="en-US" sz="1150" dirty="0"/>
          </a:p>
        </p:txBody>
      </p:sp>
      <p:sp>
        <p:nvSpPr>
          <p:cNvPr id="26" name="Text 24"/>
          <p:cNvSpPr txBox="1"/>
          <p:nvPr/>
        </p:nvSpPr>
        <p:spPr>
          <a:xfrm>
            <a:off x="9225077" y="2194560"/>
            <a:ext cx="2417978" cy="731520"/>
          </a:xfrm>
          <a:prstGeom prst="rect">
            <a:avLst/>
          </a:prstGeom>
          <a:noFill/>
          <a:ln/>
        </p:spPr>
        <p:txBody>
          <a:bodyPr wrap="square" lIns="0" tIns="0" rIns="0" bIns="0" rtlCol="0" anchor="t"/>
          <a:lstStyle/>
          <a:p>
            <a:pPr marL="0" indent="0">
              <a:buNone/>
            </a:pPr>
            <a:r>
              <a:rPr lang="en-US" sz="1150" dirty="0">
                <a:solidFill>
                  <a:schemeClr val="tx1"/>
                </a:solidFill>
              </a:rPr>
              <a:t>Knowledge transfer from Mark</a:t>
            </a:r>
            <a:endParaRPr lang="en-US" sz="1150" dirty="0"/>
          </a:p>
        </p:txBody>
      </p:sp>
      <p:sp>
        <p:nvSpPr>
          <p:cNvPr id="27" name="date Nov 14"/>
          <p:cNvSpPr/>
          <p:nvPr/>
        </p:nvSpPr>
        <p:spPr>
          <a:xfrm>
            <a:off x="8127797" y="2971800"/>
            <a:ext cx="960120" cy="457200"/>
          </a:xfrm>
          <a:prstGeom prst="rect">
            <a:avLst/>
          </a:prstGeom>
          <a:solidFill>
            <a:schemeClr val="accent2"/>
          </a:solidFill>
          <a:ln w="12700">
            <a:solidFill>
              <a:srgbClr val="AF1F29"/>
            </a:solidFill>
            <a:prstDash val="solid"/>
          </a:ln>
        </p:spPr>
        <p:txBody>
          <a:bodyPr/>
          <a:lstStyle/>
          <a:p>
            <a:endParaRPr lang="en-US"/>
          </a:p>
        </p:txBody>
      </p:sp>
      <p:sp>
        <p:nvSpPr>
          <p:cNvPr id="28" name="Text 26"/>
          <p:cNvSpPr txBox="1"/>
          <p:nvPr/>
        </p:nvSpPr>
        <p:spPr>
          <a:xfrm>
            <a:off x="8127797" y="2971800"/>
            <a:ext cx="960120" cy="457200"/>
          </a:xfrm>
          <a:prstGeom prst="rect">
            <a:avLst/>
          </a:prstGeom>
          <a:noFill/>
          <a:ln/>
        </p:spPr>
        <p:txBody>
          <a:bodyPr wrap="square" lIns="0" tIns="0" rIns="0" bIns="0" rtlCol="0" anchor="ctr"/>
          <a:lstStyle/>
          <a:p>
            <a:pPr marL="0" indent="0" algn="ctr">
              <a:buNone/>
            </a:pPr>
            <a:r>
              <a:rPr lang="en-US" sz="1150" b="1" dirty="0">
                <a:solidFill>
                  <a:schemeClr val="bg1"/>
                </a:solidFill>
              </a:rPr>
              <a:t>Dec</a:t>
            </a:r>
            <a:endParaRPr lang="en-US" sz="1150" dirty="0"/>
          </a:p>
        </p:txBody>
      </p:sp>
      <p:sp>
        <p:nvSpPr>
          <p:cNvPr id="29" name="Text 27"/>
          <p:cNvSpPr txBox="1"/>
          <p:nvPr/>
        </p:nvSpPr>
        <p:spPr>
          <a:xfrm>
            <a:off x="9225077" y="2971800"/>
            <a:ext cx="2417978" cy="731520"/>
          </a:xfrm>
          <a:prstGeom prst="rect">
            <a:avLst/>
          </a:prstGeom>
          <a:noFill/>
          <a:ln/>
        </p:spPr>
        <p:txBody>
          <a:bodyPr wrap="square" lIns="0" tIns="0" rIns="0" bIns="0" rtlCol="0" anchor="t"/>
          <a:lstStyle/>
          <a:p>
            <a:pPr marL="0" indent="0">
              <a:buNone/>
            </a:pPr>
            <a:r>
              <a:rPr lang="en-US" sz="1150" dirty="0">
                <a:solidFill>
                  <a:schemeClr val="tx1"/>
                </a:solidFill>
              </a:rPr>
              <a:t>Annual shareholder board meeting</a:t>
            </a:r>
            <a:endParaRPr lang="en-US" sz="1150" dirty="0"/>
          </a:p>
        </p:txBody>
      </p:sp>
      <p:sp>
        <p:nvSpPr>
          <p:cNvPr id="30" name="date Now"/>
          <p:cNvSpPr/>
          <p:nvPr/>
        </p:nvSpPr>
        <p:spPr>
          <a:xfrm>
            <a:off x="8127797" y="3749040"/>
            <a:ext cx="960120" cy="457200"/>
          </a:xfrm>
          <a:prstGeom prst="rect">
            <a:avLst/>
          </a:prstGeom>
          <a:solidFill>
            <a:schemeClr val="accent2"/>
          </a:solidFill>
          <a:ln w="12700">
            <a:solidFill>
              <a:srgbClr val="AF1F29"/>
            </a:solidFill>
            <a:prstDash val="solid"/>
          </a:ln>
        </p:spPr>
        <p:txBody>
          <a:bodyPr/>
          <a:lstStyle/>
          <a:p>
            <a:endParaRPr lang="en-US"/>
          </a:p>
        </p:txBody>
      </p:sp>
      <p:sp>
        <p:nvSpPr>
          <p:cNvPr id="31" name="Text 29"/>
          <p:cNvSpPr txBox="1"/>
          <p:nvPr/>
        </p:nvSpPr>
        <p:spPr>
          <a:xfrm>
            <a:off x="8127797" y="3749040"/>
            <a:ext cx="960120" cy="457200"/>
          </a:xfrm>
          <a:prstGeom prst="rect">
            <a:avLst/>
          </a:prstGeom>
          <a:noFill/>
          <a:ln/>
        </p:spPr>
        <p:txBody>
          <a:bodyPr wrap="square" lIns="0" tIns="0" rIns="0" bIns="0" rtlCol="0" anchor="ctr"/>
          <a:lstStyle/>
          <a:p>
            <a:pPr marL="0" indent="0" algn="ctr">
              <a:buNone/>
            </a:pPr>
            <a:r>
              <a:rPr lang="en-US" sz="1150" b="1" dirty="0">
                <a:solidFill>
                  <a:schemeClr val="bg1"/>
                </a:solidFill>
              </a:rPr>
              <a:t>Dec 31</a:t>
            </a:r>
            <a:endParaRPr lang="en-US" sz="1150" dirty="0"/>
          </a:p>
        </p:txBody>
      </p:sp>
      <p:sp>
        <p:nvSpPr>
          <p:cNvPr id="32" name="Text 30"/>
          <p:cNvSpPr txBox="1"/>
          <p:nvPr/>
        </p:nvSpPr>
        <p:spPr>
          <a:xfrm>
            <a:off x="9225077" y="3749040"/>
            <a:ext cx="2417978" cy="731520"/>
          </a:xfrm>
          <a:prstGeom prst="rect">
            <a:avLst/>
          </a:prstGeom>
          <a:noFill/>
          <a:ln/>
        </p:spPr>
        <p:txBody>
          <a:bodyPr wrap="square" lIns="0" tIns="0" rIns="0" bIns="0" rtlCol="0" anchor="t"/>
          <a:lstStyle/>
          <a:p>
            <a:pPr marL="0" indent="0">
              <a:buNone/>
            </a:pPr>
            <a:r>
              <a:rPr lang="en-US" sz="1150" dirty="0">
                <a:solidFill>
                  <a:schemeClr val="tx1"/>
                </a:solidFill>
              </a:rPr>
              <a:t>Year-end close, then the CBIZ tax package</a:t>
            </a:r>
            <a:endParaRPr lang="en-US" sz="1150" dirty="0"/>
          </a:p>
        </p:txBody>
      </p:sp>
      <p:sp>
        <p:nvSpPr>
          <p:cNvPr id="33" name="date Monthly"/>
          <p:cNvSpPr/>
          <p:nvPr/>
        </p:nvSpPr>
        <p:spPr>
          <a:xfrm>
            <a:off x="8127797" y="4526280"/>
            <a:ext cx="960120" cy="457200"/>
          </a:xfrm>
          <a:prstGeom prst="rect">
            <a:avLst/>
          </a:prstGeom>
          <a:solidFill>
            <a:schemeClr val="accent2"/>
          </a:solidFill>
          <a:ln w="12700">
            <a:solidFill>
              <a:srgbClr val="AF1F29"/>
            </a:solidFill>
            <a:prstDash val="solid"/>
          </a:ln>
        </p:spPr>
        <p:txBody>
          <a:bodyPr/>
          <a:lstStyle/>
          <a:p>
            <a:endParaRPr lang="en-US"/>
          </a:p>
        </p:txBody>
      </p:sp>
      <p:sp>
        <p:nvSpPr>
          <p:cNvPr id="34" name="Text 32"/>
          <p:cNvSpPr txBox="1"/>
          <p:nvPr/>
        </p:nvSpPr>
        <p:spPr>
          <a:xfrm>
            <a:off x="8127797" y="4526280"/>
            <a:ext cx="960120" cy="457200"/>
          </a:xfrm>
          <a:prstGeom prst="rect">
            <a:avLst/>
          </a:prstGeom>
          <a:noFill/>
          <a:ln/>
        </p:spPr>
        <p:txBody>
          <a:bodyPr wrap="square" lIns="0" tIns="0" rIns="0" bIns="0" rtlCol="0" anchor="ctr"/>
          <a:lstStyle/>
          <a:p>
            <a:pPr marL="0" indent="0" algn="ctr">
              <a:buNone/>
            </a:pPr>
            <a:r>
              <a:rPr lang="en-US" sz="1150" b="1" dirty="0">
                <a:solidFill>
                  <a:schemeClr val="bg1"/>
                </a:solidFill>
              </a:rPr>
              <a:t>Monthly</a:t>
            </a:r>
            <a:endParaRPr lang="en-US" sz="1150" dirty="0"/>
          </a:p>
        </p:txBody>
      </p:sp>
      <p:sp>
        <p:nvSpPr>
          <p:cNvPr id="35" name="Text 33"/>
          <p:cNvSpPr txBox="1"/>
          <p:nvPr/>
        </p:nvSpPr>
        <p:spPr>
          <a:xfrm>
            <a:off x="9225077" y="4526280"/>
            <a:ext cx="2417978" cy="731520"/>
          </a:xfrm>
          <a:prstGeom prst="rect">
            <a:avLst/>
          </a:prstGeom>
          <a:noFill/>
          <a:ln/>
        </p:spPr>
        <p:txBody>
          <a:bodyPr wrap="square" lIns="0" tIns="0" rIns="0" bIns="0" rtlCol="0" anchor="t"/>
          <a:lstStyle/>
          <a:p>
            <a:pPr marL="0" indent="0">
              <a:buNone/>
            </a:pPr>
            <a:r>
              <a:rPr lang="en-US" sz="1150" dirty="0">
                <a:solidFill>
                  <a:schemeClr val="tx1"/>
                </a:solidFill>
              </a:rPr>
              <a:t>Close, mid-month physician bonus and revenue-cycle analytics continue uninterrupted</a:t>
            </a:r>
            <a:endParaRPr lang="en-US" sz="1150" dirty="0"/>
          </a:p>
        </p:txBody>
      </p:sp>
      <p:sp>
        <p:nvSpPr>
          <p:cNvPr id="36" name="date Dec 31"/>
          <p:cNvSpPr/>
          <p:nvPr/>
        </p:nvSpPr>
        <p:spPr>
          <a:xfrm>
            <a:off x="8127797" y="5303520"/>
            <a:ext cx="960120" cy="457200"/>
          </a:xfrm>
          <a:prstGeom prst="rect">
            <a:avLst/>
          </a:prstGeom>
          <a:solidFill>
            <a:schemeClr val="accent2"/>
          </a:solidFill>
          <a:ln w="12700">
            <a:solidFill>
              <a:srgbClr val="AF1F29"/>
            </a:solidFill>
            <a:prstDash val="solid"/>
          </a:ln>
        </p:spPr>
        <p:txBody>
          <a:bodyPr/>
          <a:lstStyle/>
          <a:p>
            <a:endParaRPr lang="en-US"/>
          </a:p>
        </p:txBody>
      </p:sp>
      <p:sp>
        <p:nvSpPr>
          <p:cNvPr id="37" name="Text 35"/>
          <p:cNvSpPr txBox="1"/>
          <p:nvPr/>
        </p:nvSpPr>
        <p:spPr>
          <a:xfrm>
            <a:off x="8127797" y="5303520"/>
            <a:ext cx="960120" cy="457200"/>
          </a:xfrm>
          <a:prstGeom prst="rect">
            <a:avLst/>
          </a:prstGeom>
          <a:noFill/>
          <a:ln/>
        </p:spPr>
        <p:txBody>
          <a:bodyPr wrap="square" lIns="0" tIns="0" rIns="0" bIns="0" rtlCol="0" anchor="ctr"/>
          <a:lstStyle/>
          <a:p>
            <a:pPr marL="0" indent="0" algn="ctr">
              <a:buNone/>
            </a:pPr>
            <a:r>
              <a:rPr lang="en-US" sz="1150" b="1" dirty="0">
                <a:solidFill>
                  <a:schemeClr val="bg1"/>
                </a:solidFill>
              </a:rPr>
              <a:t>Mar 1</a:t>
            </a:r>
            <a:endParaRPr lang="en-US" sz="1150" dirty="0"/>
          </a:p>
        </p:txBody>
      </p:sp>
      <p:sp>
        <p:nvSpPr>
          <p:cNvPr id="38" name="Text 36"/>
          <p:cNvSpPr txBox="1"/>
          <p:nvPr/>
        </p:nvSpPr>
        <p:spPr>
          <a:xfrm>
            <a:off x="9225077" y="5303520"/>
            <a:ext cx="2417978" cy="731520"/>
          </a:xfrm>
          <a:prstGeom prst="rect">
            <a:avLst/>
          </a:prstGeom>
          <a:noFill/>
          <a:ln/>
        </p:spPr>
        <p:txBody>
          <a:bodyPr wrap="square" lIns="0" tIns="0" rIns="0" bIns="0" rtlCol="0" anchor="t"/>
          <a:lstStyle/>
          <a:p>
            <a:pPr marL="0" indent="0">
              <a:buNone/>
            </a:pPr>
            <a:r>
              <a:rPr lang="en-US" sz="1150" dirty="0">
                <a:solidFill>
                  <a:schemeClr val="tx1"/>
                </a:solidFill>
              </a:rPr>
              <a:t>Benefits renewal, with Paychex under review</a:t>
            </a:r>
            <a:endParaRPr lang="en-US" sz="1150" dirty="0"/>
          </a:p>
        </p:txBody>
      </p:sp>
      <p:sp>
        <p:nvSpPr>
          <p:cNvPr id="39" name="Text 37"/>
          <p:cNvSpPr txBox="1"/>
          <p:nvPr/>
        </p:nvSpPr>
        <p:spPr>
          <a:xfrm>
            <a:off x="548640" y="6263640"/>
            <a:ext cx="10972800" cy="274320"/>
          </a:xfrm>
          <a:prstGeom prst="rect">
            <a:avLst/>
          </a:prstGeom>
          <a:noFill/>
          <a:ln/>
        </p:spPr>
        <p:txBody>
          <a:bodyPr wrap="square" lIns="0" tIns="0" rIns="0" bIns="0" rtlCol="0" anchor="t"/>
          <a:lstStyle/>
          <a:p>
            <a:pPr marL="0" indent="0">
              <a:buNone/>
            </a:pPr>
            <a:r>
              <a:rPr lang="en-US" sz="950" dirty="0">
                <a:solidFill>
                  <a:schemeClr val="accent3"/>
                </a:solidFill>
              </a:rPr>
              <a:t>Based on our October 5 call with Mark and the job description provided afterward. Details are confirmed during onboarding.</a:t>
            </a:r>
            <a:endParaRPr lang="en-US" sz="950" dirty="0"/>
          </a:p>
        </p:txBody>
      </p:sp>
      <p:sp>
        <p:nvSpPr>
          <p:cNvPr id="40"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472"/>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body" idx="102" hasCustomPrompt="1"/>
          </p:nvPr>
        </p:nvSpPr>
        <p:spPr>
          <a:xfrm>
            <a:off x="548640" y="384048"/>
            <a:ext cx="8229600" cy="274320"/>
          </a:xfrm>
          <a:prstGeom prst="rect">
            <a:avLst/>
          </a:prstGeom>
          <a:noFill/>
          <a:ln/>
        </p:spPr>
        <p:txBody>
          <a:bodyPr wrap="square" lIns="0" tIns="0" rIns="0" bIns="0" rtlCol="0"/>
          <a:lstStyle/>
          <a:p>
            <a:pPr marL="0" indent="0">
              <a:buNone/>
            </a:pPr>
            <a:r>
              <a:rPr lang="en-US" sz="1100" b="1" kern="0" spc="200" dirty="0">
                <a:solidFill>
                  <a:srgbClr val="AF1F29"/>
                </a:solidFill>
              </a:rPr>
              <a:t>02  WHAT WE CAN HELP WITH</a:t>
            </a:r>
            <a:endParaRPr lang="en-US" sz="1100" dirty="0"/>
          </a:p>
        </p:txBody>
      </p:sp>
      <p:sp>
        <p:nvSpPr>
          <p:cNvPr id="3" name="Text 1"/>
          <p:cNvSpPr>
            <a:spLocks noGrp="1"/>
          </p:cNvSpPr>
          <p:nvPr>
            <p:ph type="title" idx="103" hasCustomPrompt="1"/>
          </p:nvPr>
        </p:nvSpPr>
        <p:spPr>
          <a:xfrm>
            <a:off x="548640" y="658368"/>
            <a:ext cx="9692640" cy="731520"/>
          </a:xfrm>
          <a:prstGeom prst="rect">
            <a:avLst/>
          </a:prstGeom>
          <a:noFill/>
          <a:ln/>
        </p:spPr>
        <p:txBody>
          <a:bodyPr wrap="square" lIns="0" tIns="0" rIns="0" bIns="0" rtlCol="0" anchor="t"/>
          <a:lstStyle/>
          <a:p>
            <a:pPr marL="0" indent="0" algn="l">
              <a:buNone/>
            </a:pPr>
            <a:r>
              <a:rPr lang="en-US" sz="2800" dirty="0">
                <a:solidFill>
                  <a:srgbClr val="16181D"/>
                </a:solidFill>
              </a:rPr>
              <a:t>Services proposed for the practice</a:t>
            </a:r>
            <a:endParaRPr lang="en-US" sz="2800" dirty="0"/>
          </a:p>
        </p:txBody>
      </p:sp>
      <p:sp>
        <p:nvSpPr>
          <p:cNvPr id="4" name="card Controller services"/>
          <p:cNvSpPr/>
          <p:nvPr/>
        </p:nvSpPr>
        <p:spPr>
          <a:xfrm>
            <a:off x="548640" y="1463040"/>
            <a:ext cx="3545738" cy="2560320"/>
          </a:xfrm>
          <a:prstGeom prst="rect">
            <a:avLst/>
          </a:prstGeom>
          <a:solidFill>
            <a:schemeClr val="accent5"/>
          </a:solidFill>
          <a:ln w="9525">
            <a:solidFill>
              <a:srgbClr val="D5D9E0"/>
            </a:solidFill>
            <a:prstDash val="solid"/>
          </a:ln>
        </p:spPr>
        <p:txBody>
          <a:bodyPr/>
          <a:lstStyle/>
          <a:p>
            <a:endParaRPr lang="en-US"/>
          </a:p>
        </p:txBody>
      </p:sp>
      <p:sp>
        <p:nvSpPr>
          <p:cNvPr id="5" name="Text 3"/>
          <p:cNvSpPr txBox="1"/>
          <p:nvPr/>
        </p:nvSpPr>
        <p:spPr>
          <a:xfrm>
            <a:off x="731520" y="1627632"/>
            <a:ext cx="3179978" cy="365760"/>
          </a:xfrm>
          <a:prstGeom prst="rect">
            <a:avLst/>
          </a:prstGeom>
          <a:noFill/>
          <a:ln/>
        </p:spPr>
        <p:txBody>
          <a:bodyPr wrap="square" lIns="0" tIns="0" rIns="0" bIns="0" rtlCol="0" anchor="t"/>
          <a:lstStyle/>
          <a:p>
            <a:pPr marL="0" indent="0">
              <a:buNone/>
            </a:pPr>
            <a:r>
              <a:rPr lang="en-US" sz="1300" b="1" dirty="0">
                <a:solidFill>
                  <a:schemeClr val="tx2"/>
                </a:solidFill>
                <a:latin typeface="Cambria" pitchFamily="34" charset="0"/>
                <a:ea typeface="Cambria" pitchFamily="34" charset="-122"/>
                <a:cs typeface="Cambria" pitchFamily="34" charset="-120"/>
              </a:rPr>
              <a:t>Controller services</a:t>
            </a:r>
            <a:endParaRPr lang="en-US" sz="1300" dirty="0"/>
          </a:p>
        </p:txBody>
      </p:sp>
      <p:sp>
        <p:nvSpPr>
          <p:cNvPr id="6" name="Text 4"/>
          <p:cNvSpPr txBox="1"/>
          <p:nvPr/>
        </p:nvSpPr>
        <p:spPr>
          <a:xfrm>
            <a:off x="731520" y="2029968"/>
            <a:ext cx="3179978" cy="1874520"/>
          </a:xfrm>
          <a:prstGeom prst="rect">
            <a:avLst/>
          </a:prstGeom>
          <a:noFill/>
          <a:ln/>
        </p:spPr>
        <p:txBody>
          <a:bodyPr wrap="square" lIns="0" tIns="0" rIns="0" bIns="0" rtlCol="0" anchor="t"/>
          <a:lstStyle/>
          <a:p>
            <a:pPr marL="152400" indent="-152400">
              <a:spcAft>
                <a:spcPts val="400"/>
              </a:spcAft>
              <a:buSzPct val="100000"/>
              <a:buChar char="•"/>
            </a:pPr>
            <a:r>
              <a:rPr lang="en-US" sz="1150" dirty="0">
                <a:solidFill>
                  <a:schemeClr val="tx1"/>
                </a:solidFill>
              </a:rPr>
              <a:t>Lead the monthly close on an agreed calendar</a:t>
            </a:r>
            <a:endParaRPr lang="en-US" sz="1150" dirty="0"/>
          </a:p>
          <a:p>
            <a:pPr marL="152400" indent="-152400">
              <a:spcAft>
                <a:spcPts val="400"/>
              </a:spcAft>
              <a:buSzPct val="100000"/>
              <a:buChar char="•"/>
            </a:pPr>
            <a:r>
              <a:rPr lang="en-US" sz="1150" dirty="0">
                <a:solidFill>
                  <a:schemeClr val="tx1"/>
                </a:solidFill>
              </a:rPr>
              <a:t>Review reconciliations and entries prepared by the internal team</a:t>
            </a:r>
            <a:endParaRPr lang="en-US" sz="1150" dirty="0"/>
          </a:p>
          <a:p>
            <a:pPr marL="152400" indent="-152400">
              <a:spcAft>
                <a:spcPts val="400"/>
              </a:spcAft>
              <a:buSzPct val="100000"/>
              <a:buChar char="•"/>
            </a:pPr>
            <a:r>
              <a:rPr lang="en-US" sz="1150" dirty="0">
                <a:solidFill>
                  <a:schemeClr val="tx1"/>
                </a:solidFill>
              </a:rPr>
              <a:t>Support physician compensation: class allocations and the mid-month bonus</a:t>
            </a:r>
            <a:endParaRPr lang="en-US" sz="1150" dirty="0"/>
          </a:p>
          <a:p>
            <a:pPr marL="152400" indent="-152400">
              <a:spcAft>
                <a:spcPts val="400"/>
              </a:spcAft>
              <a:buSzPct val="100000"/>
              <a:buChar char="•"/>
            </a:pPr>
            <a:r>
              <a:rPr lang="en-US" sz="1150" dirty="0">
                <a:solidFill>
                  <a:schemeClr val="tx1"/>
                </a:solidFill>
              </a:rPr>
              <a:t>Document close procedures and controls</a:t>
            </a:r>
            <a:endParaRPr lang="en-US" sz="1150" dirty="0"/>
          </a:p>
          <a:p>
            <a:pPr marL="152400" indent="-152400">
              <a:spcAft>
                <a:spcPts val="400"/>
              </a:spcAft>
              <a:buSzPct val="100000"/>
              <a:buChar char="•"/>
            </a:pPr>
            <a:r>
              <a:rPr lang="en-US" sz="1150" dirty="0">
                <a:solidFill>
                  <a:schemeClr val="tx1"/>
                </a:solidFill>
              </a:rPr>
              <a:t>Guide the internal team on AP, AR and the ledger; day-to-day contact</a:t>
            </a:r>
            <a:endParaRPr lang="en-US" sz="1150" dirty="0"/>
          </a:p>
        </p:txBody>
      </p:sp>
      <p:sp>
        <p:nvSpPr>
          <p:cNvPr id="7" name="card Management and bank reporting"/>
          <p:cNvSpPr/>
          <p:nvPr/>
        </p:nvSpPr>
        <p:spPr>
          <a:xfrm>
            <a:off x="4322978" y="1463040"/>
            <a:ext cx="3545738" cy="2560320"/>
          </a:xfrm>
          <a:prstGeom prst="rect">
            <a:avLst/>
          </a:prstGeom>
          <a:solidFill>
            <a:schemeClr val="accent5"/>
          </a:solidFill>
          <a:ln w="9525">
            <a:solidFill>
              <a:srgbClr val="D5D9E0"/>
            </a:solidFill>
            <a:prstDash val="solid"/>
          </a:ln>
        </p:spPr>
        <p:txBody>
          <a:bodyPr/>
          <a:lstStyle/>
          <a:p>
            <a:endParaRPr lang="en-US"/>
          </a:p>
        </p:txBody>
      </p:sp>
      <p:sp>
        <p:nvSpPr>
          <p:cNvPr id="8" name="Text 6"/>
          <p:cNvSpPr txBox="1"/>
          <p:nvPr/>
        </p:nvSpPr>
        <p:spPr>
          <a:xfrm>
            <a:off x="4505858" y="1627632"/>
            <a:ext cx="3179978" cy="365760"/>
          </a:xfrm>
          <a:prstGeom prst="rect">
            <a:avLst/>
          </a:prstGeom>
          <a:noFill/>
          <a:ln/>
        </p:spPr>
        <p:txBody>
          <a:bodyPr wrap="square" lIns="0" tIns="0" rIns="0" bIns="0" rtlCol="0" anchor="t"/>
          <a:lstStyle/>
          <a:p>
            <a:pPr marL="0" indent="0">
              <a:buNone/>
            </a:pPr>
            <a:r>
              <a:rPr lang="en-US" sz="1300" b="1" dirty="0">
                <a:solidFill>
                  <a:schemeClr val="tx2"/>
                </a:solidFill>
                <a:latin typeface="Cambria" pitchFamily="34" charset="0"/>
                <a:ea typeface="Cambria" pitchFamily="34" charset="-122"/>
                <a:cs typeface="Cambria" pitchFamily="34" charset="-120"/>
              </a:rPr>
              <a:t>Board and lender reporting</a:t>
            </a:r>
            <a:endParaRPr lang="en-US" sz="1300" dirty="0"/>
          </a:p>
        </p:txBody>
      </p:sp>
      <p:sp>
        <p:nvSpPr>
          <p:cNvPr id="9" name="Text 7"/>
          <p:cNvSpPr txBox="1"/>
          <p:nvPr/>
        </p:nvSpPr>
        <p:spPr>
          <a:xfrm>
            <a:off x="4505858" y="2029968"/>
            <a:ext cx="3179978" cy="1874520"/>
          </a:xfrm>
          <a:prstGeom prst="rect">
            <a:avLst/>
          </a:prstGeom>
          <a:noFill/>
          <a:ln/>
        </p:spPr>
        <p:txBody>
          <a:bodyPr wrap="square" lIns="0" tIns="0" rIns="0" bIns="0" rtlCol="0" anchor="t"/>
          <a:lstStyle/>
          <a:p>
            <a:pPr marL="152400" indent="-152400">
              <a:spcAft>
                <a:spcPts val="400"/>
              </a:spcAft>
              <a:buSzPct val="100000"/>
              <a:buChar char="•"/>
            </a:pPr>
            <a:r>
              <a:rPr lang="en-US" sz="1150" dirty="0">
                <a:solidFill>
                  <a:schemeClr val="tx1"/>
                </a:solidFill>
              </a:rPr>
              <a:t>Monthly reporting and analysis by entity for the physicians and shareholders</a:t>
            </a:r>
            <a:endParaRPr lang="en-US" sz="1150" dirty="0"/>
          </a:p>
          <a:p>
            <a:pPr marL="152400" indent="-152400">
              <a:spcAft>
                <a:spcPts val="400"/>
              </a:spcAft>
              <a:buSzPct val="100000"/>
              <a:buChar char="•"/>
            </a:pPr>
            <a:r>
              <a:rPr lang="en-US" sz="1150" dirty="0">
                <a:solidFill>
                  <a:schemeClr val="tx1"/>
                </a:solidFill>
              </a:rPr>
              <a:t>Borrowing-base and covenant reporting to your lenders</a:t>
            </a:r>
            <a:endParaRPr lang="en-US" sz="1150" dirty="0"/>
          </a:p>
          <a:p>
            <a:pPr marL="152400" indent="-152400">
              <a:spcAft>
                <a:spcPts val="400"/>
              </a:spcAft>
              <a:buSzPct val="100000"/>
              <a:buChar char="•"/>
            </a:pPr>
            <a:r>
              <a:rPr lang="en-US" sz="1150" dirty="0">
                <a:solidFill>
                  <a:schemeClr val="tx1"/>
                </a:solidFill>
              </a:rPr>
              <a:t>Revenue-cycle analysis: charges, collection rates, denials</a:t>
            </a:r>
            <a:endParaRPr lang="en-US" sz="1150" dirty="0"/>
          </a:p>
          <a:p>
            <a:pPr marL="152400" indent="-152400">
              <a:spcAft>
                <a:spcPts val="400"/>
              </a:spcAft>
              <a:buSzPct val="100000"/>
              <a:buChar char="•"/>
            </a:pPr>
            <a:r>
              <a:rPr lang="en-US" sz="1150" dirty="0">
                <a:solidFill>
                  <a:schemeClr val="tx1"/>
                </a:solidFill>
              </a:rPr>
              <a:t>Results presented to the executive board and at the December meeting</a:t>
            </a:r>
            <a:endParaRPr lang="en-US" sz="1150" dirty="0"/>
          </a:p>
        </p:txBody>
      </p:sp>
      <p:sp>
        <p:nvSpPr>
          <p:cNvPr id="10" name="card CFO advisory"/>
          <p:cNvSpPr/>
          <p:nvPr/>
        </p:nvSpPr>
        <p:spPr>
          <a:xfrm>
            <a:off x="8097317" y="1463040"/>
            <a:ext cx="3545738" cy="2560320"/>
          </a:xfrm>
          <a:prstGeom prst="rect">
            <a:avLst/>
          </a:prstGeom>
          <a:solidFill>
            <a:schemeClr val="accent5"/>
          </a:solidFill>
          <a:ln w="9525">
            <a:solidFill>
              <a:srgbClr val="D5D9E0"/>
            </a:solidFill>
            <a:prstDash val="solid"/>
          </a:ln>
        </p:spPr>
        <p:txBody>
          <a:bodyPr/>
          <a:lstStyle/>
          <a:p>
            <a:endParaRPr lang="en-US"/>
          </a:p>
        </p:txBody>
      </p:sp>
      <p:sp>
        <p:nvSpPr>
          <p:cNvPr id="11" name="Text 9"/>
          <p:cNvSpPr txBox="1"/>
          <p:nvPr/>
        </p:nvSpPr>
        <p:spPr>
          <a:xfrm>
            <a:off x="8280197" y="1627632"/>
            <a:ext cx="3179978" cy="365760"/>
          </a:xfrm>
          <a:prstGeom prst="rect">
            <a:avLst/>
          </a:prstGeom>
          <a:noFill/>
          <a:ln/>
        </p:spPr>
        <p:txBody>
          <a:bodyPr wrap="square" lIns="0" tIns="0" rIns="0" bIns="0" rtlCol="0" anchor="t"/>
          <a:lstStyle/>
          <a:p>
            <a:pPr marL="0" indent="0">
              <a:buNone/>
            </a:pPr>
            <a:r>
              <a:rPr lang="en-US" sz="1300" b="1" dirty="0">
                <a:solidFill>
                  <a:schemeClr val="tx2"/>
                </a:solidFill>
                <a:latin typeface="Cambria" pitchFamily="34" charset="0"/>
                <a:ea typeface="Cambria" pitchFamily="34" charset="-122"/>
                <a:cs typeface="Cambria" pitchFamily="34" charset="-120"/>
              </a:rPr>
              <a:t>CFO advisory</a:t>
            </a:r>
            <a:endParaRPr lang="en-US" sz="1300" dirty="0"/>
          </a:p>
        </p:txBody>
      </p:sp>
      <p:sp>
        <p:nvSpPr>
          <p:cNvPr id="12" name="Text 10"/>
          <p:cNvSpPr txBox="1"/>
          <p:nvPr/>
        </p:nvSpPr>
        <p:spPr>
          <a:xfrm>
            <a:off x="8280197" y="2029968"/>
            <a:ext cx="3179978" cy="1874520"/>
          </a:xfrm>
          <a:prstGeom prst="rect">
            <a:avLst/>
          </a:prstGeom>
          <a:noFill/>
          <a:ln/>
        </p:spPr>
        <p:txBody>
          <a:bodyPr wrap="square" lIns="0" tIns="0" rIns="0" bIns="0" rtlCol="0" anchor="t"/>
          <a:lstStyle/>
          <a:p>
            <a:pPr marL="152400" indent="-152400">
              <a:spcAft>
                <a:spcPts val="400"/>
              </a:spcAft>
              <a:buSzPct val="100000"/>
              <a:buChar char="•"/>
            </a:pPr>
            <a:r>
              <a:rPr lang="en-US" sz="1150" dirty="0">
                <a:solidFill>
                  <a:schemeClr val="tx1"/>
                </a:solidFill>
              </a:rPr>
              <a:t>Budgeting, forecasting and variance analysis</a:t>
            </a:r>
            <a:endParaRPr lang="en-US" sz="1150" dirty="0"/>
          </a:p>
          <a:p>
            <a:pPr marL="152400" indent="-152400">
              <a:spcAft>
                <a:spcPts val="400"/>
              </a:spcAft>
              <a:buSzPct val="100000"/>
              <a:buChar char="•"/>
            </a:pPr>
            <a:r>
              <a:rPr lang="en-US" sz="1150" dirty="0">
                <a:solidFill>
                  <a:schemeClr val="tx1"/>
                </a:solidFill>
              </a:rPr>
              <a:t>Relationship lead and finance contact for the physicians</a:t>
            </a:r>
            <a:endParaRPr lang="en-US" sz="1150" dirty="0"/>
          </a:p>
          <a:p>
            <a:pPr marL="152400" indent="-152400">
              <a:spcAft>
                <a:spcPts val="400"/>
              </a:spcAft>
              <a:buSzPct val="100000"/>
              <a:buChar char="•"/>
            </a:pPr>
            <a:r>
              <a:rPr lang="en-US" sz="1150" dirty="0">
                <a:solidFill>
                  <a:schemeClr val="tx1"/>
                </a:solidFill>
              </a:rPr>
              <a:t>Accounting policy and reporting structure</a:t>
            </a:r>
            <a:endParaRPr lang="en-US" sz="1150" dirty="0"/>
          </a:p>
          <a:p>
            <a:pPr marL="152400" indent="-152400">
              <a:spcAft>
                <a:spcPts val="400"/>
              </a:spcAft>
              <a:buSzPct val="100000"/>
              <a:buChar char="•"/>
            </a:pPr>
            <a:r>
              <a:rPr lang="en-US" sz="1150" dirty="0">
                <a:solidFill>
                  <a:schemeClr val="tx1"/>
                </a:solidFill>
              </a:rPr>
              <a:t>Direction to the finance team as it is rebuilt</a:t>
            </a:r>
            <a:endParaRPr lang="en-US" sz="1150" dirty="0"/>
          </a:p>
          <a:p>
            <a:pPr marL="152400" indent="-152400">
              <a:spcAft>
                <a:spcPts val="400"/>
              </a:spcAft>
              <a:buSzPct val="100000"/>
              <a:buChar char="•"/>
            </a:pPr>
            <a:r>
              <a:rPr lang="en-US" sz="1150" dirty="0">
                <a:solidFill>
                  <a:schemeClr val="tx1"/>
                </a:solidFill>
              </a:rPr>
              <a:t>Coordination with CBIZ, counsel, USI and your plan advisors</a:t>
            </a:r>
            <a:endParaRPr lang="en-US" sz="1150" dirty="0"/>
          </a:p>
        </p:txBody>
      </p:sp>
      <p:sp>
        <p:nvSpPr>
          <p:cNvPr id="13" name="card Systems and process"/>
          <p:cNvSpPr/>
          <p:nvPr/>
        </p:nvSpPr>
        <p:spPr>
          <a:xfrm>
            <a:off x="548640" y="4251960"/>
            <a:ext cx="5432908" cy="1874520"/>
          </a:xfrm>
          <a:prstGeom prst="rect">
            <a:avLst/>
          </a:prstGeom>
          <a:solidFill>
            <a:schemeClr val="accent5"/>
          </a:solidFill>
          <a:ln w="9525">
            <a:solidFill>
              <a:srgbClr val="D5D9E0"/>
            </a:solidFill>
            <a:prstDash val="solid"/>
          </a:ln>
        </p:spPr>
        <p:txBody>
          <a:bodyPr/>
          <a:lstStyle/>
          <a:p>
            <a:endParaRPr lang="en-US"/>
          </a:p>
        </p:txBody>
      </p:sp>
      <p:sp>
        <p:nvSpPr>
          <p:cNvPr id="14" name="Text 12"/>
          <p:cNvSpPr txBox="1"/>
          <p:nvPr/>
        </p:nvSpPr>
        <p:spPr>
          <a:xfrm>
            <a:off x="731520" y="4416552"/>
            <a:ext cx="5067148" cy="365760"/>
          </a:xfrm>
          <a:prstGeom prst="rect">
            <a:avLst/>
          </a:prstGeom>
          <a:noFill/>
          <a:ln/>
        </p:spPr>
        <p:txBody>
          <a:bodyPr wrap="square" lIns="0" tIns="0" rIns="0" bIns="0" rtlCol="0" anchor="t"/>
          <a:lstStyle/>
          <a:p>
            <a:pPr marL="0" indent="0">
              <a:buNone/>
            </a:pPr>
            <a:r>
              <a:rPr lang="en-US" sz="1300" b="1" dirty="0">
                <a:solidFill>
                  <a:schemeClr val="tx2"/>
                </a:solidFill>
                <a:latin typeface="Cambria" pitchFamily="34" charset="0"/>
                <a:ea typeface="Cambria" pitchFamily="34" charset="-122"/>
                <a:cs typeface="Cambria" pitchFamily="34" charset="-120"/>
              </a:rPr>
              <a:t>Systems and process</a:t>
            </a:r>
            <a:endParaRPr lang="en-US" sz="1300" dirty="0"/>
          </a:p>
        </p:txBody>
      </p:sp>
      <p:sp>
        <p:nvSpPr>
          <p:cNvPr id="15" name="Text 13"/>
          <p:cNvSpPr txBox="1"/>
          <p:nvPr/>
        </p:nvSpPr>
        <p:spPr>
          <a:xfrm>
            <a:off x="731520" y="4818888"/>
            <a:ext cx="5067148" cy="1188720"/>
          </a:xfrm>
          <a:prstGeom prst="rect">
            <a:avLst/>
          </a:prstGeom>
          <a:noFill/>
          <a:ln/>
        </p:spPr>
        <p:txBody>
          <a:bodyPr wrap="square" lIns="0" tIns="0" rIns="0" bIns="0" rtlCol="0" anchor="t"/>
          <a:lstStyle/>
          <a:p>
            <a:pPr marL="152400" indent="-152400">
              <a:spcAft>
                <a:spcPts val="400"/>
              </a:spcAft>
              <a:buSzPct val="100000"/>
              <a:buChar char="•"/>
            </a:pPr>
            <a:r>
              <a:rPr lang="en-US" sz="1150" dirty="0">
                <a:solidFill>
                  <a:schemeClr val="tx1"/>
                </a:solidFill>
              </a:rPr>
              <a:t>Review the QuickBooks class structure, workflows and controls</a:t>
            </a:r>
            <a:endParaRPr lang="en-US" sz="1150" dirty="0"/>
          </a:p>
          <a:p>
            <a:pPr marL="152400" indent="-152400">
              <a:spcAft>
                <a:spcPts val="400"/>
              </a:spcAft>
              <a:buSzPct val="100000"/>
              <a:buChar char="•"/>
            </a:pPr>
            <a:r>
              <a:rPr lang="en-US" sz="1150" dirty="0">
                <a:solidFill>
                  <a:schemeClr val="tx1"/>
                </a:solidFill>
              </a:rPr>
              <a:t>Reduce manual steps between eClinicalWorks, payroll and the ledger</a:t>
            </a:r>
            <a:endParaRPr lang="en-US" sz="1150" dirty="0"/>
          </a:p>
          <a:p>
            <a:pPr marL="152400" indent="-152400">
              <a:spcAft>
                <a:spcPts val="400"/>
              </a:spcAft>
              <a:buSzPct val="100000"/>
              <a:buChar char="•"/>
            </a:pPr>
            <a:r>
              <a:rPr lang="en-US" sz="1150" dirty="0">
                <a:solidFill>
                  <a:schemeClr val="tx1"/>
                </a:solidFill>
              </a:rPr>
              <a:t>Automation roadmap for AP, payroll journals, close checklists and KPI dashboards</a:t>
            </a:r>
            <a:endParaRPr lang="en-US" sz="1150" dirty="0"/>
          </a:p>
          <a:p>
            <a:pPr marL="152400" indent="-152400">
              <a:spcAft>
                <a:spcPts val="400"/>
              </a:spcAft>
              <a:buSzPct val="100000"/>
              <a:buChar char="•"/>
            </a:pPr>
            <a:r>
              <a:rPr lang="en-US" sz="1150" dirty="0">
                <a:solidFill>
                  <a:schemeClr val="tx1"/>
                </a:solidFill>
              </a:rPr>
              <a:t>Review controls on every automated output</a:t>
            </a:r>
            <a:endParaRPr lang="en-US" sz="1150" dirty="0"/>
          </a:p>
        </p:txBody>
      </p:sp>
      <p:sp>
        <p:nvSpPr>
          <p:cNvPr id="16" name="card Audit, tax and payroll support"/>
          <p:cNvSpPr/>
          <p:nvPr/>
        </p:nvSpPr>
        <p:spPr>
          <a:xfrm>
            <a:off x="6210148" y="4251960"/>
            <a:ext cx="5432908" cy="1874520"/>
          </a:xfrm>
          <a:prstGeom prst="rect">
            <a:avLst/>
          </a:prstGeom>
          <a:solidFill>
            <a:schemeClr val="accent5"/>
          </a:solidFill>
          <a:ln w="9525">
            <a:solidFill>
              <a:srgbClr val="D5D9E0"/>
            </a:solidFill>
            <a:prstDash val="solid"/>
          </a:ln>
        </p:spPr>
        <p:txBody>
          <a:bodyPr/>
          <a:lstStyle/>
          <a:p>
            <a:endParaRPr lang="en-US"/>
          </a:p>
        </p:txBody>
      </p:sp>
      <p:sp>
        <p:nvSpPr>
          <p:cNvPr id="17" name="Text 15"/>
          <p:cNvSpPr txBox="1"/>
          <p:nvPr/>
        </p:nvSpPr>
        <p:spPr>
          <a:xfrm>
            <a:off x="6393028" y="4416552"/>
            <a:ext cx="5067148" cy="365760"/>
          </a:xfrm>
          <a:prstGeom prst="rect">
            <a:avLst/>
          </a:prstGeom>
          <a:noFill/>
          <a:ln/>
        </p:spPr>
        <p:txBody>
          <a:bodyPr wrap="square" lIns="0" tIns="0" rIns="0" bIns="0" rtlCol="0" anchor="t"/>
          <a:lstStyle/>
          <a:p>
            <a:pPr marL="0" indent="0">
              <a:buNone/>
            </a:pPr>
            <a:r>
              <a:rPr lang="en-US" sz="1300" b="1" dirty="0">
                <a:solidFill>
                  <a:schemeClr val="tx2"/>
                </a:solidFill>
                <a:latin typeface="Cambria" pitchFamily="34" charset="0"/>
                <a:ea typeface="Cambria" pitchFamily="34" charset="-122"/>
                <a:cs typeface="Cambria" pitchFamily="34" charset="-120"/>
              </a:rPr>
              <a:t>Audit, tax and payroll support</a:t>
            </a:r>
            <a:endParaRPr lang="en-US" sz="1300" dirty="0"/>
          </a:p>
        </p:txBody>
      </p:sp>
      <p:sp>
        <p:nvSpPr>
          <p:cNvPr id="18" name="Text 16"/>
          <p:cNvSpPr txBox="1"/>
          <p:nvPr/>
        </p:nvSpPr>
        <p:spPr>
          <a:xfrm>
            <a:off x="6393028" y="4818888"/>
            <a:ext cx="5067148" cy="1188720"/>
          </a:xfrm>
          <a:prstGeom prst="rect">
            <a:avLst/>
          </a:prstGeom>
          <a:noFill/>
          <a:ln/>
        </p:spPr>
        <p:txBody>
          <a:bodyPr wrap="square" lIns="0" tIns="0" rIns="0" bIns="0" rtlCol="0" anchor="t"/>
          <a:lstStyle/>
          <a:p>
            <a:pPr marL="152400" indent="-152400">
              <a:spcAft>
                <a:spcPts val="400"/>
              </a:spcAft>
              <a:buSzPct val="100000"/>
              <a:buChar char="•"/>
            </a:pPr>
            <a:r>
              <a:rPr lang="en-US" sz="1150" dirty="0">
                <a:solidFill>
                  <a:schemeClr val="tx1"/>
                </a:solidFill>
              </a:rPr>
              <a:t>Provide information for audits and regulatory reviews; ONYX gives no opinion or assurance</a:t>
            </a:r>
            <a:endParaRPr lang="en-US" sz="1150" dirty="0"/>
          </a:p>
          <a:p>
            <a:pPr marL="152400" indent="-152400">
              <a:spcAft>
                <a:spcPts val="400"/>
              </a:spcAft>
              <a:buSzPct val="100000"/>
              <a:buChar char="•"/>
            </a:pPr>
            <a:r>
              <a:rPr lang="en-US" sz="1150" dirty="0">
                <a:solidFill>
                  <a:schemeClr val="tx1"/>
                </a:solidFill>
              </a:rPr>
              <a:t>Organize everything CBIZ needs for the returns; ONYX does not prepare or file tax returns</a:t>
            </a:r>
            <a:endParaRPr lang="en-US" sz="1150" dirty="0"/>
          </a:p>
          <a:p>
            <a:pPr marL="152400" indent="-152400">
              <a:spcAft>
                <a:spcPts val="400"/>
              </a:spcAft>
              <a:buSzPct val="100000"/>
              <a:buChar char="•"/>
            </a:pPr>
            <a:r>
              <a:rPr lang="en-US" sz="1150" dirty="0">
                <a:solidFill>
                  <a:schemeClr val="tx1"/>
                </a:solidFill>
              </a:rPr>
              <a:t>Support payroll journals and the evaluation of Paychex</a:t>
            </a:r>
            <a:endParaRPr lang="en-US" sz="1150" dirty="0"/>
          </a:p>
        </p:txBody>
      </p:sp>
      <p:sp>
        <p:nvSpPr>
          <p:cNvPr id="19" name="Text 17"/>
          <p:cNvSpPr txBox="1"/>
          <p:nvPr/>
        </p:nvSpPr>
        <p:spPr>
          <a:xfrm>
            <a:off x="548640" y="6291072"/>
            <a:ext cx="10972800" cy="274320"/>
          </a:xfrm>
          <a:prstGeom prst="rect">
            <a:avLst/>
          </a:prstGeom>
          <a:noFill/>
          <a:ln/>
        </p:spPr>
        <p:txBody>
          <a:bodyPr wrap="square" lIns="0" tIns="0" rIns="0" bIns="0" rtlCol="0" anchor="t"/>
          <a:lstStyle/>
          <a:p>
            <a:pPr marL="0" indent="0">
              <a:buNone/>
            </a:pPr>
            <a:r>
              <a:rPr lang="en-US" sz="950" dirty="0">
                <a:solidFill>
                  <a:schemeClr val="accent3"/>
                </a:solidFill>
              </a:rPr>
              <a:t>The scope mirrors Section 1 of the enclosed engagement letter. Services can be added, reduced or paused by email.</a:t>
            </a:r>
            <a:endParaRPr lang="en-US" sz="9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472"/>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body" idx="102" hasCustomPrompt="1"/>
          </p:nvPr>
        </p:nvSpPr>
        <p:spPr>
          <a:xfrm>
            <a:off x="548640" y="384048"/>
            <a:ext cx="8229600" cy="274320"/>
          </a:xfrm>
          <a:prstGeom prst="rect">
            <a:avLst/>
          </a:prstGeom>
          <a:noFill/>
          <a:ln/>
        </p:spPr>
        <p:txBody>
          <a:bodyPr wrap="square" lIns="0" tIns="0" rIns="0" bIns="0" rtlCol="0"/>
          <a:lstStyle/>
          <a:p>
            <a:pPr marL="0" indent="0">
              <a:buNone/>
            </a:pPr>
            <a:r>
              <a:rPr lang="en-US" sz="1100" b="1" kern="0" spc="200" dirty="0">
                <a:solidFill>
                  <a:srgbClr val="AF1F29"/>
                </a:solidFill>
              </a:rPr>
              <a:t>02  WHAT WE CAN HELP WITH</a:t>
            </a:r>
            <a:endParaRPr lang="en-US" sz="1100" dirty="0"/>
          </a:p>
        </p:txBody>
      </p:sp>
      <p:sp>
        <p:nvSpPr>
          <p:cNvPr id="3" name="Text 1"/>
          <p:cNvSpPr>
            <a:spLocks noGrp="1"/>
          </p:cNvSpPr>
          <p:nvPr>
            <p:ph type="title" idx="103" hasCustomPrompt="1"/>
          </p:nvPr>
        </p:nvSpPr>
        <p:spPr>
          <a:xfrm>
            <a:off x="548640" y="658368"/>
            <a:ext cx="9692640" cy="731520"/>
          </a:xfrm>
          <a:prstGeom prst="rect">
            <a:avLst/>
          </a:prstGeom>
          <a:noFill/>
          <a:ln/>
        </p:spPr>
        <p:txBody>
          <a:bodyPr wrap="square" lIns="0" tIns="0" rIns="0" bIns="0" rtlCol="0" anchor="t"/>
          <a:lstStyle/>
          <a:p>
            <a:pPr marL="0" indent="0" algn="l">
              <a:buNone/>
            </a:pPr>
            <a:r>
              <a:rPr lang="en-US" sz="2800" dirty="0">
                <a:solidFill>
                  <a:srgbClr val="16181D"/>
                </a:solidFill>
              </a:rPr>
              <a:t>How we will work together</a:t>
            </a:r>
            <a:endParaRPr lang="en-US" sz="2800" dirty="0"/>
          </a:p>
        </p:txBody>
      </p:sp>
      <p:sp>
        <p:nvSpPr>
          <p:cNvPr id="4" name="card How ONYX operates"/>
          <p:cNvSpPr/>
          <p:nvPr/>
        </p:nvSpPr>
        <p:spPr>
          <a:xfrm>
            <a:off x="548640" y="1508760"/>
            <a:ext cx="3545738" cy="3703320"/>
          </a:xfrm>
          <a:prstGeom prst="rect">
            <a:avLst/>
          </a:prstGeom>
          <a:solidFill>
            <a:schemeClr val="accent5"/>
          </a:solidFill>
          <a:ln w="9525">
            <a:solidFill>
              <a:srgbClr val="D5D9E0"/>
            </a:solidFill>
            <a:prstDash val="solid"/>
          </a:ln>
        </p:spPr>
        <p:txBody>
          <a:bodyPr/>
          <a:lstStyle/>
          <a:p>
            <a:endParaRPr lang="en-US"/>
          </a:p>
        </p:txBody>
      </p:sp>
      <p:sp>
        <p:nvSpPr>
          <p:cNvPr id="5" name="Text 3"/>
          <p:cNvSpPr txBox="1"/>
          <p:nvPr/>
        </p:nvSpPr>
        <p:spPr>
          <a:xfrm>
            <a:off x="731520" y="1673352"/>
            <a:ext cx="3179978" cy="365760"/>
          </a:xfrm>
          <a:prstGeom prst="rect">
            <a:avLst/>
          </a:prstGeom>
          <a:noFill/>
          <a:ln/>
        </p:spPr>
        <p:txBody>
          <a:bodyPr wrap="square" lIns="0" tIns="0" rIns="0" bIns="0" rtlCol="0" anchor="t"/>
          <a:lstStyle/>
          <a:p>
            <a:pPr marL="0" indent="0">
              <a:buNone/>
            </a:pPr>
            <a:r>
              <a:rPr lang="en-US" sz="1300" b="1" dirty="0">
                <a:solidFill>
                  <a:schemeClr val="tx2"/>
                </a:solidFill>
                <a:latin typeface="Cambria" pitchFamily="34" charset="0"/>
                <a:ea typeface="Cambria" pitchFamily="34" charset="-122"/>
                <a:cs typeface="Cambria" pitchFamily="34" charset="-120"/>
              </a:rPr>
              <a:t>How ONYX operates</a:t>
            </a:r>
            <a:endParaRPr lang="en-US" sz="1300" dirty="0"/>
          </a:p>
        </p:txBody>
      </p:sp>
      <p:sp>
        <p:nvSpPr>
          <p:cNvPr id="6" name="Text 4"/>
          <p:cNvSpPr txBox="1"/>
          <p:nvPr/>
        </p:nvSpPr>
        <p:spPr>
          <a:xfrm>
            <a:off x="731520" y="2075688"/>
            <a:ext cx="3179978" cy="3017520"/>
          </a:xfrm>
          <a:prstGeom prst="rect">
            <a:avLst/>
          </a:prstGeom>
          <a:noFill/>
          <a:ln/>
        </p:spPr>
        <p:txBody>
          <a:bodyPr wrap="square" lIns="0" tIns="0" rIns="0" bIns="0" rtlCol="0" anchor="t"/>
          <a:lstStyle/>
          <a:p>
            <a:pPr marL="152400" indent="-152400">
              <a:spcAft>
                <a:spcPts val="400"/>
              </a:spcAft>
              <a:buSzPct val="100000"/>
              <a:buChar char="•"/>
            </a:pPr>
            <a:r>
              <a:rPr lang="en-US" sz="1150" dirty="0">
                <a:solidFill>
                  <a:schemeClr val="tx1"/>
                </a:solidFill>
              </a:rPr>
              <a:t>Work inside your QuickBooks Online, with view access to bank and loan accounts</a:t>
            </a:r>
            <a:endParaRPr lang="en-US" sz="1150" dirty="0"/>
          </a:p>
          <a:p>
            <a:pPr marL="152400" indent="-152400">
              <a:spcAft>
                <a:spcPts val="400"/>
              </a:spcAft>
              <a:buSzPct val="100000"/>
              <a:buChar char="•"/>
            </a:pPr>
            <a:r>
              <a:rPr lang="en-US" sz="1150" dirty="0">
                <a:solidFill>
                  <a:schemeClr val="tx1"/>
                </a:solidFill>
              </a:rPr>
              <a:t>Perform and review on every reconciliation, entry and report</a:t>
            </a:r>
            <a:endParaRPr lang="en-US" sz="1150" dirty="0"/>
          </a:p>
          <a:p>
            <a:pPr marL="152400" indent="-152400">
              <a:spcAft>
                <a:spcPts val="400"/>
              </a:spcAft>
              <a:buSzPct val="100000"/>
              <a:buChar char="•"/>
            </a:pPr>
            <a:r>
              <a:rPr lang="en-US" sz="1150" dirty="0">
                <a:solidFill>
                  <a:schemeClr val="tx1"/>
                </a:solidFill>
              </a:rPr>
              <a:t>Weekly progress and budget update during the first 90 days, then a monthly review with Mark</a:t>
            </a:r>
            <a:endParaRPr lang="en-US" sz="1150" dirty="0"/>
          </a:p>
          <a:p>
            <a:pPr marL="152400" indent="-152400">
              <a:spcAft>
                <a:spcPts val="400"/>
              </a:spcAft>
              <a:buSzPct val="100000"/>
              <a:buChar char="•"/>
            </a:pPr>
            <a:r>
              <a:rPr lang="en-US" sz="1150" dirty="0">
                <a:solidFill>
                  <a:schemeClr val="tx1"/>
                </a:solidFill>
              </a:rPr>
              <a:t>On site in Phoenix for onboarding and training; remote for routine work</a:t>
            </a:r>
            <a:endParaRPr lang="en-US" sz="1150" dirty="0"/>
          </a:p>
          <a:p>
            <a:pPr marL="152400" indent="-152400">
              <a:spcAft>
                <a:spcPts val="400"/>
              </a:spcAft>
              <a:buSzPct val="100000"/>
              <a:buChar char="•"/>
            </a:pPr>
            <a:r>
              <a:rPr lang="en-US" sz="1150" dirty="0">
                <a:solidFill>
                  <a:schemeClr val="tx1"/>
                </a:solidFill>
              </a:rPr>
              <a:t>Procedures, close checklist and open items kept in one shared file</a:t>
            </a:r>
            <a:endParaRPr lang="en-US" sz="1150" dirty="0"/>
          </a:p>
          <a:p>
            <a:pPr marL="152400" indent="-152400">
              <a:spcAft>
                <a:spcPts val="400"/>
              </a:spcAft>
              <a:buSzPct val="100000"/>
              <a:buChar char="•"/>
            </a:pPr>
            <a:r>
              <a:rPr lang="en-US" sz="1150" dirty="0">
                <a:solidFill>
                  <a:schemeClr val="tx1"/>
                </a:solidFill>
              </a:rPr>
              <a:t>Automation used where it saves your team time, with human review of every material output</a:t>
            </a:r>
            <a:endParaRPr lang="en-US" sz="1150" dirty="0"/>
          </a:p>
        </p:txBody>
      </p:sp>
      <p:sp>
        <p:nvSpPr>
          <p:cNvPr id="7" name="card What stays with George Brazil"/>
          <p:cNvSpPr/>
          <p:nvPr/>
        </p:nvSpPr>
        <p:spPr>
          <a:xfrm>
            <a:off x="4322978" y="1508760"/>
            <a:ext cx="3545738" cy="3703320"/>
          </a:xfrm>
          <a:prstGeom prst="rect">
            <a:avLst/>
          </a:prstGeom>
          <a:solidFill>
            <a:schemeClr val="accent5"/>
          </a:solidFill>
          <a:ln w="9525">
            <a:solidFill>
              <a:srgbClr val="D5D9E0"/>
            </a:solidFill>
            <a:prstDash val="solid"/>
          </a:ln>
        </p:spPr>
        <p:txBody>
          <a:bodyPr/>
          <a:lstStyle/>
          <a:p>
            <a:endParaRPr lang="en-US"/>
          </a:p>
        </p:txBody>
      </p:sp>
      <p:sp>
        <p:nvSpPr>
          <p:cNvPr id="8" name="Text 6"/>
          <p:cNvSpPr txBox="1"/>
          <p:nvPr/>
        </p:nvSpPr>
        <p:spPr>
          <a:xfrm>
            <a:off x="4505858" y="1673352"/>
            <a:ext cx="3179978" cy="365760"/>
          </a:xfrm>
          <a:prstGeom prst="rect">
            <a:avLst/>
          </a:prstGeom>
          <a:noFill/>
          <a:ln/>
        </p:spPr>
        <p:txBody>
          <a:bodyPr wrap="square" lIns="0" tIns="0" rIns="0" bIns="0" rtlCol="0" anchor="t"/>
          <a:lstStyle/>
          <a:p>
            <a:pPr marL="0" indent="0">
              <a:buNone/>
            </a:pPr>
            <a:r>
              <a:rPr lang="en-US" sz="1300" b="1" dirty="0">
                <a:solidFill>
                  <a:schemeClr val="tx2"/>
                </a:solidFill>
                <a:latin typeface="Cambria" pitchFamily="34" charset="0"/>
                <a:ea typeface="Cambria" pitchFamily="34" charset="-122"/>
                <a:cs typeface="Cambria" pitchFamily="34" charset="-120"/>
              </a:rPr>
              <a:t>What stays with the practice</a:t>
            </a:r>
            <a:endParaRPr lang="en-US" sz="1300" dirty="0"/>
          </a:p>
        </p:txBody>
      </p:sp>
      <p:sp>
        <p:nvSpPr>
          <p:cNvPr id="9" name="Text 7"/>
          <p:cNvSpPr txBox="1"/>
          <p:nvPr/>
        </p:nvSpPr>
        <p:spPr>
          <a:xfrm>
            <a:off x="4505858" y="2075688"/>
            <a:ext cx="3179978" cy="3017520"/>
          </a:xfrm>
          <a:prstGeom prst="rect">
            <a:avLst/>
          </a:prstGeom>
          <a:noFill/>
          <a:ln/>
        </p:spPr>
        <p:txBody>
          <a:bodyPr wrap="square" lIns="0" tIns="0" rIns="0" bIns="0" rtlCol="0" anchor="t"/>
          <a:lstStyle/>
          <a:p>
            <a:pPr marL="152400" indent="-152400">
              <a:spcAft>
                <a:spcPts val="400"/>
              </a:spcAft>
              <a:buSzPct val="100000"/>
              <a:buChar char="•"/>
            </a:pPr>
            <a:r>
              <a:rPr lang="en-US" sz="1150" dirty="0">
                <a:solidFill>
                  <a:schemeClr val="tx1"/>
                </a:solidFill>
              </a:rPr>
              <a:t>Approval of every payment, wire, new vendor, payroll change and bonus</a:t>
            </a:r>
            <a:endParaRPr lang="en-US" sz="1150" dirty="0"/>
          </a:p>
          <a:p>
            <a:pPr marL="152400" indent="-152400">
              <a:spcAft>
                <a:spcPts val="400"/>
              </a:spcAft>
              <a:buSzPct val="100000"/>
              <a:buChar char="•"/>
            </a:pPr>
            <a:r>
              <a:rPr lang="en-US" sz="1150" dirty="0">
                <a:solidFill>
                  <a:schemeClr val="tx1"/>
                </a:solidFill>
              </a:rPr>
              <a:t>Signing authority and bank access; ONYX does not move funds</a:t>
            </a:r>
            <a:endParaRPr lang="en-US" sz="1150" dirty="0"/>
          </a:p>
          <a:p>
            <a:pPr marL="152400" indent="-152400">
              <a:spcAft>
                <a:spcPts val="400"/>
              </a:spcAft>
              <a:buSzPct val="100000"/>
              <a:buChar char="•"/>
            </a:pPr>
            <a:r>
              <a:rPr lang="en-US" sz="1150" dirty="0">
                <a:solidFill>
                  <a:schemeClr val="tx1"/>
                </a:solidFill>
              </a:rPr>
              <a:t>Review and approval of bank statements and reconciliations</a:t>
            </a:r>
            <a:endParaRPr lang="en-US" sz="1150" dirty="0"/>
          </a:p>
          <a:p>
            <a:pPr marL="152400" indent="-152400">
              <a:spcAft>
                <a:spcPts val="400"/>
              </a:spcAft>
              <a:buSzPct val="100000"/>
              <a:buChar char="•"/>
            </a:pPr>
            <a:r>
              <a:rPr lang="en-US" sz="1150" dirty="0">
                <a:solidFill>
                  <a:schemeClr val="tx1"/>
                </a:solidFill>
              </a:rPr>
              <a:t>Tax filings, through CBIZ</a:t>
            </a:r>
            <a:endParaRPr lang="en-US" sz="1150" dirty="0"/>
          </a:p>
          <a:p>
            <a:pPr marL="152400" indent="-152400">
              <a:spcAft>
                <a:spcPts val="400"/>
              </a:spcAft>
              <a:buSzPct val="100000"/>
              <a:buChar char="•"/>
            </a:pPr>
            <a:r>
              <a:rPr lang="en-US" sz="1150" dirty="0">
                <a:solidFill>
                  <a:schemeClr val="tx1"/>
                </a:solidFill>
              </a:rPr>
              <a:t>Patient billing, coding and payer compliance, owned by the revenue-cycle team; ONYX reconciles and reports</a:t>
            </a:r>
            <a:endParaRPr lang="en-US" sz="1150" dirty="0"/>
          </a:p>
          <a:p>
            <a:pPr marL="152400" indent="-152400">
              <a:spcAft>
                <a:spcPts val="400"/>
              </a:spcAft>
              <a:buSzPct val="100000"/>
              <a:buChar char="•"/>
            </a:pPr>
            <a:r>
              <a:rPr lang="en-US" sz="1150" dirty="0">
                <a:solidFill>
                  <a:schemeClr val="tx1"/>
                </a:solidFill>
              </a:rPr>
              <a:t>A primary point of contact, with Mark and the staff available for onboarding</a:t>
            </a:r>
            <a:endParaRPr lang="en-US" sz="1150" dirty="0"/>
          </a:p>
        </p:txBody>
      </p:sp>
      <p:sp>
        <p:nvSpPr>
          <p:cNvPr id="10" name="card Outside this proposal"/>
          <p:cNvSpPr/>
          <p:nvPr/>
        </p:nvSpPr>
        <p:spPr>
          <a:xfrm>
            <a:off x="8097317" y="1508760"/>
            <a:ext cx="3545738" cy="3703320"/>
          </a:xfrm>
          <a:prstGeom prst="rect">
            <a:avLst/>
          </a:prstGeom>
          <a:solidFill>
            <a:srgbClr val="FFFFFF"/>
          </a:solidFill>
          <a:ln w="9525">
            <a:solidFill>
              <a:srgbClr val="D5D9E0"/>
            </a:solidFill>
            <a:prstDash val="solid"/>
          </a:ln>
        </p:spPr>
        <p:txBody>
          <a:bodyPr/>
          <a:lstStyle/>
          <a:p>
            <a:endParaRPr lang="en-US"/>
          </a:p>
        </p:txBody>
      </p:sp>
      <p:sp>
        <p:nvSpPr>
          <p:cNvPr id="11" name="Text 9"/>
          <p:cNvSpPr txBox="1"/>
          <p:nvPr/>
        </p:nvSpPr>
        <p:spPr>
          <a:xfrm>
            <a:off x="8280197" y="1673352"/>
            <a:ext cx="3179978" cy="365760"/>
          </a:xfrm>
          <a:prstGeom prst="rect">
            <a:avLst/>
          </a:prstGeom>
          <a:noFill/>
          <a:ln/>
        </p:spPr>
        <p:txBody>
          <a:bodyPr wrap="square" lIns="0" tIns="0" rIns="0" bIns="0" rtlCol="0" anchor="t"/>
          <a:lstStyle/>
          <a:p>
            <a:pPr marL="0" indent="0">
              <a:buNone/>
            </a:pPr>
            <a:r>
              <a:rPr lang="en-US" sz="1300" b="1" dirty="0">
                <a:solidFill>
                  <a:schemeClr val="tx2"/>
                </a:solidFill>
                <a:latin typeface="Cambria" pitchFamily="34" charset="0"/>
                <a:ea typeface="Cambria" pitchFamily="34" charset="-122"/>
                <a:cs typeface="Cambria" pitchFamily="34" charset="-120"/>
              </a:rPr>
              <a:t>Outside this proposal</a:t>
            </a:r>
            <a:endParaRPr lang="en-US" sz="1300" dirty="0"/>
          </a:p>
        </p:txBody>
      </p:sp>
      <p:sp>
        <p:nvSpPr>
          <p:cNvPr id="12" name="Text 10"/>
          <p:cNvSpPr txBox="1"/>
          <p:nvPr/>
        </p:nvSpPr>
        <p:spPr>
          <a:xfrm>
            <a:off x="8280197" y="2075688"/>
            <a:ext cx="3179978" cy="3017520"/>
          </a:xfrm>
          <a:prstGeom prst="rect">
            <a:avLst/>
          </a:prstGeom>
          <a:noFill/>
          <a:ln/>
        </p:spPr>
        <p:txBody>
          <a:bodyPr wrap="square" lIns="0" tIns="0" rIns="0" bIns="0" rtlCol="0" anchor="t"/>
          <a:lstStyle/>
          <a:p>
            <a:pPr marL="152400" indent="-152400">
              <a:spcAft>
                <a:spcPts val="400"/>
              </a:spcAft>
              <a:buSzPct val="100000"/>
              <a:buChar char="•"/>
            </a:pPr>
            <a:r>
              <a:rPr lang="en-US" sz="1150" dirty="0">
                <a:solidFill>
                  <a:schemeClr val="tx1"/>
                </a:solidFill>
              </a:rPr>
              <a:t>Preparing or filing tax returns</a:t>
            </a:r>
            <a:endParaRPr lang="en-US" sz="1150" dirty="0"/>
          </a:p>
          <a:p>
            <a:pPr marL="152400" indent="-152400">
              <a:spcAft>
                <a:spcPts val="400"/>
              </a:spcAft>
              <a:buSzPct val="100000"/>
              <a:buChar char="•"/>
            </a:pPr>
            <a:r>
              <a:rPr lang="en-US" sz="1150" dirty="0">
                <a:solidFill>
                  <a:schemeClr val="tx1"/>
                </a:solidFill>
              </a:rPr>
              <a:t>Performing audits; we support them with information and give no opinion or assurance</a:t>
            </a:r>
            <a:endParaRPr lang="en-US" sz="1150" dirty="0"/>
          </a:p>
          <a:p>
            <a:pPr marL="152400" indent="-152400">
              <a:spcAft>
                <a:spcPts val="400"/>
              </a:spcAft>
              <a:buSzPct val="100000"/>
              <a:buChar char="•"/>
            </a:pPr>
            <a:r>
              <a:rPr lang="en-US" sz="1150" dirty="0">
                <a:solidFill>
                  <a:schemeClr val="tx1"/>
                </a:solidFill>
              </a:rPr>
              <a:t>Forensic or fraud investigation; anything irregular is escalated to you in writing and handled as a separate engagement</a:t>
            </a:r>
            <a:endParaRPr lang="en-US" sz="1150" dirty="0"/>
          </a:p>
          <a:p>
            <a:pPr marL="152400" indent="-152400">
              <a:spcAft>
                <a:spcPts val="400"/>
              </a:spcAft>
              <a:buSzPct val="100000"/>
              <a:buChar char="•"/>
            </a:pPr>
            <a:r>
              <a:rPr lang="en-US" sz="1150" dirty="0">
                <a:solidFill>
                  <a:schemeClr val="tx1"/>
                </a:solidFill>
              </a:rPr>
              <a:t>Signing authority, moving money, legal advice</a:t>
            </a:r>
            <a:endParaRPr lang="en-US" sz="1150" dirty="0"/>
          </a:p>
        </p:txBody>
      </p:sp>
      <p:sp>
        <p:nvSpPr>
          <p:cNvPr id="13" name="cadence strip"/>
          <p:cNvSpPr/>
          <p:nvPr/>
        </p:nvSpPr>
        <p:spPr>
          <a:xfrm>
            <a:off x="548640" y="5440680"/>
            <a:ext cx="11094415" cy="685800"/>
          </a:xfrm>
          <a:prstGeom prst="rect">
            <a:avLst/>
          </a:prstGeom>
          <a:solidFill>
            <a:schemeClr val="bg1"/>
          </a:solidFill>
          <a:ln w="9525">
            <a:solidFill>
              <a:srgbClr val="D5D9E0"/>
            </a:solidFill>
            <a:prstDash val="solid"/>
          </a:ln>
        </p:spPr>
        <p:txBody>
          <a:bodyPr/>
          <a:lstStyle/>
          <a:p>
            <a:endParaRPr lang="en-US"/>
          </a:p>
        </p:txBody>
      </p:sp>
      <p:sp>
        <p:nvSpPr>
          <p:cNvPr id="14" name="Text 12"/>
          <p:cNvSpPr txBox="1"/>
          <p:nvPr/>
        </p:nvSpPr>
        <p:spPr>
          <a:xfrm>
            <a:off x="777240" y="5440680"/>
            <a:ext cx="10637215" cy="685800"/>
          </a:xfrm>
          <a:prstGeom prst="rect">
            <a:avLst/>
          </a:prstGeom>
          <a:noFill/>
          <a:ln/>
        </p:spPr>
        <p:txBody>
          <a:bodyPr wrap="square" lIns="0" tIns="0" rIns="0" bIns="0" rtlCol="0" anchor="ctr"/>
          <a:lstStyle/>
          <a:p>
            <a:pPr marL="0" indent="0">
              <a:buNone/>
            </a:pPr>
            <a:r>
              <a:rPr lang="en-US" sz="1150" b="1" dirty="0">
                <a:solidFill>
                  <a:srgbClr val="1B2A49"/>
                </a:solidFill>
              </a:rPr>
              <a:t>Communication. </a:t>
            </a:r>
            <a:r>
              <a:rPr lang="en-US" sz="1150" dirty="0">
                <a:solidFill>
                  <a:schemeClr val="tx1"/>
                </a:solidFill>
              </a:rPr>
              <a:t>Weekly progress and budget update during the first 90 days. Monthly review of results with Mark; executive board as needed; shareholder meeting each December. Quarterly review of scope, staffing mix and fees.</a:t>
            </a:r>
            <a:endParaRPr lang="en-US" sz="1150" dirty="0"/>
          </a:p>
        </p:txBody>
      </p:sp>
      <p:sp>
        <p:nvSpPr>
          <p:cNvPr id="15" name="Text 13"/>
          <p:cNvSpPr txBox="1"/>
          <p:nvPr/>
        </p:nvSpPr>
        <p:spPr>
          <a:xfrm>
            <a:off x="548640" y="6291072"/>
            <a:ext cx="10972800" cy="274320"/>
          </a:xfrm>
          <a:prstGeom prst="rect">
            <a:avLst/>
          </a:prstGeom>
          <a:noFill/>
          <a:ln/>
        </p:spPr>
        <p:txBody>
          <a:bodyPr wrap="square" lIns="0" tIns="0" rIns="0" bIns="0" rtlCol="0" anchor="t"/>
          <a:lstStyle/>
          <a:p>
            <a:pPr marL="0" indent="0">
              <a:buNone/>
            </a:pPr>
            <a:r>
              <a:rPr lang="en-US" sz="950" dirty="0">
                <a:solidFill>
                  <a:schemeClr val="accent3"/>
                </a:solidFill>
              </a:rPr>
              <a:t>These responsibilities match the "How we'll work together" section of the engagement letter.</a:t>
            </a:r>
            <a:endParaRPr lang="en-US" sz="9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472"/>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body" idx="102" hasCustomPrompt="1"/>
          </p:nvPr>
        </p:nvSpPr>
        <p:spPr>
          <a:xfrm>
            <a:off x="548640" y="384048"/>
            <a:ext cx="8229600" cy="274320"/>
          </a:xfrm>
          <a:prstGeom prst="rect">
            <a:avLst/>
          </a:prstGeom>
          <a:noFill/>
          <a:ln/>
        </p:spPr>
        <p:txBody>
          <a:bodyPr wrap="square" lIns="0" tIns="0" rIns="0" bIns="0" rtlCol="0"/>
          <a:lstStyle/>
          <a:p>
            <a:pPr marL="0" indent="0">
              <a:buNone/>
            </a:pPr>
            <a:r>
              <a:rPr lang="en-US" sz="1100" b="1" kern="0" spc="200" dirty="0">
                <a:solidFill>
                  <a:srgbClr val="AF1F29"/>
                </a:solidFill>
              </a:rPr>
              <a:t>03  ENGAGEMENT TIMELINE</a:t>
            </a:r>
            <a:endParaRPr lang="en-US" sz="1100" dirty="0"/>
          </a:p>
        </p:txBody>
      </p:sp>
      <p:sp>
        <p:nvSpPr>
          <p:cNvPr id="3" name="Text 1"/>
          <p:cNvSpPr>
            <a:spLocks noGrp="1"/>
          </p:cNvSpPr>
          <p:nvPr>
            <p:ph type="title" idx="103" hasCustomPrompt="1"/>
          </p:nvPr>
        </p:nvSpPr>
        <p:spPr>
          <a:xfrm>
            <a:off x="548640" y="658368"/>
            <a:ext cx="9692640" cy="731520"/>
          </a:xfrm>
          <a:prstGeom prst="rect">
            <a:avLst/>
          </a:prstGeom>
          <a:noFill/>
          <a:ln/>
        </p:spPr>
        <p:txBody>
          <a:bodyPr wrap="square" lIns="0" tIns="0" rIns="0" bIns="0" rtlCol="0" anchor="t"/>
          <a:lstStyle/>
          <a:p>
            <a:pPr marL="0" indent="0" algn="l">
              <a:buNone/>
            </a:pPr>
            <a:r>
              <a:rPr lang="en-US" sz="2800" dirty="0">
                <a:solidFill>
                  <a:srgbClr val="16181D"/>
                </a:solidFill>
              </a:rPr>
              <a:t>November 2026 through April 2027</a:t>
            </a:r>
            <a:endParaRPr lang="en-US" sz="2800" dirty="0"/>
          </a:p>
        </p:txBody>
      </p:sp>
      <p:sp>
        <p:nvSpPr>
          <p:cNvPr id="4" name="month Oct 2026"/>
          <p:cNvSpPr/>
          <p:nvPr/>
        </p:nvSpPr>
        <p:spPr>
          <a:xfrm>
            <a:off x="4114800" y="1508760"/>
            <a:ext cx="1254709" cy="310896"/>
          </a:xfrm>
          <a:prstGeom prst="rect">
            <a:avLst/>
          </a:prstGeom>
          <a:solidFill>
            <a:schemeClr val="bg1"/>
          </a:solidFill>
          <a:ln w="6350">
            <a:solidFill>
              <a:srgbClr val="D5D9E0"/>
            </a:solidFill>
            <a:prstDash val="solid"/>
          </a:ln>
        </p:spPr>
        <p:txBody>
          <a:bodyPr/>
          <a:lstStyle/>
          <a:p>
            <a:endParaRPr lang="en-US"/>
          </a:p>
        </p:txBody>
      </p:sp>
      <p:sp>
        <p:nvSpPr>
          <p:cNvPr id="5" name="Text 3"/>
          <p:cNvSpPr txBox="1"/>
          <p:nvPr/>
        </p:nvSpPr>
        <p:spPr>
          <a:xfrm>
            <a:off x="4114800" y="1508760"/>
            <a:ext cx="1254709" cy="310896"/>
          </a:xfrm>
          <a:prstGeom prst="rect">
            <a:avLst/>
          </a:prstGeom>
          <a:noFill/>
          <a:ln/>
        </p:spPr>
        <p:txBody>
          <a:bodyPr wrap="square" lIns="0" tIns="0" rIns="0" bIns="0" rtlCol="0" anchor="ctr"/>
          <a:lstStyle/>
          <a:p>
            <a:pPr marL="0" indent="0" algn="ctr">
              <a:buNone/>
            </a:pPr>
            <a:r>
              <a:rPr lang="en-US" sz="1100" b="1" dirty="0">
                <a:solidFill>
                  <a:schemeClr val="tx2"/>
                </a:solidFill>
              </a:rPr>
              <a:t>Nov 2026</a:t>
            </a:r>
            <a:endParaRPr lang="en-US" sz="1100" dirty="0"/>
          </a:p>
        </p:txBody>
      </p:sp>
      <p:sp>
        <p:nvSpPr>
          <p:cNvPr id="6" name="month Nov"/>
          <p:cNvSpPr/>
          <p:nvPr/>
        </p:nvSpPr>
        <p:spPr>
          <a:xfrm>
            <a:off x="5369509" y="1508760"/>
            <a:ext cx="1254709" cy="310896"/>
          </a:xfrm>
          <a:prstGeom prst="rect">
            <a:avLst/>
          </a:prstGeom>
          <a:solidFill>
            <a:schemeClr val="accent5"/>
          </a:solidFill>
          <a:ln w="6350">
            <a:solidFill>
              <a:srgbClr val="D5D9E0"/>
            </a:solidFill>
            <a:prstDash val="solid"/>
          </a:ln>
        </p:spPr>
        <p:txBody>
          <a:bodyPr/>
          <a:lstStyle/>
          <a:p>
            <a:endParaRPr lang="en-US"/>
          </a:p>
        </p:txBody>
      </p:sp>
      <p:sp>
        <p:nvSpPr>
          <p:cNvPr id="7" name="Text 5"/>
          <p:cNvSpPr txBox="1"/>
          <p:nvPr/>
        </p:nvSpPr>
        <p:spPr>
          <a:xfrm>
            <a:off x="5369509" y="1508760"/>
            <a:ext cx="1254709" cy="310896"/>
          </a:xfrm>
          <a:prstGeom prst="rect">
            <a:avLst/>
          </a:prstGeom>
          <a:noFill/>
          <a:ln/>
        </p:spPr>
        <p:txBody>
          <a:bodyPr wrap="square" lIns="0" tIns="0" rIns="0" bIns="0" rtlCol="0" anchor="ctr"/>
          <a:lstStyle/>
          <a:p>
            <a:pPr marL="0" indent="0" algn="ctr">
              <a:buNone/>
            </a:pPr>
            <a:r>
              <a:rPr lang="en-US" sz="1100" b="1" dirty="0">
                <a:solidFill>
                  <a:schemeClr val="tx2"/>
                </a:solidFill>
              </a:rPr>
              <a:t>Dec</a:t>
            </a:r>
            <a:endParaRPr lang="en-US" sz="1100" dirty="0"/>
          </a:p>
        </p:txBody>
      </p:sp>
      <p:sp>
        <p:nvSpPr>
          <p:cNvPr id="8" name="month Dec"/>
          <p:cNvSpPr/>
          <p:nvPr/>
        </p:nvSpPr>
        <p:spPr>
          <a:xfrm>
            <a:off x="6624218" y="1508760"/>
            <a:ext cx="1254709" cy="310896"/>
          </a:xfrm>
          <a:prstGeom prst="rect">
            <a:avLst/>
          </a:prstGeom>
          <a:solidFill>
            <a:schemeClr val="bg1"/>
          </a:solidFill>
          <a:ln w="6350">
            <a:solidFill>
              <a:srgbClr val="D5D9E0"/>
            </a:solidFill>
            <a:prstDash val="solid"/>
          </a:ln>
        </p:spPr>
        <p:txBody>
          <a:bodyPr/>
          <a:lstStyle/>
          <a:p>
            <a:endParaRPr lang="en-US"/>
          </a:p>
        </p:txBody>
      </p:sp>
      <p:sp>
        <p:nvSpPr>
          <p:cNvPr id="9" name="Text 7"/>
          <p:cNvSpPr txBox="1"/>
          <p:nvPr/>
        </p:nvSpPr>
        <p:spPr>
          <a:xfrm>
            <a:off x="6624218" y="1508760"/>
            <a:ext cx="1254709" cy="310896"/>
          </a:xfrm>
          <a:prstGeom prst="rect">
            <a:avLst/>
          </a:prstGeom>
          <a:noFill/>
          <a:ln/>
        </p:spPr>
        <p:txBody>
          <a:bodyPr wrap="square" lIns="0" tIns="0" rIns="0" bIns="0" rtlCol="0" anchor="ctr"/>
          <a:lstStyle/>
          <a:p>
            <a:pPr marL="0" indent="0" algn="ctr">
              <a:buNone/>
            </a:pPr>
            <a:r>
              <a:rPr lang="en-US" sz="1100" b="1" dirty="0">
                <a:solidFill>
                  <a:schemeClr val="tx2"/>
                </a:solidFill>
              </a:rPr>
              <a:t>Jan 2027</a:t>
            </a:r>
            <a:endParaRPr lang="en-US" sz="1100" dirty="0"/>
          </a:p>
        </p:txBody>
      </p:sp>
      <p:sp>
        <p:nvSpPr>
          <p:cNvPr id="10" name="month Jan 2027"/>
          <p:cNvSpPr/>
          <p:nvPr/>
        </p:nvSpPr>
        <p:spPr>
          <a:xfrm>
            <a:off x="7878928" y="1508760"/>
            <a:ext cx="1254709" cy="310896"/>
          </a:xfrm>
          <a:prstGeom prst="rect">
            <a:avLst/>
          </a:prstGeom>
          <a:solidFill>
            <a:schemeClr val="accent5"/>
          </a:solidFill>
          <a:ln w="6350">
            <a:solidFill>
              <a:srgbClr val="D5D9E0"/>
            </a:solidFill>
            <a:prstDash val="solid"/>
          </a:ln>
        </p:spPr>
        <p:txBody>
          <a:bodyPr/>
          <a:lstStyle/>
          <a:p>
            <a:endParaRPr lang="en-US"/>
          </a:p>
        </p:txBody>
      </p:sp>
      <p:sp>
        <p:nvSpPr>
          <p:cNvPr id="11" name="Text 9"/>
          <p:cNvSpPr txBox="1"/>
          <p:nvPr/>
        </p:nvSpPr>
        <p:spPr>
          <a:xfrm>
            <a:off x="7878928" y="1508760"/>
            <a:ext cx="1254709" cy="310896"/>
          </a:xfrm>
          <a:prstGeom prst="rect">
            <a:avLst/>
          </a:prstGeom>
          <a:noFill/>
          <a:ln/>
        </p:spPr>
        <p:txBody>
          <a:bodyPr wrap="square" lIns="0" tIns="0" rIns="0" bIns="0" rtlCol="0" anchor="ctr"/>
          <a:lstStyle/>
          <a:p>
            <a:pPr marL="0" indent="0" algn="ctr">
              <a:buNone/>
            </a:pPr>
            <a:r>
              <a:rPr lang="en-US" sz="1100" b="1" dirty="0">
                <a:solidFill>
                  <a:schemeClr val="tx2"/>
                </a:solidFill>
              </a:rPr>
              <a:t>Feb</a:t>
            </a:r>
            <a:endParaRPr lang="en-US" sz="1100" dirty="0"/>
          </a:p>
        </p:txBody>
      </p:sp>
      <p:sp>
        <p:nvSpPr>
          <p:cNvPr id="12" name="month Feb"/>
          <p:cNvSpPr/>
          <p:nvPr/>
        </p:nvSpPr>
        <p:spPr>
          <a:xfrm>
            <a:off x="9133637" y="1508760"/>
            <a:ext cx="1254709" cy="310896"/>
          </a:xfrm>
          <a:prstGeom prst="rect">
            <a:avLst/>
          </a:prstGeom>
          <a:solidFill>
            <a:schemeClr val="bg1"/>
          </a:solidFill>
          <a:ln w="6350">
            <a:solidFill>
              <a:srgbClr val="D5D9E0"/>
            </a:solidFill>
            <a:prstDash val="solid"/>
          </a:ln>
        </p:spPr>
        <p:txBody>
          <a:bodyPr/>
          <a:lstStyle/>
          <a:p>
            <a:endParaRPr lang="en-US"/>
          </a:p>
        </p:txBody>
      </p:sp>
      <p:sp>
        <p:nvSpPr>
          <p:cNvPr id="13" name="Text 11"/>
          <p:cNvSpPr txBox="1"/>
          <p:nvPr/>
        </p:nvSpPr>
        <p:spPr>
          <a:xfrm>
            <a:off x="9133637" y="1508760"/>
            <a:ext cx="1254709" cy="310896"/>
          </a:xfrm>
          <a:prstGeom prst="rect">
            <a:avLst/>
          </a:prstGeom>
          <a:noFill/>
          <a:ln/>
        </p:spPr>
        <p:txBody>
          <a:bodyPr wrap="square" lIns="0" tIns="0" rIns="0" bIns="0" rtlCol="0" anchor="ctr"/>
          <a:lstStyle/>
          <a:p>
            <a:pPr marL="0" indent="0" algn="ctr">
              <a:buNone/>
            </a:pPr>
            <a:r>
              <a:rPr lang="en-US" sz="1100" b="1" dirty="0">
                <a:solidFill>
                  <a:schemeClr val="tx2"/>
                </a:solidFill>
              </a:rPr>
              <a:t>Mar</a:t>
            </a:r>
            <a:endParaRPr lang="en-US" sz="1100" dirty="0"/>
          </a:p>
        </p:txBody>
      </p:sp>
      <p:sp>
        <p:nvSpPr>
          <p:cNvPr id="14" name="month Mar"/>
          <p:cNvSpPr/>
          <p:nvPr/>
        </p:nvSpPr>
        <p:spPr>
          <a:xfrm>
            <a:off x="10388346" y="1508760"/>
            <a:ext cx="1254709" cy="310896"/>
          </a:xfrm>
          <a:prstGeom prst="rect">
            <a:avLst/>
          </a:prstGeom>
          <a:solidFill>
            <a:schemeClr val="accent5"/>
          </a:solidFill>
          <a:ln w="6350">
            <a:solidFill>
              <a:srgbClr val="D5D9E0"/>
            </a:solidFill>
            <a:prstDash val="solid"/>
          </a:ln>
        </p:spPr>
        <p:txBody>
          <a:bodyPr/>
          <a:lstStyle/>
          <a:p>
            <a:endParaRPr lang="en-US"/>
          </a:p>
        </p:txBody>
      </p:sp>
      <p:sp>
        <p:nvSpPr>
          <p:cNvPr id="15" name="Text 13"/>
          <p:cNvSpPr txBox="1"/>
          <p:nvPr/>
        </p:nvSpPr>
        <p:spPr>
          <a:xfrm>
            <a:off x="10388346" y="1508760"/>
            <a:ext cx="1254709" cy="310896"/>
          </a:xfrm>
          <a:prstGeom prst="rect">
            <a:avLst/>
          </a:prstGeom>
          <a:noFill/>
          <a:ln/>
        </p:spPr>
        <p:txBody>
          <a:bodyPr wrap="square" lIns="0" tIns="0" rIns="0" bIns="0" rtlCol="0" anchor="ctr"/>
          <a:lstStyle/>
          <a:p>
            <a:pPr marL="0" indent="0" algn="ctr">
              <a:buNone/>
            </a:pPr>
            <a:r>
              <a:rPr lang="en-US" sz="1100" b="1" dirty="0">
                <a:solidFill>
                  <a:schemeClr val="tx2"/>
                </a:solidFill>
              </a:rPr>
              <a:t>Apr</a:t>
            </a:r>
            <a:endParaRPr lang="en-US" sz="1100" dirty="0"/>
          </a:p>
        </p:txBody>
      </p:sp>
      <p:sp>
        <p:nvSpPr>
          <p:cNvPr id="16" name="band 0"/>
          <p:cNvSpPr/>
          <p:nvPr/>
        </p:nvSpPr>
        <p:spPr>
          <a:xfrm>
            <a:off x="548640" y="1892808"/>
            <a:ext cx="11094415" cy="338328"/>
          </a:xfrm>
          <a:prstGeom prst="rect">
            <a:avLst/>
          </a:prstGeom>
          <a:solidFill>
            <a:schemeClr val="accent5"/>
          </a:solidFill>
          <a:ln w="12700">
            <a:solidFill>
              <a:srgbClr val="E9EDF4"/>
            </a:solidFill>
            <a:prstDash val="solid"/>
          </a:ln>
        </p:spPr>
        <p:txBody>
          <a:bodyPr/>
          <a:lstStyle/>
          <a:p>
            <a:endParaRPr lang="en-US"/>
          </a:p>
        </p:txBody>
      </p:sp>
      <p:sp>
        <p:nvSpPr>
          <p:cNvPr id="17" name="Text 15"/>
          <p:cNvSpPr txBox="1"/>
          <p:nvPr/>
        </p:nvSpPr>
        <p:spPr>
          <a:xfrm>
            <a:off x="640080" y="1892808"/>
            <a:ext cx="3383280" cy="338328"/>
          </a:xfrm>
          <a:prstGeom prst="rect">
            <a:avLst/>
          </a:prstGeom>
          <a:noFill/>
          <a:ln/>
        </p:spPr>
        <p:txBody>
          <a:bodyPr wrap="square" lIns="0" tIns="0" rIns="0" bIns="0" rtlCol="0" anchor="ctr"/>
          <a:lstStyle/>
          <a:p>
            <a:pPr marL="0" indent="0">
              <a:buNone/>
            </a:pPr>
            <a:r>
              <a:rPr lang="en-US" sz="1050" dirty="0">
                <a:solidFill>
                  <a:schemeClr val="tx1"/>
                </a:solidFill>
              </a:rPr>
              <a:t>Kickoff, access and knowledge transfer from Mark</a:t>
            </a:r>
            <a:endParaRPr lang="en-US" sz="1050" dirty="0"/>
          </a:p>
        </p:txBody>
      </p:sp>
      <p:sp>
        <p:nvSpPr>
          <p:cNvPr id="18" name="bar 0"/>
          <p:cNvSpPr/>
          <p:nvPr/>
        </p:nvSpPr>
        <p:spPr>
          <a:xfrm>
            <a:off x="4302709" y="1965960"/>
            <a:ext cx="1064818" cy="192024"/>
          </a:xfrm>
          <a:prstGeom prst="roundRect">
            <a:avLst>
              <a:gd name="adj" fmla="val 23810"/>
            </a:avLst>
          </a:prstGeom>
          <a:solidFill>
            <a:srgbClr val="1B2A49"/>
          </a:solidFill>
          <a:ln w="12700">
            <a:solidFill>
              <a:srgbClr val="1B2A49"/>
            </a:solidFill>
            <a:prstDash val="solid"/>
          </a:ln>
        </p:spPr>
        <p:txBody>
          <a:bodyPr/>
          <a:lstStyle/>
          <a:p>
            <a:endParaRPr lang="en-US"/>
          </a:p>
        </p:txBody>
      </p:sp>
      <p:sp>
        <p:nvSpPr>
          <p:cNvPr id="19" name="Text 17"/>
          <p:cNvSpPr txBox="1"/>
          <p:nvPr/>
        </p:nvSpPr>
        <p:spPr>
          <a:xfrm>
            <a:off x="640080" y="2231136"/>
            <a:ext cx="3383280" cy="338328"/>
          </a:xfrm>
          <a:prstGeom prst="rect">
            <a:avLst/>
          </a:prstGeom>
          <a:noFill/>
          <a:ln/>
        </p:spPr>
        <p:txBody>
          <a:bodyPr wrap="square" lIns="0" tIns="0" rIns="0" bIns="0" rtlCol="0" anchor="ctr"/>
          <a:lstStyle/>
          <a:p>
            <a:pPr marL="0" indent="0">
              <a:buNone/>
            </a:pPr>
            <a:r>
              <a:rPr lang="en-US" sz="1050" dirty="0">
                <a:solidFill>
                  <a:schemeClr val="tx1"/>
                </a:solidFill>
              </a:rPr>
              <a:t>Monthly close led and reviewed by ONYX</a:t>
            </a:r>
            <a:endParaRPr lang="en-US" sz="1050" dirty="0"/>
          </a:p>
        </p:txBody>
      </p:sp>
      <p:sp>
        <p:nvSpPr>
          <p:cNvPr id="20" name="bar 1"/>
          <p:cNvSpPr/>
          <p:nvPr/>
        </p:nvSpPr>
        <p:spPr>
          <a:xfrm>
            <a:off x="4741164" y="2304288"/>
            <a:ext cx="6890004" cy="192024"/>
          </a:xfrm>
          <a:prstGeom prst="roundRect">
            <a:avLst>
              <a:gd name="adj" fmla="val 23810"/>
            </a:avLst>
          </a:prstGeom>
          <a:solidFill>
            <a:srgbClr val="1B2A49"/>
          </a:solidFill>
          <a:ln w="12700">
            <a:solidFill>
              <a:srgbClr val="1B2A49"/>
            </a:solidFill>
            <a:prstDash val="solid"/>
          </a:ln>
        </p:spPr>
        <p:txBody>
          <a:bodyPr/>
          <a:lstStyle/>
          <a:p>
            <a:endParaRPr lang="en-US"/>
          </a:p>
        </p:txBody>
      </p:sp>
      <p:sp>
        <p:nvSpPr>
          <p:cNvPr id="21" name="band 2"/>
          <p:cNvSpPr/>
          <p:nvPr/>
        </p:nvSpPr>
        <p:spPr>
          <a:xfrm>
            <a:off x="548640" y="2569464"/>
            <a:ext cx="11094415" cy="338328"/>
          </a:xfrm>
          <a:prstGeom prst="rect">
            <a:avLst/>
          </a:prstGeom>
          <a:solidFill>
            <a:schemeClr val="accent5"/>
          </a:solidFill>
          <a:ln w="12700">
            <a:solidFill>
              <a:srgbClr val="E9EDF4"/>
            </a:solidFill>
            <a:prstDash val="solid"/>
          </a:ln>
        </p:spPr>
        <p:txBody>
          <a:bodyPr/>
          <a:lstStyle/>
          <a:p>
            <a:endParaRPr lang="en-US"/>
          </a:p>
        </p:txBody>
      </p:sp>
      <p:sp>
        <p:nvSpPr>
          <p:cNvPr id="22" name="Text 20"/>
          <p:cNvSpPr txBox="1"/>
          <p:nvPr/>
        </p:nvSpPr>
        <p:spPr>
          <a:xfrm>
            <a:off x="640080" y="2569464"/>
            <a:ext cx="3383280" cy="338328"/>
          </a:xfrm>
          <a:prstGeom prst="rect">
            <a:avLst/>
          </a:prstGeom>
          <a:noFill/>
          <a:ln/>
        </p:spPr>
        <p:txBody>
          <a:bodyPr wrap="square" lIns="0" tIns="0" rIns="0" bIns="0" rtlCol="0" anchor="ctr"/>
          <a:lstStyle/>
          <a:p>
            <a:pPr marL="0" indent="0">
              <a:buNone/>
            </a:pPr>
            <a:r>
              <a:rPr lang="en-US" sz="1050" dirty="0">
                <a:solidFill>
                  <a:schemeClr val="tx1"/>
                </a:solidFill>
              </a:rPr>
              <a:t>Physician bonus and revenue-cycle reporting</a:t>
            </a:r>
            <a:endParaRPr lang="en-US" sz="1050" dirty="0"/>
          </a:p>
        </p:txBody>
      </p:sp>
      <p:sp>
        <p:nvSpPr>
          <p:cNvPr id="23" name="bar 2"/>
          <p:cNvSpPr/>
          <p:nvPr/>
        </p:nvSpPr>
        <p:spPr>
          <a:xfrm>
            <a:off x="4741164" y="2642616"/>
            <a:ext cx="6890004" cy="192024"/>
          </a:xfrm>
          <a:prstGeom prst="roundRect">
            <a:avLst>
              <a:gd name="adj" fmla="val 23810"/>
            </a:avLst>
          </a:prstGeom>
          <a:solidFill>
            <a:srgbClr val="1B2A49"/>
          </a:solidFill>
          <a:ln w="12700">
            <a:solidFill>
              <a:srgbClr val="1B2A49"/>
            </a:solidFill>
            <a:prstDash val="solid"/>
          </a:ln>
        </p:spPr>
        <p:txBody>
          <a:bodyPr/>
          <a:lstStyle/>
          <a:p>
            <a:endParaRPr lang="en-US"/>
          </a:p>
        </p:txBody>
      </p:sp>
      <p:sp>
        <p:nvSpPr>
          <p:cNvPr id="24" name="Text 22"/>
          <p:cNvSpPr txBox="1"/>
          <p:nvPr/>
        </p:nvSpPr>
        <p:spPr>
          <a:xfrm>
            <a:off x="640080" y="2907792"/>
            <a:ext cx="3383280" cy="338328"/>
          </a:xfrm>
          <a:prstGeom prst="rect">
            <a:avLst/>
          </a:prstGeom>
          <a:noFill/>
          <a:ln/>
        </p:spPr>
        <p:txBody>
          <a:bodyPr wrap="square" lIns="0" tIns="0" rIns="0" bIns="0" rtlCol="0" anchor="ctr"/>
          <a:lstStyle/>
          <a:p>
            <a:pPr marL="0" indent="0">
              <a:buNone/>
            </a:pPr>
            <a:r>
              <a:rPr lang="en-US" sz="1050" dirty="0">
                <a:solidFill>
                  <a:schemeClr val="tx1"/>
                </a:solidFill>
              </a:rPr>
              <a:t>Borrowing-base package and lender reporting</a:t>
            </a:r>
            <a:endParaRPr lang="en-US" sz="1050" dirty="0"/>
          </a:p>
        </p:txBody>
      </p:sp>
      <p:sp>
        <p:nvSpPr>
          <p:cNvPr id="25" name="bar 3"/>
          <p:cNvSpPr/>
          <p:nvPr/>
        </p:nvSpPr>
        <p:spPr>
          <a:xfrm>
            <a:off x="5367528" y="2980944"/>
            <a:ext cx="6263640" cy="192024"/>
          </a:xfrm>
          <a:prstGeom prst="roundRect">
            <a:avLst>
              <a:gd name="adj" fmla="val 23810"/>
            </a:avLst>
          </a:prstGeom>
          <a:solidFill>
            <a:srgbClr val="1B2A49"/>
          </a:solidFill>
          <a:ln w="12700">
            <a:solidFill>
              <a:srgbClr val="1B2A49"/>
            </a:solidFill>
            <a:prstDash val="solid"/>
          </a:ln>
        </p:spPr>
        <p:txBody>
          <a:bodyPr/>
          <a:lstStyle/>
          <a:p>
            <a:endParaRPr lang="en-US"/>
          </a:p>
        </p:txBody>
      </p:sp>
      <p:sp>
        <p:nvSpPr>
          <p:cNvPr id="26" name="band 4"/>
          <p:cNvSpPr/>
          <p:nvPr/>
        </p:nvSpPr>
        <p:spPr>
          <a:xfrm>
            <a:off x="548640" y="3246120"/>
            <a:ext cx="11094415" cy="338328"/>
          </a:xfrm>
          <a:prstGeom prst="rect">
            <a:avLst/>
          </a:prstGeom>
          <a:solidFill>
            <a:schemeClr val="accent5"/>
          </a:solidFill>
          <a:ln w="12700">
            <a:solidFill>
              <a:srgbClr val="E9EDF4"/>
            </a:solidFill>
            <a:prstDash val="solid"/>
          </a:ln>
        </p:spPr>
        <p:txBody>
          <a:bodyPr/>
          <a:lstStyle/>
          <a:p>
            <a:endParaRPr lang="en-US"/>
          </a:p>
        </p:txBody>
      </p:sp>
      <p:sp>
        <p:nvSpPr>
          <p:cNvPr id="27" name="Text 25"/>
          <p:cNvSpPr txBox="1"/>
          <p:nvPr/>
        </p:nvSpPr>
        <p:spPr>
          <a:xfrm>
            <a:off x="640080" y="3246120"/>
            <a:ext cx="3383280" cy="338328"/>
          </a:xfrm>
          <a:prstGeom prst="rect">
            <a:avLst/>
          </a:prstGeom>
          <a:noFill/>
          <a:ln/>
        </p:spPr>
        <p:txBody>
          <a:bodyPr wrap="square" lIns="0" tIns="0" rIns="0" bIns="0" rtlCol="0" anchor="ctr"/>
          <a:lstStyle/>
          <a:p>
            <a:pPr marL="0" indent="0">
              <a:buNone/>
            </a:pPr>
            <a:r>
              <a:rPr lang="en-US" sz="1050" dirty="0">
                <a:solidFill>
                  <a:schemeClr val="tx1"/>
                </a:solidFill>
              </a:rPr>
              <a:t>QuickBooks classes and EMR-to-ledger mapping</a:t>
            </a:r>
            <a:endParaRPr lang="en-US" sz="1050" dirty="0"/>
          </a:p>
        </p:txBody>
      </p:sp>
      <p:sp>
        <p:nvSpPr>
          <p:cNvPr id="28" name="bar 4"/>
          <p:cNvSpPr/>
          <p:nvPr/>
        </p:nvSpPr>
        <p:spPr>
          <a:xfrm>
            <a:off x="5743346" y="3319272"/>
            <a:ext cx="2756001" cy="192024"/>
          </a:xfrm>
          <a:prstGeom prst="roundRect">
            <a:avLst>
              <a:gd name="adj" fmla="val 23810"/>
            </a:avLst>
          </a:prstGeom>
          <a:solidFill>
            <a:srgbClr val="1B2A49"/>
          </a:solidFill>
          <a:ln w="12700">
            <a:solidFill>
              <a:srgbClr val="1B2A49"/>
            </a:solidFill>
            <a:prstDash val="solid"/>
          </a:ln>
        </p:spPr>
        <p:txBody>
          <a:bodyPr/>
          <a:lstStyle/>
          <a:p>
            <a:endParaRPr lang="en-US"/>
          </a:p>
        </p:txBody>
      </p:sp>
      <p:sp>
        <p:nvSpPr>
          <p:cNvPr id="29" name="Text 27"/>
          <p:cNvSpPr txBox="1"/>
          <p:nvPr/>
        </p:nvSpPr>
        <p:spPr>
          <a:xfrm>
            <a:off x="640080" y="3584448"/>
            <a:ext cx="3383280" cy="338328"/>
          </a:xfrm>
          <a:prstGeom prst="rect">
            <a:avLst/>
          </a:prstGeom>
          <a:noFill/>
          <a:ln/>
        </p:spPr>
        <p:txBody>
          <a:bodyPr wrap="square" lIns="0" tIns="0" rIns="0" bIns="0" rtlCol="0" anchor="ctr"/>
          <a:lstStyle/>
          <a:p>
            <a:pPr marL="0" indent="0">
              <a:buNone/>
            </a:pPr>
            <a:r>
              <a:rPr lang="en-US" sz="1050" dirty="0">
                <a:solidFill>
                  <a:schemeClr val="tx1"/>
                </a:solidFill>
              </a:rPr>
              <a:t>December shareholder meeting (date to confirm)</a:t>
            </a:r>
            <a:endParaRPr lang="en-US" sz="1050" dirty="0"/>
          </a:p>
        </p:txBody>
      </p:sp>
      <p:sp>
        <p:nvSpPr>
          <p:cNvPr id="30" name="bar 5"/>
          <p:cNvSpPr/>
          <p:nvPr/>
        </p:nvSpPr>
        <p:spPr>
          <a:xfrm>
            <a:off x="5868619" y="3657600"/>
            <a:ext cx="313182" cy="192024"/>
          </a:xfrm>
          <a:prstGeom prst="roundRect">
            <a:avLst>
              <a:gd name="adj" fmla="val 23810"/>
            </a:avLst>
          </a:prstGeom>
          <a:solidFill>
            <a:srgbClr val="AF1F29"/>
          </a:solidFill>
          <a:ln w="12700">
            <a:solidFill>
              <a:srgbClr val="1B2A49"/>
            </a:solidFill>
            <a:prstDash val="solid"/>
          </a:ln>
        </p:spPr>
        <p:txBody>
          <a:bodyPr/>
          <a:lstStyle/>
          <a:p>
            <a:endParaRPr lang="en-US"/>
          </a:p>
        </p:txBody>
      </p:sp>
      <p:sp>
        <p:nvSpPr>
          <p:cNvPr id="31" name="band 6"/>
          <p:cNvSpPr/>
          <p:nvPr/>
        </p:nvSpPr>
        <p:spPr>
          <a:xfrm>
            <a:off x="548640" y="3922776"/>
            <a:ext cx="11094415" cy="338328"/>
          </a:xfrm>
          <a:prstGeom prst="rect">
            <a:avLst/>
          </a:prstGeom>
          <a:solidFill>
            <a:schemeClr val="accent5"/>
          </a:solidFill>
          <a:ln w="12700">
            <a:solidFill>
              <a:srgbClr val="E9EDF4"/>
            </a:solidFill>
            <a:prstDash val="solid"/>
          </a:ln>
        </p:spPr>
        <p:txBody>
          <a:bodyPr/>
          <a:lstStyle/>
          <a:p>
            <a:endParaRPr lang="en-US"/>
          </a:p>
        </p:txBody>
      </p:sp>
      <p:sp>
        <p:nvSpPr>
          <p:cNvPr id="32" name="Text 30"/>
          <p:cNvSpPr txBox="1"/>
          <p:nvPr/>
        </p:nvSpPr>
        <p:spPr>
          <a:xfrm>
            <a:off x="640080" y="3922776"/>
            <a:ext cx="3383280" cy="338328"/>
          </a:xfrm>
          <a:prstGeom prst="rect">
            <a:avLst/>
          </a:prstGeom>
          <a:noFill/>
          <a:ln/>
        </p:spPr>
        <p:txBody>
          <a:bodyPr wrap="square" lIns="0" tIns="0" rIns="0" bIns="0" rtlCol="0" anchor="ctr"/>
          <a:lstStyle/>
          <a:p>
            <a:pPr marL="0" indent="0">
              <a:buNone/>
            </a:pPr>
            <a:r>
              <a:rPr lang="en-US" sz="1050" dirty="0">
                <a:solidFill>
                  <a:schemeClr val="tx1"/>
                </a:solidFill>
              </a:rPr>
              <a:t>Year-end close and retirement-plan year-end data</a:t>
            </a:r>
            <a:endParaRPr lang="en-US" sz="1050" dirty="0"/>
          </a:p>
        </p:txBody>
      </p:sp>
      <p:sp>
        <p:nvSpPr>
          <p:cNvPr id="33" name="bar 6"/>
          <p:cNvSpPr/>
          <p:nvPr/>
        </p:nvSpPr>
        <p:spPr>
          <a:xfrm>
            <a:off x="6620256" y="3995928"/>
            <a:ext cx="1503273" cy="192024"/>
          </a:xfrm>
          <a:prstGeom prst="roundRect">
            <a:avLst>
              <a:gd name="adj" fmla="val 23810"/>
            </a:avLst>
          </a:prstGeom>
          <a:solidFill>
            <a:srgbClr val="1B2A49"/>
          </a:solidFill>
          <a:ln w="12700">
            <a:solidFill>
              <a:srgbClr val="1B2A49"/>
            </a:solidFill>
            <a:prstDash val="solid"/>
          </a:ln>
        </p:spPr>
        <p:txBody>
          <a:bodyPr/>
          <a:lstStyle/>
          <a:p>
            <a:endParaRPr lang="en-US"/>
          </a:p>
        </p:txBody>
      </p:sp>
      <p:sp>
        <p:nvSpPr>
          <p:cNvPr id="34" name="Text 32"/>
          <p:cNvSpPr txBox="1"/>
          <p:nvPr/>
        </p:nvSpPr>
        <p:spPr>
          <a:xfrm>
            <a:off x="640080" y="4261104"/>
            <a:ext cx="3383280" cy="338328"/>
          </a:xfrm>
          <a:prstGeom prst="rect">
            <a:avLst/>
          </a:prstGeom>
          <a:noFill/>
          <a:ln/>
        </p:spPr>
        <p:txBody>
          <a:bodyPr wrap="square" lIns="0" tIns="0" rIns="0" bIns="0" rtlCol="0" anchor="ctr"/>
          <a:lstStyle/>
          <a:p>
            <a:pPr marL="0" indent="0">
              <a:buNone/>
            </a:pPr>
            <a:r>
              <a:rPr lang="en-US" sz="1050" dirty="0">
                <a:solidFill>
                  <a:schemeClr val="tx1"/>
                </a:solidFill>
              </a:rPr>
              <a:t>Automation roadmap with review controls</a:t>
            </a:r>
            <a:endParaRPr lang="en-US" sz="1050" dirty="0"/>
          </a:p>
        </p:txBody>
      </p:sp>
      <p:sp>
        <p:nvSpPr>
          <p:cNvPr id="35" name="bar 7"/>
          <p:cNvSpPr/>
          <p:nvPr/>
        </p:nvSpPr>
        <p:spPr>
          <a:xfrm>
            <a:off x="6996074" y="4334256"/>
            <a:ext cx="3382365" cy="192024"/>
          </a:xfrm>
          <a:prstGeom prst="roundRect">
            <a:avLst>
              <a:gd name="adj" fmla="val 23810"/>
            </a:avLst>
          </a:prstGeom>
          <a:solidFill>
            <a:srgbClr val="1B2A49"/>
          </a:solidFill>
          <a:ln w="12700">
            <a:solidFill>
              <a:srgbClr val="1B2A49"/>
            </a:solidFill>
            <a:prstDash val="solid"/>
          </a:ln>
        </p:spPr>
        <p:txBody>
          <a:bodyPr/>
          <a:lstStyle/>
          <a:p>
            <a:endParaRPr lang="en-US"/>
          </a:p>
        </p:txBody>
      </p:sp>
      <p:sp>
        <p:nvSpPr>
          <p:cNvPr id="36" name="band 8"/>
          <p:cNvSpPr/>
          <p:nvPr/>
        </p:nvSpPr>
        <p:spPr>
          <a:xfrm>
            <a:off x="548640" y="4599432"/>
            <a:ext cx="11094415" cy="338328"/>
          </a:xfrm>
          <a:prstGeom prst="rect">
            <a:avLst/>
          </a:prstGeom>
          <a:solidFill>
            <a:schemeClr val="accent5"/>
          </a:solidFill>
          <a:ln w="12700">
            <a:solidFill>
              <a:srgbClr val="E9EDF4"/>
            </a:solidFill>
            <a:prstDash val="solid"/>
          </a:ln>
        </p:spPr>
        <p:txBody>
          <a:bodyPr/>
          <a:lstStyle/>
          <a:p>
            <a:endParaRPr lang="en-US"/>
          </a:p>
        </p:txBody>
      </p:sp>
      <p:sp>
        <p:nvSpPr>
          <p:cNvPr id="37" name="Text 35"/>
          <p:cNvSpPr txBox="1"/>
          <p:nvPr/>
        </p:nvSpPr>
        <p:spPr>
          <a:xfrm>
            <a:off x="640080" y="4599432"/>
            <a:ext cx="3383280" cy="338328"/>
          </a:xfrm>
          <a:prstGeom prst="rect">
            <a:avLst/>
          </a:prstGeom>
          <a:noFill/>
          <a:ln/>
        </p:spPr>
        <p:txBody>
          <a:bodyPr wrap="square" lIns="0" tIns="0" rIns="0" bIns="0" rtlCol="0" anchor="ctr"/>
          <a:lstStyle/>
          <a:p>
            <a:pPr marL="0" indent="0">
              <a:buNone/>
            </a:pPr>
            <a:r>
              <a:rPr lang="en-US" sz="1050" dirty="0">
                <a:solidFill>
                  <a:schemeClr val="tx1"/>
                </a:solidFill>
              </a:rPr>
              <a:t>2027 budget and CFO reporting rhythm</a:t>
            </a:r>
            <a:endParaRPr lang="en-US" sz="1050" dirty="0"/>
          </a:p>
        </p:txBody>
      </p:sp>
      <p:sp>
        <p:nvSpPr>
          <p:cNvPr id="38" name="bar 8"/>
          <p:cNvSpPr/>
          <p:nvPr/>
        </p:nvSpPr>
        <p:spPr>
          <a:xfrm>
            <a:off x="5993892" y="4672584"/>
            <a:ext cx="5637276" cy="192024"/>
          </a:xfrm>
          <a:prstGeom prst="roundRect">
            <a:avLst>
              <a:gd name="adj" fmla="val 23810"/>
            </a:avLst>
          </a:prstGeom>
          <a:solidFill>
            <a:srgbClr val="1B2A49"/>
          </a:solidFill>
          <a:ln w="12700">
            <a:solidFill>
              <a:srgbClr val="1B2A49"/>
            </a:solidFill>
            <a:prstDash val="solid"/>
          </a:ln>
        </p:spPr>
        <p:txBody>
          <a:bodyPr/>
          <a:lstStyle/>
          <a:p>
            <a:endParaRPr lang="en-US"/>
          </a:p>
        </p:txBody>
      </p:sp>
      <p:sp>
        <p:nvSpPr>
          <p:cNvPr id="39" name="Text 37"/>
          <p:cNvSpPr txBox="1"/>
          <p:nvPr/>
        </p:nvSpPr>
        <p:spPr>
          <a:xfrm>
            <a:off x="640080" y="4937760"/>
            <a:ext cx="3383280" cy="338328"/>
          </a:xfrm>
          <a:prstGeom prst="rect">
            <a:avLst/>
          </a:prstGeom>
          <a:noFill/>
          <a:ln/>
        </p:spPr>
        <p:txBody>
          <a:bodyPr wrap="square" lIns="0" tIns="0" rIns="0" bIns="0" rtlCol="0" anchor="ctr"/>
          <a:lstStyle/>
          <a:p>
            <a:pPr marL="0" indent="0">
              <a:buNone/>
            </a:pPr>
            <a:r>
              <a:rPr lang="en-US" sz="1050" dirty="0">
                <a:solidFill>
                  <a:schemeClr val="tx1"/>
                </a:solidFill>
              </a:rPr>
              <a:t>Benefits renewal (Mar 1)</a:t>
            </a:r>
            <a:endParaRPr lang="en-US" sz="1050" dirty="0"/>
          </a:p>
        </p:txBody>
      </p:sp>
      <p:sp>
        <p:nvSpPr>
          <p:cNvPr id="40" name="bar 9"/>
          <p:cNvSpPr/>
          <p:nvPr/>
        </p:nvSpPr>
        <p:spPr>
          <a:xfrm>
            <a:off x="9125712" y="5010912"/>
            <a:ext cx="313182" cy="192024"/>
          </a:xfrm>
          <a:prstGeom prst="roundRect">
            <a:avLst>
              <a:gd name="adj" fmla="val 23810"/>
            </a:avLst>
          </a:prstGeom>
          <a:solidFill>
            <a:srgbClr val="AF1F29"/>
          </a:solidFill>
          <a:ln w="12700">
            <a:solidFill>
              <a:srgbClr val="1B2A49"/>
            </a:solidFill>
            <a:prstDash val="solid"/>
          </a:ln>
        </p:spPr>
        <p:txBody>
          <a:bodyPr/>
          <a:lstStyle/>
          <a:p>
            <a:endParaRPr lang="en-US"/>
          </a:p>
        </p:txBody>
      </p:sp>
      <p:sp>
        <p:nvSpPr>
          <p:cNvPr id="41" name="grid 1"/>
          <p:cNvSpPr/>
          <p:nvPr/>
        </p:nvSpPr>
        <p:spPr>
          <a:xfrm>
            <a:off x="5369509" y="1892808"/>
            <a:ext cx="0" cy="3383280"/>
          </a:xfrm>
          <a:prstGeom prst="line">
            <a:avLst/>
          </a:prstGeom>
          <a:noFill/>
          <a:ln w="6350">
            <a:solidFill>
              <a:srgbClr val="D5D9E0"/>
            </a:solidFill>
            <a:prstDash val="solid"/>
          </a:ln>
        </p:spPr>
        <p:txBody>
          <a:bodyPr/>
          <a:lstStyle/>
          <a:p>
            <a:endParaRPr lang="en-US"/>
          </a:p>
        </p:txBody>
      </p:sp>
      <p:sp>
        <p:nvSpPr>
          <p:cNvPr id="42" name="grid 2"/>
          <p:cNvSpPr/>
          <p:nvPr/>
        </p:nvSpPr>
        <p:spPr>
          <a:xfrm>
            <a:off x="6624218" y="1892808"/>
            <a:ext cx="0" cy="3383280"/>
          </a:xfrm>
          <a:prstGeom prst="line">
            <a:avLst/>
          </a:prstGeom>
          <a:noFill/>
          <a:ln w="6350">
            <a:solidFill>
              <a:srgbClr val="D5D9E0"/>
            </a:solidFill>
            <a:prstDash val="solid"/>
          </a:ln>
        </p:spPr>
        <p:txBody>
          <a:bodyPr/>
          <a:lstStyle/>
          <a:p>
            <a:endParaRPr lang="en-US"/>
          </a:p>
        </p:txBody>
      </p:sp>
      <p:sp>
        <p:nvSpPr>
          <p:cNvPr id="43" name="grid 3"/>
          <p:cNvSpPr/>
          <p:nvPr/>
        </p:nvSpPr>
        <p:spPr>
          <a:xfrm>
            <a:off x="7878928" y="1892808"/>
            <a:ext cx="0" cy="3383280"/>
          </a:xfrm>
          <a:prstGeom prst="line">
            <a:avLst/>
          </a:prstGeom>
          <a:noFill/>
          <a:ln w="6350">
            <a:solidFill>
              <a:srgbClr val="D5D9E0"/>
            </a:solidFill>
            <a:prstDash val="solid"/>
          </a:ln>
        </p:spPr>
        <p:txBody>
          <a:bodyPr/>
          <a:lstStyle/>
          <a:p>
            <a:endParaRPr lang="en-US"/>
          </a:p>
        </p:txBody>
      </p:sp>
      <p:sp>
        <p:nvSpPr>
          <p:cNvPr id="44" name="grid 4"/>
          <p:cNvSpPr/>
          <p:nvPr/>
        </p:nvSpPr>
        <p:spPr>
          <a:xfrm>
            <a:off x="9133637" y="1892808"/>
            <a:ext cx="0" cy="3383280"/>
          </a:xfrm>
          <a:prstGeom prst="line">
            <a:avLst/>
          </a:prstGeom>
          <a:noFill/>
          <a:ln w="6350">
            <a:solidFill>
              <a:srgbClr val="D5D9E0"/>
            </a:solidFill>
            <a:prstDash val="solid"/>
          </a:ln>
        </p:spPr>
        <p:txBody>
          <a:bodyPr/>
          <a:lstStyle/>
          <a:p>
            <a:endParaRPr lang="en-US"/>
          </a:p>
        </p:txBody>
      </p:sp>
      <p:sp>
        <p:nvSpPr>
          <p:cNvPr id="45" name="grid 5"/>
          <p:cNvSpPr/>
          <p:nvPr/>
        </p:nvSpPr>
        <p:spPr>
          <a:xfrm>
            <a:off x="10388346" y="1892808"/>
            <a:ext cx="0" cy="3383280"/>
          </a:xfrm>
          <a:prstGeom prst="line">
            <a:avLst/>
          </a:prstGeom>
          <a:noFill/>
          <a:ln w="6350">
            <a:solidFill>
              <a:srgbClr val="D5D9E0"/>
            </a:solidFill>
            <a:prstDash val="solid"/>
          </a:ln>
        </p:spPr>
        <p:txBody>
          <a:bodyPr/>
          <a:lstStyle/>
          <a:p>
            <a:endParaRPr lang="en-US"/>
          </a:p>
        </p:txBody>
      </p:sp>
      <p:sp>
        <p:nvSpPr>
          <p:cNvPr id="46" name="cp line"/>
          <p:cNvSpPr/>
          <p:nvPr/>
        </p:nvSpPr>
        <p:spPr>
          <a:xfrm>
            <a:off x="4114800" y="5660136"/>
            <a:ext cx="7528255" cy="0"/>
          </a:xfrm>
          <a:prstGeom prst="line">
            <a:avLst/>
          </a:prstGeom>
          <a:noFill/>
          <a:ln w="12700">
            <a:solidFill>
              <a:srgbClr val="D5D9E0"/>
            </a:solidFill>
            <a:prstDash val="solid"/>
          </a:ln>
        </p:spPr>
        <p:txBody>
          <a:bodyPr/>
          <a:lstStyle/>
          <a:p>
            <a:endParaRPr lang="en-US"/>
          </a:p>
        </p:txBody>
      </p:sp>
      <p:sp>
        <p:nvSpPr>
          <p:cNvPr id="47" name="cp Kickoff"/>
          <p:cNvSpPr/>
          <p:nvPr/>
        </p:nvSpPr>
        <p:spPr>
          <a:xfrm>
            <a:off x="4202125" y="5559552"/>
            <a:ext cx="201168" cy="201168"/>
          </a:xfrm>
          <a:prstGeom prst="diamond">
            <a:avLst/>
          </a:prstGeom>
          <a:solidFill>
            <a:schemeClr val="accent2"/>
          </a:solidFill>
          <a:ln w="12700">
            <a:solidFill>
              <a:srgbClr val="AF1F29"/>
            </a:solidFill>
            <a:prstDash val="solid"/>
          </a:ln>
        </p:spPr>
        <p:txBody>
          <a:bodyPr/>
          <a:lstStyle/>
          <a:p>
            <a:endParaRPr lang="en-US"/>
          </a:p>
        </p:txBody>
      </p:sp>
      <p:sp>
        <p:nvSpPr>
          <p:cNvPr id="48" name="Text 46"/>
          <p:cNvSpPr txBox="1"/>
          <p:nvPr/>
        </p:nvSpPr>
        <p:spPr>
          <a:xfrm>
            <a:off x="3662629" y="5824728"/>
            <a:ext cx="1280160" cy="274320"/>
          </a:xfrm>
          <a:prstGeom prst="rect">
            <a:avLst/>
          </a:prstGeom>
          <a:noFill/>
          <a:ln/>
        </p:spPr>
        <p:txBody>
          <a:bodyPr wrap="square" lIns="0" tIns="0" rIns="0" bIns="0" rtlCol="0" anchor="t"/>
          <a:lstStyle/>
          <a:p>
            <a:pPr marL="0" indent="0" algn="ctr">
              <a:buNone/>
            </a:pPr>
            <a:r>
              <a:rPr lang="en-US" sz="1000" dirty="0">
                <a:solidFill>
                  <a:schemeClr val="tx2"/>
                </a:solidFill>
              </a:rPr>
              <a:t>Kickoff</a:t>
            </a:r>
            <a:endParaRPr lang="en-US" sz="1000" dirty="0"/>
          </a:p>
        </p:txBody>
      </p:sp>
      <p:sp>
        <p:nvSpPr>
          <p:cNvPr id="49" name="cp Day 30 review"/>
          <p:cNvSpPr/>
          <p:nvPr/>
        </p:nvSpPr>
        <p:spPr>
          <a:xfrm>
            <a:off x="5392216" y="5559552"/>
            <a:ext cx="201168" cy="201168"/>
          </a:xfrm>
          <a:prstGeom prst="diamond">
            <a:avLst/>
          </a:prstGeom>
          <a:solidFill>
            <a:schemeClr val="accent2"/>
          </a:solidFill>
          <a:ln w="12700">
            <a:solidFill>
              <a:srgbClr val="AF1F29"/>
            </a:solidFill>
            <a:prstDash val="solid"/>
          </a:ln>
        </p:spPr>
        <p:txBody>
          <a:bodyPr/>
          <a:lstStyle/>
          <a:p>
            <a:endParaRPr lang="en-US"/>
          </a:p>
        </p:txBody>
      </p:sp>
      <p:sp>
        <p:nvSpPr>
          <p:cNvPr id="50" name="Text 48"/>
          <p:cNvSpPr txBox="1"/>
          <p:nvPr/>
        </p:nvSpPr>
        <p:spPr>
          <a:xfrm>
            <a:off x="4852720" y="5824728"/>
            <a:ext cx="1280160" cy="274320"/>
          </a:xfrm>
          <a:prstGeom prst="rect">
            <a:avLst/>
          </a:prstGeom>
          <a:noFill/>
          <a:ln/>
        </p:spPr>
        <p:txBody>
          <a:bodyPr wrap="square" lIns="0" tIns="0" rIns="0" bIns="0" rtlCol="0" anchor="t"/>
          <a:lstStyle/>
          <a:p>
            <a:pPr marL="0" indent="0" algn="ctr">
              <a:buNone/>
            </a:pPr>
            <a:r>
              <a:rPr lang="en-US" sz="1000" dirty="0">
                <a:solidFill>
                  <a:schemeClr val="tx2"/>
                </a:solidFill>
              </a:rPr>
              <a:t>Day 30 review</a:t>
            </a:r>
            <a:endParaRPr lang="en-US" sz="1000" dirty="0"/>
          </a:p>
        </p:txBody>
      </p:sp>
      <p:sp>
        <p:nvSpPr>
          <p:cNvPr id="51" name="cp Day 60 review"/>
          <p:cNvSpPr/>
          <p:nvPr/>
        </p:nvSpPr>
        <p:spPr>
          <a:xfrm>
            <a:off x="6644944" y="5559552"/>
            <a:ext cx="201168" cy="201168"/>
          </a:xfrm>
          <a:prstGeom prst="diamond">
            <a:avLst/>
          </a:prstGeom>
          <a:solidFill>
            <a:schemeClr val="accent2"/>
          </a:solidFill>
          <a:ln w="12700">
            <a:solidFill>
              <a:srgbClr val="AF1F29"/>
            </a:solidFill>
            <a:prstDash val="solid"/>
          </a:ln>
        </p:spPr>
        <p:txBody>
          <a:bodyPr/>
          <a:lstStyle/>
          <a:p>
            <a:endParaRPr lang="en-US"/>
          </a:p>
        </p:txBody>
      </p:sp>
      <p:sp>
        <p:nvSpPr>
          <p:cNvPr id="52" name="Text 50"/>
          <p:cNvSpPr txBox="1"/>
          <p:nvPr/>
        </p:nvSpPr>
        <p:spPr>
          <a:xfrm>
            <a:off x="6105448" y="5824728"/>
            <a:ext cx="1280160" cy="274320"/>
          </a:xfrm>
          <a:prstGeom prst="rect">
            <a:avLst/>
          </a:prstGeom>
          <a:noFill/>
          <a:ln/>
        </p:spPr>
        <p:txBody>
          <a:bodyPr wrap="square" lIns="0" tIns="0" rIns="0" bIns="0" rtlCol="0" anchor="t"/>
          <a:lstStyle/>
          <a:p>
            <a:pPr marL="0" indent="0" algn="ctr">
              <a:buNone/>
            </a:pPr>
            <a:r>
              <a:rPr lang="en-US" sz="1000" dirty="0">
                <a:solidFill>
                  <a:schemeClr val="tx2"/>
                </a:solidFill>
              </a:rPr>
              <a:t>Day 60 review</a:t>
            </a:r>
            <a:endParaRPr lang="en-US" sz="1000" dirty="0"/>
          </a:p>
        </p:txBody>
      </p:sp>
      <p:sp>
        <p:nvSpPr>
          <p:cNvPr id="53" name="cp Day 90 review"/>
          <p:cNvSpPr/>
          <p:nvPr/>
        </p:nvSpPr>
        <p:spPr>
          <a:xfrm>
            <a:off x="7897672" y="5559552"/>
            <a:ext cx="201168" cy="201168"/>
          </a:xfrm>
          <a:prstGeom prst="diamond">
            <a:avLst/>
          </a:prstGeom>
          <a:solidFill>
            <a:schemeClr val="accent2"/>
          </a:solidFill>
          <a:ln w="12700">
            <a:solidFill>
              <a:srgbClr val="AF1F29"/>
            </a:solidFill>
            <a:prstDash val="solid"/>
          </a:ln>
        </p:spPr>
        <p:txBody>
          <a:bodyPr/>
          <a:lstStyle/>
          <a:p>
            <a:endParaRPr lang="en-US"/>
          </a:p>
        </p:txBody>
      </p:sp>
      <p:sp>
        <p:nvSpPr>
          <p:cNvPr id="54" name="Text 52"/>
          <p:cNvSpPr txBox="1"/>
          <p:nvPr/>
        </p:nvSpPr>
        <p:spPr>
          <a:xfrm>
            <a:off x="7358176" y="5824728"/>
            <a:ext cx="1280160" cy="274320"/>
          </a:xfrm>
          <a:prstGeom prst="rect">
            <a:avLst/>
          </a:prstGeom>
          <a:noFill/>
          <a:ln/>
        </p:spPr>
        <p:txBody>
          <a:bodyPr wrap="square" lIns="0" tIns="0" rIns="0" bIns="0" rtlCol="0" anchor="t"/>
          <a:lstStyle/>
          <a:p>
            <a:pPr marL="0" indent="0" algn="ctr">
              <a:buNone/>
            </a:pPr>
            <a:r>
              <a:rPr lang="en-US" sz="1000" dirty="0">
                <a:solidFill>
                  <a:schemeClr val="tx2"/>
                </a:solidFill>
              </a:rPr>
              <a:t>Day 90 review</a:t>
            </a:r>
            <a:endParaRPr lang="en-US" sz="1000" dirty="0"/>
          </a:p>
        </p:txBody>
      </p:sp>
      <p:sp>
        <p:nvSpPr>
          <p:cNvPr id="55" name="cp Steady state"/>
          <p:cNvSpPr/>
          <p:nvPr/>
        </p:nvSpPr>
        <p:spPr>
          <a:xfrm>
            <a:off x="11342674" y="5559552"/>
            <a:ext cx="201168" cy="201168"/>
          </a:xfrm>
          <a:prstGeom prst="diamond">
            <a:avLst/>
          </a:prstGeom>
          <a:solidFill>
            <a:schemeClr val="accent2"/>
          </a:solidFill>
          <a:ln w="12700">
            <a:solidFill>
              <a:srgbClr val="AF1F29"/>
            </a:solidFill>
            <a:prstDash val="solid"/>
          </a:ln>
        </p:spPr>
        <p:txBody>
          <a:bodyPr/>
          <a:lstStyle/>
          <a:p>
            <a:endParaRPr lang="en-US"/>
          </a:p>
        </p:txBody>
      </p:sp>
      <p:sp>
        <p:nvSpPr>
          <p:cNvPr id="56" name="Text 54"/>
          <p:cNvSpPr txBox="1"/>
          <p:nvPr/>
        </p:nvSpPr>
        <p:spPr>
          <a:xfrm>
            <a:off x="10803178" y="5824728"/>
            <a:ext cx="1280160" cy="274320"/>
          </a:xfrm>
          <a:prstGeom prst="rect">
            <a:avLst/>
          </a:prstGeom>
          <a:noFill/>
          <a:ln/>
        </p:spPr>
        <p:txBody>
          <a:bodyPr wrap="square" lIns="0" tIns="0" rIns="0" bIns="0" rtlCol="0" anchor="t"/>
          <a:lstStyle/>
          <a:p>
            <a:pPr marL="0" indent="0" algn="ctr">
              <a:buNone/>
            </a:pPr>
            <a:r>
              <a:rPr lang="en-US" sz="1000" dirty="0">
                <a:solidFill>
                  <a:schemeClr val="tx2"/>
                </a:solidFill>
              </a:rPr>
              <a:t>Steady state</a:t>
            </a:r>
            <a:endParaRPr lang="en-US" sz="1000" dirty="0"/>
          </a:p>
        </p:txBody>
      </p:sp>
      <p:sp>
        <p:nvSpPr>
          <p:cNvPr id="57" name="Text 55"/>
          <p:cNvSpPr txBox="1"/>
          <p:nvPr/>
        </p:nvSpPr>
        <p:spPr>
          <a:xfrm>
            <a:off x="640080" y="5532120"/>
            <a:ext cx="3566160" cy="274320"/>
          </a:xfrm>
          <a:prstGeom prst="rect">
            <a:avLst/>
          </a:prstGeom>
          <a:noFill/>
          <a:ln/>
        </p:spPr>
        <p:txBody>
          <a:bodyPr wrap="square" lIns="0" tIns="0" rIns="0" bIns="0" rtlCol="0" anchor="t"/>
          <a:lstStyle/>
          <a:p>
            <a:pPr marL="0" indent="0">
              <a:buNone/>
            </a:pPr>
            <a:r>
              <a:rPr lang="en-US" sz="1100" b="1" dirty="0">
                <a:solidFill>
                  <a:schemeClr val="tx2"/>
                </a:solidFill>
              </a:rPr>
              <a:t>Checkpoints</a:t>
            </a:r>
            <a:endParaRPr lang="en-US" sz="1100" dirty="0"/>
          </a:p>
        </p:txBody>
      </p:sp>
      <p:sp>
        <p:nvSpPr>
          <p:cNvPr id="58" name="Text 56"/>
          <p:cNvSpPr txBox="1"/>
          <p:nvPr/>
        </p:nvSpPr>
        <p:spPr>
          <a:xfrm>
            <a:off x="548640" y="6291072"/>
            <a:ext cx="10972800" cy="274320"/>
          </a:xfrm>
          <a:prstGeom prst="rect">
            <a:avLst/>
          </a:prstGeom>
          <a:noFill/>
          <a:ln/>
        </p:spPr>
        <p:txBody>
          <a:bodyPr wrap="square" lIns="0" tIns="0" rIns="0" bIns="0" rtlCol="0" anchor="t"/>
          <a:lstStyle/>
          <a:p>
            <a:pPr marL="0" indent="0">
              <a:buNone/>
            </a:pPr>
            <a:r>
              <a:rPr lang="en-US" sz="950" dirty="0">
                <a:solidFill>
                  <a:schemeClr val="accent3"/>
                </a:solidFill>
              </a:rPr>
              <a:t>Assumes a start in early November 2026 with system access from day one. Red bars are fixed-date events. Dates are confirmed with Mark in the first week.</a:t>
            </a:r>
            <a:endParaRPr lang="en-US" sz="950" dirty="0"/>
          </a:p>
        </p:txBody>
      </p:sp>
      <p:sp>
        <p:nvSpPr>
          <p:cNvPr id="59"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472"/>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body" idx="102" hasCustomPrompt="1"/>
          </p:nvPr>
        </p:nvSpPr>
        <p:spPr>
          <a:xfrm>
            <a:off x="548640" y="384048"/>
            <a:ext cx="8229600" cy="274320"/>
          </a:xfrm>
          <a:prstGeom prst="rect">
            <a:avLst/>
          </a:prstGeom>
          <a:noFill/>
          <a:ln/>
        </p:spPr>
        <p:txBody>
          <a:bodyPr wrap="square" lIns="0" tIns="0" rIns="0" bIns="0" rtlCol="0"/>
          <a:lstStyle/>
          <a:p>
            <a:pPr marL="0" indent="0">
              <a:buNone/>
            </a:pPr>
            <a:r>
              <a:rPr lang="en-US" sz="1100" b="1" kern="0" spc="200" dirty="0">
                <a:solidFill>
                  <a:srgbClr val="AF1F29"/>
                </a:solidFill>
              </a:rPr>
              <a:t>04  30/60/90-DAY PLAN</a:t>
            </a:r>
            <a:endParaRPr lang="en-US" sz="1100" dirty="0"/>
          </a:p>
        </p:txBody>
      </p:sp>
      <p:sp>
        <p:nvSpPr>
          <p:cNvPr id="3" name="Text 1"/>
          <p:cNvSpPr>
            <a:spLocks noGrp="1"/>
          </p:cNvSpPr>
          <p:nvPr>
            <p:ph type="title" idx="103" hasCustomPrompt="1"/>
          </p:nvPr>
        </p:nvSpPr>
        <p:spPr>
          <a:xfrm>
            <a:off x="548640" y="658368"/>
            <a:ext cx="9692640" cy="731520"/>
          </a:xfrm>
          <a:prstGeom prst="rect">
            <a:avLst/>
          </a:prstGeom>
          <a:noFill/>
          <a:ln/>
        </p:spPr>
        <p:txBody>
          <a:bodyPr wrap="square" lIns="0" tIns="0" rIns="0" bIns="0" rtlCol="0" anchor="t"/>
          <a:lstStyle/>
          <a:p>
            <a:pPr marL="0" indent="0" algn="l">
              <a:buNone/>
            </a:pPr>
            <a:r>
              <a:rPr lang="en-US" sz="2800" dirty="0">
                <a:solidFill>
                  <a:srgbClr val="16181D"/>
                </a:solidFill>
              </a:rPr>
              <a:t>The first 90 days</a:t>
            </a:r>
            <a:endParaRPr lang="en-US" sz="2800" dirty="0"/>
          </a:p>
        </p:txBody>
      </p:sp>
      <p:sp>
        <p:nvSpPr>
          <p:cNvPr id="4" name="phase Days 1 to 30"/>
          <p:cNvSpPr/>
          <p:nvPr/>
        </p:nvSpPr>
        <p:spPr>
          <a:xfrm>
            <a:off x="548640" y="1554480"/>
            <a:ext cx="3545738" cy="3977640"/>
          </a:xfrm>
          <a:prstGeom prst="rect">
            <a:avLst/>
          </a:prstGeom>
          <a:solidFill>
            <a:schemeClr val="accent5"/>
          </a:solidFill>
          <a:ln w="9525">
            <a:solidFill>
              <a:srgbClr val="D5D9E0"/>
            </a:solidFill>
            <a:prstDash val="solid"/>
          </a:ln>
        </p:spPr>
        <p:txBody>
          <a:bodyPr/>
          <a:lstStyle/>
          <a:p>
            <a:endParaRPr lang="en-US"/>
          </a:p>
        </p:txBody>
      </p:sp>
      <p:sp>
        <p:nvSpPr>
          <p:cNvPr id="5" name="phase head Days 1 to 30"/>
          <p:cNvSpPr/>
          <p:nvPr/>
        </p:nvSpPr>
        <p:spPr>
          <a:xfrm>
            <a:off x="548640" y="1554480"/>
            <a:ext cx="3545738" cy="685800"/>
          </a:xfrm>
          <a:prstGeom prst="rect">
            <a:avLst/>
          </a:prstGeom>
          <a:solidFill>
            <a:schemeClr val="accent1"/>
          </a:solidFill>
          <a:ln w="12700">
            <a:solidFill>
              <a:srgbClr val="1B2A49"/>
            </a:solidFill>
            <a:prstDash val="solid"/>
          </a:ln>
        </p:spPr>
        <p:txBody>
          <a:bodyPr/>
          <a:lstStyle/>
          <a:p>
            <a:endParaRPr lang="en-US"/>
          </a:p>
        </p:txBody>
      </p:sp>
      <p:sp>
        <p:nvSpPr>
          <p:cNvPr id="6" name="Text 4"/>
          <p:cNvSpPr txBox="1"/>
          <p:nvPr/>
        </p:nvSpPr>
        <p:spPr>
          <a:xfrm>
            <a:off x="777240" y="1645920"/>
            <a:ext cx="3088538" cy="274320"/>
          </a:xfrm>
          <a:prstGeom prst="rect">
            <a:avLst/>
          </a:prstGeom>
          <a:noFill/>
          <a:ln/>
        </p:spPr>
        <p:txBody>
          <a:bodyPr wrap="square" lIns="0" tIns="0" rIns="0" bIns="0" rtlCol="0" anchor="t"/>
          <a:lstStyle/>
          <a:p>
            <a:pPr marL="0" indent="0">
              <a:buNone/>
            </a:pPr>
            <a:r>
              <a:rPr lang="en-US" sz="1100" b="1" kern="0" spc="100" dirty="0">
                <a:solidFill>
                  <a:schemeClr val="bg1"/>
                </a:solidFill>
              </a:rPr>
              <a:t>Days 1 to 30</a:t>
            </a:r>
            <a:endParaRPr lang="en-US" sz="1100" dirty="0"/>
          </a:p>
        </p:txBody>
      </p:sp>
      <p:sp>
        <p:nvSpPr>
          <p:cNvPr id="7" name="Text 5"/>
          <p:cNvSpPr txBox="1"/>
          <p:nvPr/>
        </p:nvSpPr>
        <p:spPr>
          <a:xfrm>
            <a:off x="777240" y="1883664"/>
            <a:ext cx="3088538" cy="320040"/>
          </a:xfrm>
          <a:prstGeom prst="rect">
            <a:avLst/>
          </a:prstGeom>
          <a:noFill/>
          <a:ln/>
        </p:spPr>
        <p:txBody>
          <a:bodyPr wrap="square" lIns="0" tIns="0" rIns="0" bIns="0" rtlCol="0" anchor="t"/>
          <a:lstStyle/>
          <a:p>
            <a:pPr marL="0" indent="0">
              <a:buNone/>
            </a:pPr>
            <a:r>
              <a:rPr lang="en-US" sz="1600" b="1" dirty="0">
                <a:solidFill>
                  <a:schemeClr val="bg1"/>
                </a:solidFill>
                <a:latin typeface="Cambria" pitchFamily="34" charset="0"/>
                <a:ea typeface="Cambria" pitchFamily="34" charset="-122"/>
                <a:cs typeface="Cambria" pitchFamily="34" charset="-120"/>
              </a:rPr>
              <a:t>Stabilize</a:t>
            </a:r>
            <a:endParaRPr lang="en-US" sz="1600" dirty="0"/>
          </a:p>
        </p:txBody>
      </p:sp>
      <p:sp>
        <p:nvSpPr>
          <p:cNvPr id="8" name="Text 6"/>
          <p:cNvSpPr txBox="1"/>
          <p:nvPr/>
        </p:nvSpPr>
        <p:spPr>
          <a:xfrm>
            <a:off x="777240" y="2377440"/>
            <a:ext cx="3088538" cy="274320"/>
          </a:xfrm>
          <a:prstGeom prst="rect">
            <a:avLst/>
          </a:prstGeom>
          <a:noFill/>
          <a:ln/>
        </p:spPr>
        <p:txBody>
          <a:bodyPr wrap="square" lIns="0" tIns="0" rIns="0" bIns="0" rtlCol="0" anchor="t"/>
          <a:lstStyle/>
          <a:p>
            <a:pPr marL="0" indent="0">
              <a:buNone/>
            </a:pPr>
            <a:r>
              <a:rPr lang="en-US" sz="1150" b="1" dirty="0">
                <a:solidFill>
                  <a:schemeClr val="tx2"/>
                </a:solidFill>
              </a:rPr>
              <a:t>Activities</a:t>
            </a:r>
            <a:endParaRPr lang="en-US" sz="1150" dirty="0"/>
          </a:p>
        </p:txBody>
      </p:sp>
      <p:sp>
        <p:nvSpPr>
          <p:cNvPr id="9" name="Text 7"/>
          <p:cNvSpPr txBox="1"/>
          <p:nvPr/>
        </p:nvSpPr>
        <p:spPr>
          <a:xfrm>
            <a:off x="777240" y="2651760"/>
            <a:ext cx="3088538" cy="173736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chemeClr val="tx1"/>
                </a:solidFill>
              </a:rPr>
              <a:t>Kickoff with Mark; access to QuickBooks, eClinicalWorks, payroll and bank</a:t>
            </a:r>
            <a:endParaRPr lang="en-US" sz="1100" dirty="0"/>
          </a:p>
          <a:p>
            <a:pPr marL="152400" indent="-152400">
              <a:spcAft>
                <a:spcPts val="400"/>
              </a:spcAft>
              <a:buSzPct val="100000"/>
              <a:buChar char="•"/>
            </a:pPr>
            <a:r>
              <a:rPr lang="en-US" sz="1100" dirty="0">
                <a:solidFill>
                  <a:schemeClr val="tx1"/>
                </a:solidFill>
              </a:rPr>
              <a:t>Capture Mark's recurring tasks, files, deadlines and bank contacts</a:t>
            </a:r>
            <a:endParaRPr lang="en-US" sz="1100" dirty="0"/>
          </a:p>
          <a:p>
            <a:pPr marL="152400" indent="-152400">
              <a:spcAft>
                <a:spcPts val="400"/>
              </a:spcAft>
              <a:buSzPct val="100000"/>
              <a:buChar char="•"/>
            </a:pPr>
            <a:r>
              <a:rPr lang="en-US" sz="1100" dirty="0">
                <a:solidFill>
                  <a:schemeClr val="tx1"/>
                </a:solidFill>
              </a:rPr>
              <a:t>Document the close, physician compensation and borrowing-base reporting</a:t>
            </a:r>
            <a:endParaRPr lang="en-US" sz="1100" dirty="0"/>
          </a:p>
          <a:p>
            <a:pPr marL="152400" indent="-152400">
              <a:spcAft>
                <a:spcPts val="400"/>
              </a:spcAft>
              <a:buSzPct val="100000"/>
              <a:buChar char="•"/>
            </a:pPr>
            <a:r>
              <a:rPr lang="en-US" sz="1100" dirty="0">
                <a:solidFill>
                  <a:schemeClr val="tx1"/>
                </a:solidFill>
              </a:rPr>
              <a:t>Take over review of the close and the mid-month bonus process</a:t>
            </a:r>
            <a:endParaRPr lang="en-US" sz="1100" dirty="0"/>
          </a:p>
        </p:txBody>
      </p:sp>
      <p:sp>
        <p:nvSpPr>
          <p:cNvPr id="10" name="Text 8"/>
          <p:cNvSpPr txBox="1"/>
          <p:nvPr/>
        </p:nvSpPr>
        <p:spPr>
          <a:xfrm>
            <a:off x="777240" y="4389120"/>
            <a:ext cx="3088538" cy="274320"/>
          </a:xfrm>
          <a:prstGeom prst="rect">
            <a:avLst/>
          </a:prstGeom>
          <a:noFill/>
          <a:ln/>
        </p:spPr>
        <p:txBody>
          <a:bodyPr wrap="square" lIns="0" tIns="0" rIns="0" bIns="0" rtlCol="0" anchor="t"/>
          <a:lstStyle/>
          <a:p>
            <a:pPr marL="0" indent="0">
              <a:buNone/>
            </a:pPr>
            <a:r>
              <a:rPr lang="en-US" sz="1150" b="1" dirty="0">
                <a:solidFill>
                  <a:schemeClr val="tx2"/>
                </a:solidFill>
              </a:rPr>
              <a:t>What you have at the checkpoint</a:t>
            </a:r>
            <a:endParaRPr lang="en-US" sz="1150" dirty="0"/>
          </a:p>
        </p:txBody>
      </p:sp>
      <p:sp>
        <p:nvSpPr>
          <p:cNvPr id="11" name="Text 9"/>
          <p:cNvSpPr txBox="1"/>
          <p:nvPr/>
        </p:nvSpPr>
        <p:spPr>
          <a:xfrm>
            <a:off x="777240" y="4663440"/>
            <a:ext cx="3088538" cy="86868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chemeClr val="tx1"/>
                </a:solidFill>
              </a:rPr>
              <a:t>Close calendar and task list documented</a:t>
            </a:r>
            <a:endParaRPr lang="en-US" sz="1100" dirty="0"/>
          </a:p>
          <a:p>
            <a:pPr marL="152400" indent="-152400">
              <a:spcAft>
                <a:spcPts val="400"/>
              </a:spcAft>
              <a:buSzPct val="100000"/>
              <a:buChar char="•"/>
            </a:pPr>
            <a:r>
              <a:rPr lang="en-US" sz="1100" dirty="0">
                <a:solidFill>
                  <a:schemeClr val="tx1"/>
                </a:solidFill>
              </a:rPr>
              <a:t>October close reviewed, November close under way</a:t>
            </a:r>
            <a:endParaRPr lang="en-US" sz="1100" dirty="0"/>
          </a:p>
          <a:p>
            <a:pPr marL="152400" indent="-152400">
              <a:spcAft>
                <a:spcPts val="400"/>
              </a:spcAft>
              <a:buSzPct val="100000"/>
              <a:buChar char="•"/>
            </a:pPr>
            <a:r>
              <a:rPr lang="en-US" sz="1100" dirty="0">
                <a:solidFill>
                  <a:schemeClr val="tx1"/>
                </a:solidFill>
              </a:rPr>
              <a:t>Open-items tracker in place</a:t>
            </a:r>
            <a:endParaRPr lang="en-US" sz="1100" dirty="0"/>
          </a:p>
        </p:txBody>
      </p:sp>
      <p:sp>
        <p:nvSpPr>
          <p:cNvPr id="12" name="phase Days 31 to 60"/>
          <p:cNvSpPr/>
          <p:nvPr/>
        </p:nvSpPr>
        <p:spPr>
          <a:xfrm>
            <a:off x="4322978" y="1554480"/>
            <a:ext cx="3545738" cy="3977640"/>
          </a:xfrm>
          <a:prstGeom prst="rect">
            <a:avLst/>
          </a:prstGeom>
          <a:solidFill>
            <a:schemeClr val="accent5"/>
          </a:solidFill>
          <a:ln w="9525">
            <a:solidFill>
              <a:srgbClr val="D5D9E0"/>
            </a:solidFill>
            <a:prstDash val="solid"/>
          </a:ln>
        </p:spPr>
        <p:txBody>
          <a:bodyPr/>
          <a:lstStyle/>
          <a:p>
            <a:endParaRPr lang="en-US"/>
          </a:p>
        </p:txBody>
      </p:sp>
      <p:sp>
        <p:nvSpPr>
          <p:cNvPr id="13" name="phase head Days 31 to 60"/>
          <p:cNvSpPr/>
          <p:nvPr/>
        </p:nvSpPr>
        <p:spPr>
          <a:xfrm>
            <a:off x="4322978" y="1554480"/>
            <a:ext cx="3545738" cy="685800"/>
          </a:xfrm>
          <a:prstGeom prst="rect">
            <a:avLst/>
          </a:prstGeom>
          <a:solidFill>
            <a:schemeClr val="accent1"/>
          </a:solidFill>
          <a:ln w="12700">
            <a:solidFill>
              <a:srgbClr val="1B2A49"/>
            </a:solidFill>
            <a:prstDash val="solid"/>
          </a:ln>
        </p:spPr>
        <p:txBody>
          <a:bodyPr/>
          <a:lstStyle/>
          <a:p>
            <a:endParaRPr lang="en-US"/>
          </a:p>
        </p:txBody>
      </p:sp>
      <p:sp>
        <p:nvSpPr>
          <p:cNvPr id="14" name="Text 12"/>
          <p:cNvSpPr txBox="1"/>
          <p:nvPr/>
        </p:nvSpPr>
        <p:spPr>
          <a:xfrm>
            <a:off x="4551578" y="1645920"/>
            <a:ext cx="3088538" cy="274320"/>
          </a:xfrm>
          <a:prstGeom prst="rect">
            <a:avLst/>
          </a:prstGeom>
          <a:noFill/>
          <a:ln/>
        </p:spPr>
        <p:txBody>
          <a:bodyPr wrap="square" lIns="0" tIns="0" rIns="0" bIns="0" rtlCol="0" anchor="t"/>
          <a:lstStyle/>
          <a:p>
            <a:pPr marL="0" indent="0">
              <a:buNone/>
            </a:pPr>
            <a:r>
              <a:rPr lang="en-US" sz="1100" b="1" kern="0" spc="100" dirty="0">
                <a:solidFill>
                  <a:schemeClr val="bg1"/>
                </a:solidFill>
              </a:rPr>
              <a:t>Days 31 to 60</a:t>
            </a:r>
            <a:endParaRPr lang="en-US" sz="1100" dirty="0"/>
          </a:p>
        </p:txBody>
      </p:sp>
      <p:sp>
        <p:nvSpPr>
          <p:cNvPr id="15" name="Text 13"/>
          <p:cNvSpPr txBox="1"/>
          <p:nvPr/>
        </p:nvSpPr>
        <p:spPr>
          <a:xfrm>
            <a:off x="4551578" y="1883664"/>
            <a:ext cx="3088538" cy="320040"/>
          </a:xfrm>
          <a:prstGeom prst="rect">
            <a:avLst/>
          </a:prstGeom>
          <a:noFill/>
          <a:ln/>
        </p:spPr>
        <p:txBody>
          <a:bodyPr wrap="square" lIns="0" tIns="0" rIns="0" bIns="0" rtlCol="0" anchor="t"/>
          <a:lstStyle/>
          <a:p>
            <a:pPr marL="0" indent="0">
              <a:buNone/>
            </a:pPr>
            <a:r>
              <a:rPr lang="en-US" sz="1600" b="1" dirty="0">
                <a:solidFill>
                  <a:schemeClr val="bg1"/>
                </a:solidFill>
                <a:latin typeface="Cambria" pitchFamily="34" charset="0"/>
                <a:ea typeface="Cambria" pitchFamily="34" charset="-122"/>
                <a:cs typeface="Cambria" pitchFamily="34" charset="-120"/>
              </a:rPr>
              <a:t>Standardize</a:t>
            </a:r>
            <a:endParaRPr lang="en-US" sz="1600" dirty="0"/>
          </a:p>
        </p:txBody>
      </p:sp>
      <p:sp>
        <p:nvSpPr>
          <p:cNvPr id="16" name="Text 14"/>
          <p:cNvSpPr txBox="1"/>
          <p:nvPr/>
        </p:nvSpPr>
        <p:spPr>
          <a:xfrm>
            <a:off x="4551578" y="2377440"/>
            <a:ext cx="3088538" cy="274320"/>
          </a:xfrm>
          <a:prstGeom prst="rect">
            <a:avLst/>
          </a:prstGeom>
          <a:noFill/>
          <a:ln/>
        </p:spPr>
        <p:txBody>
          <a:bodyPr wrap="square" lIns="0" tIns="0" rIns="0" bIns="0" rtlCol="0" anchor="t"/>
          <a:lstStyle/>
          <a:p>
            <a:pPr marL="0" indent="0">
              <a:buNone/>
            </a:pPr>
            <a:r>
              <a:rPr lang="en-US" sz="1150" b="1" dirty="0">
                <a:solidFill>
                  <a:schemeClr val="tx2"/>
                </a:solidFill>
              </a:rPr>
              <a:t>Activities</a:t>
            </a:r>
            <a:endParaRPr lang="en-US" sz="1150" dirty="0"/>
          </a:p>
        </p:txBody>
      </p:sp>
      <p:sp>
        <p:nvSpPr>
          <p:cNvPr id="17" name="Text 15"/>
          <p:cNvSpPr txBox="1"/>
          <p:nvPr/>
        </p:nvSpPr>
        <p:spPr>
          <a:xfrm>
            <a:off x="4551578" y="2651760"/>
            <a:ext cx="3088538" cy="173736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chemeClr val="tx1"/>
                </a:solidFill>
              </a:rPr>
              <a:t>Lead the November close and deliver management reporting</a:t>
            </a:r>
            <a:endParaRPr lang="en-US" sz="1100" dirty="0"/>
          </a:p>
          <a:p>
            <a:pPr marL="152400" indent="-152400">
              <a:spcAft>
                <a:spcPts val="400"/>
              </a:spcAft>
              <a:buSzPct val="100000"/>
              <a:buChar char="•"/>
            </a:pPr>
            <a:r>
              <a:rPr lang="en-US" sz="1100" dirty="0">
                <a:solidFill>
                  <a:schemeClr val="tx1"/>
                </a:solidFill>
              </a:rPr>
              <a:t>Prepare results for the December shareholder meeting</a:t>
            </a:r>
            <a:endParaRPr lang="en-US" sz="1100" dirty="0"/>
          </a:p>
          <a:p>
            <a:pPr marL="152400" indent="-152400">
              <a:spcAft>
                <a:spcPts val="400"/>
              </a:spcAft>
              <a:buSzPct val="100000"/>
              <a:buChar char="•"/>
            </a:pPr>
            <a:r>
              <a:rPr lang="en-US" sz="1100" dirty="0">
                <a:solidFill>
                  <a:schemeClr val="tx1"/>
                </a:solidFill>
              </a:rPr>
              <a:t>Tie revenue-cycle activity to the ledger; deliver the monthly analysis</a:t>
            </a:r>
            <a:endParaRPr lang="en-US" sz="1100" dirty="0"/>
          </a:p>
          <a:p>
            <a:pPr marL="152400" indent="-152400">
              <a:spcAft>
                <a:spcPts val="400"/>
              </a:spcAft>
              <a:buSzPct val="100000"/>
              <a:buChar char="•"/>
            </a:pPr>
            <a:r>
              <a:rPr lang="en-US" sz="1100" dirty="0">
                <a:solidFill>
                  <a:schemeClr val="tx1"/>
                </a:solidFill>
              </a:rPr>
              <a:t>Map eClinicalWorks, payroll and QuickBooks flows; log gaps with owners</a:t>
            </a:r>
            <a:endParaRPr lang="en-US" sz="1100" dirty="0"/>
          </a:p>
        </p:txBody>
      </p:sp>
      <p:sp>
        <p:nvSpPr>
          <p:cNvPr id="18" name="Text 16"/>
          <p:cNvSpPr txBox="1"/>
          <p:nvPr/>
        </p:nvSpPr>
        <p:spPr>
          <a:xfrm>
            <a:off x="4551578" y="4389120"/>
            <a:ext cx="3088538" cy="274320"/>
          </a:xfrm>
          <a:prstGeom prst="rect">
            <a:avLst/>
          </a:prstGeom>
          <a:noFill/>
          <a:ln/>
        </p:spPr>
        <p:txBody>
          <a:bodyPr wrap="square" lIns="0" tIns="0" rIns="0" bIns="0" rtlCol="0" anchor="t"/>
          <a:lstStyle/>
          <a:p>
            <a:pPr marL="0" indent="0">
              <a:buNone/>
            </a:pPr>
            <a:r>
              <a:rPr lang="en-US" sz="1150" b="1" dirty="0">
                <a:solidFill>
                  <a:schemeClr val="tx2"/>
                </a:solidFill>
              </a:rPr>
              <a:t>What you have at the checkpoint</a:t>
            </a:r>
            <a:endParaRPr lang="en-US" sz="1150" dirty="0"/>
          </a:p>
        </p:txBody>
      </p:sp>
      <p:sp>
        <p:nvSpPr>
          <p:cNvPr id="19" name="Text 17"/>
          <p:cNvSpPr txBox="1"/>
          <p:nvPr/>
        </p:nvSpPr>
        <p:spPr>
          <a:xfrm>
            <a:off x="4551578" y="4663440"/>
            <a:ext cx="3088538" cy="86868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chemeClr val="tx1"/>
                </a:solidFill>
              </a:rPr>
              <a:t>First ONYX-reviewed close and reporting pack</a:t>
            </a:r>
            <a:endParaRPr lang="en-US" sz="1100" dirty="0"/>
          </a:p>
          <a:p>
            <a:pPr marL="152400" indent="-152400">
              <a:spcAft>
                <a:spcPts val="400"/>
              </a:spcAft>
              <a:buSzPct val="100000"/>
              <a:buChar char="•"/>
            </a:pPr>
            <a:r>
              <a:rPr lang="en-US" sz="1100" dirty="0">
                <a:solidFill>
                  <a:schemeClr val="tx1"/>
                </a:solidFill>
              </a:rPr>
              <a:t>Shareholder meeting package</a:t>
            </a:r>
            <a:endParaRPr lang="en-US" sz="1100" dirty="0"/>
          </a:p>
          <a:p>
            <a:pPr marL="152400" indent="-152400">
              <a:spcAft>
                <a:spcPts val="400"/>
              </a:spcAft>
              <a:buSzPct val="100000"/>
              <a:buChar char="•"/>
            </a:pPr>
            <a:r>
              <a:rPr lang="en-US" sz="1100" dirty="0">
                <a:solidFill>
                  <a:schemeClr val="tx1"/>
                </a:solidFill>
              </a:rPr>
              <a:t>Process map with gaps and owners</a:t>
            </a:r>
            <a:endParaRPr lang="en-US" sz="1100" dirty="0"/>
          </a:p>
        </p:txBody>
      </p:sp>
      <p:sp>
        <p:nvSpPr>
          <p:cNvPr id="20" name="phase Days 61 to 90"/>
          <p:cNvSpPr/>
          <p:nvPr/>
        </p:nvSpPr>
        <p:spPr>
          <a:xfrm>
            <a:off x="8097317" y="1554480"/>
            <a:ext cx="3545738" cy="3977640"/>
          </a:xfrm>
          <a:prstGeom prst="rect">
            <a:avLst/>
          </a:prstGeom>
          <a:solidFill>
            <a:schemeClr val="accent5"/>
          </a:solidFill>
          <a:ln w="9525">
            <a:solidFill>
              <a:srgbClr val="D5D9E0"/>
            </a:solidFill>
            <a:prstDash val="solid"/>
          </a:ln>
        </p:spPr>
        <p:txBody>
          <a:bodyPr/>
          <a:lstStyle/>
          <a:p>
            <a:endParaRPr lang="en-US"/>
          </a:p>
        </p:txBody>
      </p:sp>
      <p:sp>
        <p:nvSpPr>
          <p:cNvPr id="21" name="phase head Days 61 to 90"/>
          <p:cNvSpPr/>
          <p:nvPr/>
        </p:nvSpPr>
        <p:spPr>
          <a:xfrm>
            <a:off x="8097317" y="1554480"/>
            <a:ext cx="3545738" cy="685800"/>
          </a:xfrm>
          <a:prstGeom prst="rect">
            <a:avLst/>
          </a:prstGeom>
          <a:solidFill>
            <a:schemeClr val="accent1"/>
          </a:solidFill>
          <a:ln w="12700">
            <a:solidFill>
              <a:srgbClr val="1B2A49"/>
            </a:solidFill>
            <a:prstDash val="solid"/>
          </a:ln>
        </p:spPr>
        <p:txBody>
          <a:bodyPr/>
          <a:lstStyle/>
          <a:p>
            <a:endParaRPr lang="en-US"/>
          </a:p>
        </p:txBody>
      </p:sp>
      <p:sp>
        <p:nvSpPr>
          <p:cNvPr id="22" name="Text 20"/>
          <p:cNvSpPr txBox="1"/>
          <p:nvPr/>
        </p:nvSpPr>
        <p:spPr>
          <a:xfrm>
            <a:off x="8325917" y="1645920"/>
            <a:ext cx="3088538" cy="274320"/>
          </a:xfrm>
          <a:prstGeom prst="rect">
            <a:avLst/>
          </a:prstGeom>
          <a:noFill/>
          <a:ln/>
        </p:spPr>
        <p:txBody>
          <a:bodyPr wrap="square" lIns="0" tIns="0" rIns="0" bIns="0" rtlCol="0" anchor="t"/>
          <a:lstStyle/>
          <a:p>
            <a:pPr marL="0" indent="0">
              <a:buNone/>
            </a:pPr>
            <a:r>
              <a:rPr lang="en-US" sz="1100" b="1" kern="0" spc="100" dirty="0">
                <a:solidFill>
                  <a:schemeClr val="bg1"/>
                </a:solidFill>
              </a:rPr>
              <a:t>Days 61 to 90</a:t>
            </a:r>
            <a:endParaRPr lang="en-US" sz="1100" dirty="0"/>
          </a:p>
        </p:txBody>
      </p:sp>
      <p:sp>
        <p:nvSpPr>
          <p:cNvPr id="23" name="Text 21"/>
          <p:cNvSpPr txBox="1"/>
          <p:nvPr/>
        </p:nvSpPr>
        <p:spPr>
          <a:xfrm>
            <a:off x="8325917" y="1883664"/>
            <a:ext cx="3088538" cy="320040"/>
          </a:xfrm>
          <a:prstGeom prst="rect">
            <a:avLst/>
          </a:prstGeom>
          <a:noFill/>
          <a:ln/>
        </p:spPr>
        <p:txBody>
          <a:bodyPr wrap="square" lIns="0" tIns="0" rIns="0" bIns="0" rtlCol="0" anchor="t"/>
          <a:lstStyle/>
          <a:p>
            <a:pPr marL="0" indent="0">
              <a:buNone/>
            </a:pPr>
            <a:r>
              <a:rPr lang="en-US" sz="1600" b="1" dirty="0">
                <a:solidFill>
                  <a:schemeClr val="bg1"/>
                </a:solidFill>
                <a:latin typeface="Cambria" pitchFamily="34" charset="0"/>
                <a:ea typeface="Cambria" pitchFamily="34" charset="-122"/>
                <a:cs typeface="Cambria" pitchFamily="34" charset="-120"/>
              </a:rPr>
              <a:t>Improve</a:t>
            </a:r>
            <a:endParaRPr lang="en-US" sz="1600" dirty="0"/>
          </a:p>
        </p:txBody>
      </p:sp>
      <p:sp>
        <p:nvSpPr>
          <p:cNvPr id="24" name="Text 22"/>
          <p:cNvSpPr txBox="1"/>
          <p:nvPr/>
        </p:nvSpPr>
        <p:spPr>
          <a:xfrm>
            <a:off x="8325917" y="2377440"/>
            <a:ext cx="3088538" cy="274320"/>
          </a:xfrm>
          <a:prstGeom prst="rect">
            <a:avLst/>
          </a:prstGeom>
          <a:noFill/>
          <a:ln/>
        </p:spPr>
        <p:txBody>
          <a:bodyPr wrap="square" lIns="0" tIns="0" rIns="0" bIns="0" rtlCol="0" anchor="t"/>
          <a:lstStyle/>
          <a:p>
            <a:pPr marL="0" indent="0">
              <a:buNone/>
            </a:pPr>
            <a:r>
              <a:rPr lang="en-US" sz="1150" b="1" dirty="0">
                <a:solidFill>
                  <a:schemeClr val="tx2"/>
                </a:solidFill>
              </a:rPr>
              <a:t>Activities</a:t>
            </a:r>
            <a:endParaRPr lang="en-US" sz="1150" dirty="0"/>
          </a:p>
        </p:txBody>
      </p:sp>
      <p:sp>
        <p:nvSpPr>
          <p:cNvPr id="25" name="Text 23"/>
          <p:cNvSpPr txBox="1"/>
          <p:nvPr/>
        </p:nvSpPr>
        <p:spPr>
          <a:xfrm>
            <a:off x="8325917" y="2651760"/>
            <a:ext cx="3088538" cy="173736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chemeClr val="tx1"/>
                </a:solidFill>
              </a:rPr>
              <a:t>Year-end close; year-end data to your retirement-plan advisors</a:t>
            </a:r>
            <a:endParaRPr lang="en-US" sz="1100" dirty="0"/>
          </a:p>
          <a:p>
            <a:pPr marL="152400" indent="-152400">
              <a:spcAft>
                <a:spcPts val="400"/>
              </a:spcAft>
              <a:buSzPct val="100000"/>
              <a:buChar char="•"/>
            </a:pPr>
            <a:r>
              <a:rPr lang="en-US" sz="1100" dirty="0">
                <a:solidFill>
                  <a:schemeClr val="tx1"/>
                </a:solidFill>
              </a:rPr>
              <a:t>QuickBooks class and control review, all entities</a:t>
            </a:r>
            <a:endParaRPr lang="en-US" sz="1100" dirty="0"/>
          </a:p>
          <a:p>
            <a:pPr marL="152400" indent="-152400">
              <a:spcAft>
                <a:spcPts val="400"/>
              </a:spcAft>
              <a:buSzPct val="100000"/>
              <a:buChar char="•"/>
            </a:pPr>
            <a:r>
              <a:rPr lang="en-US" sz="1100" dirty="0">
                <a:solidFill>
                  <a:schemeClr val="tx1"/>
                </a:solidFill>
              </a:rPr>
              <a:t>Automation roadmap with review controls; Paychex support</a:t>
            </a:r>
            <a:endParaRPr lang="en-US" sz="1100" dirty="0"/>
          </a:p>
          <a:p>
            <a:pPr marL="152400" indent="-152400">
              <a:spcAft>
                <a:spcPts val="400"/>
              </a:spcAft>
              <a:buSzPct val="100000"/>
              <a:buChar char="•"/>
            </a:pPr>
            <a:r>
              <a:rPr lang="en-US" sz="1100" dirty="0">
                <a:solidFill>
                  <a:schemeClr val="tx1"/>
                </a:solidFill>
              </a:rPr>
              <a:t>90-day review with Mark: results, staffing mix and the plan for 2027</a:t>
            </a:r>
            <a:endParaRPr lang="en-US" sz="1100" dirty="0"/>
          </a:p>
        </p:txBody>
      </p:sp>
      <p:sp>
        <p:nvSpPr>
          <p:cNvPr id="26" name="Text 24"/>
          <p:cNvSpPr txBox="1"/>
          <p:nvPr/>
        </p:nvSpPr>
        <p:spPr>
          <a:xfrm>
            <a:off x="8325917" y="4389120"/>
            <a:ext cx="3088538" cy="274320"/>
          </a:xfrm>
          <a:prstGeom prst="rect">
            <a:avLst/>
          </a:prstGeom>
          <a:noFill/>
          <a:ln/>
        </p:spPr>
        <p:txBody>
          <a:bodyPr wrap="square" lIns="0" tIns="0" rIns="0" bIns="0" rtlCol="0" anchor="t"/>
          <a:lstStyle/>
          <a:p>
            <a:pPr marL="0" indent="0">
              <a:buNone/>
            </a:pPr>
            <a:r>
              <a:rPr lang="en-US" sz="1150" b="1" dirty="0">
                <a:solidFill>
                  <a:schemeClr val="tx2"/>
                </a:solidFill>
              </a:rPr>
              <a:t>What you have at the checkpoint</a:t>
            </a:r>
            <a:endParaRPr lang="en-US" sz="1150" dirty="0"/>
          </a:p>
        </p:txBody>
      </p:sp>
      <p:sp>
        <p:nvSpPr>
          <p:cNvPr id="27" name="Text 25"/>
          <p:cNvSpPr txBox="1"/>
          <p:nvPr/>
        </p:nvSpPr>
        <p:spPr>
          <a:xfrm>
            <a:off x="8325917" y="4663440"/>
            <a:ext cx="3088538" cy="86868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chemeClr val="tx1"/>
                </a:solidFill>
              </a:rPr>
              <a:t>Documented close procedures</a:t>
            </a:r>
            <a:endParaRPr lang="en-US" sz="1100" dirty="0"/>
          </a:p>
          <a:p>
            <a:pPr marL="152400" indent="-152400">
              <a:spcAft>
                <a:spcPts val="400"/>
              </a:spcAft>
              <a:buSzPct val="100000"/>
              <a:buChar char="•"/>
            </a:pPr>
            <a:r>
              <a:rPr lang="en-US" sz="1100" dirty="0">
                <a:solidFill>
                  <a:schemeClr val="tx1"/>
                </a:solidFill>
              </a:rPr>
              <a:t>Year-end books ready for CBIZ</a:t>
            </a:r>
            <a:endParaRPr lang="en-US" sz="1100" dirty="0"/>
          </a:p>
          <a:p>
            <a:pPr marL="152400" indent="-152400">
              <a:spcAft>
                <a:spcPts val="400"/>
              </a:spcAft>
              <a:buSzPct val="100000"/>
              <a:buChar char="•"/>
            </a:pPr>
            <a:r>
              <a:rPr lang="en-US" sz="1100" dirty="0">
                <a:solidFill>
                  <a:schemeClr val="tx1"/>
                </a:solidFill>
              </a:rPr>
              <a:t>Automation roadmap and staffing agreed</a:t>
            </a:r>
            <a:endParaRPr lang="en-US" sz="1100" dirty="0"/>
          </a:p>
        </p:txBody>
      </p:sp>
      <p:sp>
        <p:nvSpPr>
          <p:cNvPr id="28" name="day 91"/>
          <p:cNvSpPr/>
          <p:nvPr/>
        </p:nvSpPr>
        <p:spPr>
          <a:xfrm>
            <a:off x="548640" y="5715000"/>
            <a:ext cx="11094415" cy="548640"/>
          </a:xfrm>
          <a:prstGeom prst="rect">
            <a:avLst/>
          </a:prstGeom>
          <a:solidFill>
            <a:schemeClr val="bg1"/>
          </a:solidFill>
          <a:ln w="9525">
            <a:solidFill>
              <a:srgbClr val="D5D9E0"/>
            </a:solidFill>
            <a:prstDash val="solid"/>
          </a:ln>
        </p:spPr>
        <p:txBody>
          <a:bodyPr/>
          <a:lstStyle/>
          <a:p>
            <a:endParaRPr lang="en-US"/>
          </a:p>
        </p:txBody>
      </p:sp>
      <p:sp>
        <p:nvSpPr>
          <p:cNvPr id="29" name="Text 27"/>
          <p:cNvSpPr txBox="1"/>
          <p:nvPr/>
        </p:nvSpPr>
        <p:spPr>
          <a:xfrm>
            <a:off x="777240" y="5715000"/>
            <a:ext cx="10637215" cy="548640"/>
          </a:xfrm>
          <a:prstGeom prst="rect">
            <a:avLst/>
          </a:prstGeom>
          <a:noFill/>
          <a:ln/>
        </p:spPr>
        <p:txBody>
          <a:bodyPr wrap="square" lIns="0" tIns="0" rIns="0" bIns="0" rtlCol="0" anchor="ctr"/>
          <a:lstStyle/>
          <a:p>
            <a:pPr marL="0" indent="0">
              <a:buNone/>
            </a:pPr>
            <a:r>
              <a:rPr lang="en-US" sz="1150" b="1" dirty="0">
                <a:solidFill>
                  <a:srgbClr val="1B2A49"/>
                </a:solidFill>
              </a:rPr>
              <a:t>Day 91 onward. </a:t>
            </a:r>
            <a:r>
              <a:rPr lang="en-US" sz="1150" dirty="0">
                <a:solidFill>
                  <a:schemeClr val="tx1"/>
                </a:solidFill>
              </a:rPr>
              <a:t>Monthly close and reporting rhythm, borrowing-base reporting, revenue-cycle analysis, budget versus actual, CFO support for the executive board and lenders. The staffing mix is adjusted by email as needs change.</a:t>
            </a:r>
            <a:endParaRPr lang="en-US" sz="1150" dirty="0"/>
          </a:p>
        </p:txBody>
      </p:sp>
      <p:sp>
        <p:nvSpPr>
          <p:cNvPr id="30"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472"/>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body" idx="102" hasCustomPrompt="1"/>
          </p:nvPr>
        </p:nvSpPr>
        <p:spPr>
          <a:xfrm>
            <a:off x="548640" y="384048"/>
            <a:ext cx="8229600" cy="274320"/>
          </a:xfrm>
          <a:prstGeom prst="rect">
            <a:avLst/>
          </a:prstGeom>
          <a:noFill/>
          <a:ln/>
        </p:spPr>
        <p:txBody>
          <a:bodyPr wrap="square" lIns="0" tIns="0" rIns="0" bIns="0" rtlCol="0"/>
          <a:lstStyle/>
          <a:p>
            <a:pPr marL="0" indent="0">
              <a:buNone/>
            </a:pPr>
            <a:r>
              <a:rPr lang="en-US" sz="1100" b="1" kern="0" spc="200" dirty="0">
                <a:solidFill>
                  <a:srgbClr val="AF1F29"/>
                </a:solidFill>
              </a:rPr>
              <a:t>04  30/60/90-DAY PLAN</a:t>
            </a:r>
            <a:endParaRPr lang="en-US" sz="1100" dirty="0"/>
          </a:p>
        </p:txBody>
      </p:sp>
      <p:sp>
        <p:nvSpPr>
          <p:cNvPr id="3" name="Text 1"/>
          <p:cNvSpPr>
            <a:spLocks noGrp="1"/>
          </p:cNvSpPr>
          <p:nvPr>
            <p:ph type="title" idx="103" hasCustomPrompt="1"/>
          </p:nvPr>
        </p:nvSpPr>
        <p:spPr>
          <a:xfrm>
            <a:off x="548640" y="658368"/>
            <a:ext cx="9692640" cy="731520"/>
          </a:xfrm>
          <a:prstGeom prst="rect">
            <a:avLst/>
          </a:prstGeom>
          <a:noFill/>
          <a:ln/>
        </p:spPr>
        <p:txBody>
          <a:bodyPr wrap="square" lIns="0" tIns="0" rIns="0" bIns="0" rtlCol="0" anchor="t"/>
          <a:lstStyle/>
          <a:p>
            <a:pPr marL="0" indent="0" algn="l">
              <a:buNone/>
            </a:pPr>
            <a:r>
              <a:rPr lang="en-US" sz="2800" dirty="0">
                <a:solidFill>
                  <a:srgbClr val="16181D"/>
                </a:solidFill>
              </a:rPr>
              <a:t>What you receive, and when</a:t>
            </a:r>
            <a:endParaRPr lang="en-US" sz="2800" dirty="0"/>
          </a:p>
        </p:txBody>
      </p:sp>
      <p:graphicFrame>
        <p:nvGraphicFramePr>
          <p:cNvPr id="12" name="deliverables table"/>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1920240">
                  <a:extLst>
                    <a:ext uri="{9D8B030D-6E8A-4147-A177-3AD203B41FA5}">
                      <a16:colId xmlns:a16="http://schemas.microsoft.com/office/drawing/2014/main" val="20000"/>
                    </a:ext>
                  </a:extLst>
                </a:gridCol>
                <a:gridCol w="585216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673352">
                  <a:extLst>
                    <a:ext uri="{9D8B030D-6E8A-4147-A177-3AD203B41FA5}">
                      <a16:colId xmlns:a16="http://schemas.microsoft.com/office/drawing/2014/main" val="20003"/>
                    </a:ext>
                  </a:extLst>
                </a:gridCol>
              </a:tblGrid>
              <a:tr h="36576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Cadence</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1B2A49"/>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Deliverable</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1B2A49"/>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Prepared by</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1B2A49"/>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Reviewed by</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1B2A49"/>
                    </a:solidFill>
                  </a:tcPr>
                </a:tc>
                <a:extLst>
                  <a:ext uri="{0D108BD9-81ED-4DB2-BD59-A6C34878D82A}">
                    <a16:rowId xmlns:a16="http://schemas.microsoft.com/office/drawing/2014/main" val="10000"/>
                  </a:ext>
                </a:extLst>
              </a:tr>
              <a:tr h="548640">
                <a:tc>
                  <a:txBody>
                    <a:bodyPr/>
                    <a:lstStyle/>
                    <a:p>
                      <a:pPr marL="0" indent="0">
                        <a:buNone/>
                      </a:pPr>
                      <a:r>
                        <a:rPr lang="en-US" sz="1100" b="1" dirty="0">
                          <a:solidFill>
                            <a:srgbClr val="16181D"/>
                          </a:solidFill>
                          <a:latin typeface="Calibri" pitchFamily="34" charset="0"/>
                          <a:ea typeface="Calibri" pitchFamily="34" charset="-122"/>
                          <a:cs typeface="Calibri" pitchFamily="34" charset="-120"/>
                        </a:rPr>
                        <a:t>Weekly, first 90 days</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buNone/>
                      </a:pPr>
                      <a:r>
                        <a:rPr lang="en-US" sz="1100" dirty="0">
                          <a:solidFill>
                            <a:srgbClr val="16181D"/>
                          </a:solidFill>
                          <a:latin typeface="Calibri" pitchFamily="34" charset="0"/>
                          <a:ea typeface="Calibri" pitchFamily="34" charset="-122"/>
                          <a:cs typeface="Calibri" pitchFamily="34" charset="-120"/>
                        </a:rPr>
                        <a:t>Progress and budget update; open-items tracker with owners and dates</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buNone/>
                      </a:pPr>
                      <a:r>
                        <a:rPr lang="en-US" sz="1100" dirty="0">
                          <a:solidFill>
                            <a:srgbClr val="16181D"/>
                          </a:solidFill>
                          <a:latin typeface="Calibri" pitchFamily="34" charset="0"/>
                          <a:ea typeface="Calibri" pitchFamily="34" charset="-122"/>
                          <a:cs typeface="Calibri" pitchFamily="34" charset="-120"/>
                        </a:rPr>
                        <a:t>Controller</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buNone/>
                      </a:pPr>
                      <a:r>
                        <a:rPr lang="en-US" sz="1100" dirty="0">
                          <a:solidFill>
                            <a:srgbClr val="16181D"/>
                          </a:solidFill>
                          <a:latin typeface="Calibri" pitchFamily="34" charset="0"/>
                          <a:ea typeface="Calibri" pitchFamily="34" charset="-122"/>
                          <a:cs typeface="Calibri" pitchFamily="34" charset="-120"/>
                        </a:rPr>
                        <a:t>CFO</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extLst>
                  <a:ext uri="{0D108BD9-81ED-4DB2-BD59-A6C34878D82A}">
                    <a16:rowId xmlns:a16="http://schemas.microsoft.com/office/drawing/2014/main" val="10001"/>
                  </a:ext>
                </a:extLst>
              </a:tr>
              <a:tr h="548640">
                <a:tc>
                  <a:txBody>
                    <a:bodyPr/>
                    <a:lstStyle/>
                    <a:p>
                      <a:pPr marL="0" indent="0">
                        <a:buNone/>
                      </a:pPr>
                      <a:r>
                        <a:rPr lang="en-US" sz="1100" b="1" dirty="0">
                          <a:solidFill>
                            <a:srgbClr val="16181D"/>
                          </a:solidFill>
                          <a:latin typeface="Calibri" pitchFamily="34" charset="0"/>
                          <a:ea typeface="Calibri" pitchFamily="34" charset="-122"/>
                          <a:cs typeface="Calibri" pitchFamily="34" charset="-120"/>
                        </a:rPr>
                        <a:t>Biweekly</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buNone/>
                      </a:pPr>
                      <a:r>
                        <a:rPr lang="en-US" sz="1100" dirty="0">
                          <a:solidFill>
                            <a:srgbClr val="16181D"/>
                          </a:solidFill>
                          <a:latin typeface="Calibri" pitchFamily="34" charset="0"/>
                          <a:ea typeface="Calibri" pitchFamily="34" charset="-122"/>
                          <a:cs typeface="Calibri" pitchFamily="34" charset="-120"/>
                        </a:rPr>
                        <a:t>Payroll journal support for each Paylocity run; AP support for the internal team as requested</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buNone/>
                      </a:pPr>
                      <a:r>
                        <a:rPr lang="en-US" sz="1100" dirty="0">
                          <a:solidFill>
                            <a:srgbClr val="16181D"/>
                          </a:solidFill>
                          <a:latin typeface="Calibri" pitchFamily="34" charset="0"/>
                          <a:ea typeface="Calibri" pitchFamily="34" charset="-122"/>
                          <a:cs typeface="Calibri" pitchFamily="34" charset="-120"/>
                        </a:rPr>
                        <a:t>Staff</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buNone/>
                      </a:pPr>
                      <a:r>
                        <a:rPr lang="en-US" sz="1100" dirty="0">
                          <a:solidFill>
                            <a:srgbClr val="16181D"/>
                          </a:solidFill>
                          <a:latin typeface="Calibri" pitchFamily="34" charset="0"/>
                          <a:ea typeface="Calibri" pitchFamily="34" charset="-122"/>
                          <a:cs typeface="Calibri" pitchFamily="34" charset="-120"/>
                        </a:rPr>
                        <a:t>Controller</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extLst>
                  <a:ext uri="{0D108BD9-81ED-4DB2-BD59-A6C34878D82A}">
                    <a16:rowId xmlns:a16="http://schemas.microsoft.com/office/drawing/2014/main" val="10002"/>
                  </a:ext>
                </a:extLst>
              </a:tr>
              <a:tr h="777240">
                <a:tc>
                  <a:txBody>
                    <a:bodyPr/>
                    <a:lstStyle/>
                    <a:p>
                      <a:pPr marL="0" indent="0">
                        <a:buNone/>
                      </a:pPr>
                      <a:r>
                        <a:rPr lang="en-US" sz="1100" b="1" dirty="0">
                          <a:solidFill>
                            <a:srgbClr val="16181D"/>
                          </a:solidFill>
                          <a:latin typeface="Calibri" pitchFamily="34" charset="0"/>
                          <a:ea typeface="Calibri" pitchFamily="34" charset="-122"/>
                          <a:cs typeface="Calibri" pitchFamily="34" charset="-120"/>
                        </a:rPr>
                        <a:t>Monthly</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buNone/>
                      </a:pPr>
                      <a:r>
                        <a:rPr lang="en-US" sz="1100" dirty="0">
                          <a:solidFill>
                            <a:srgbClr val="16181D"/>
                          </a:solidFill>
                          <a:latin typeface="Calibri" pitchFamily="34" charset="0"/>
                          <a:ea typeface="Calibri" pitchFamily="34" charset="-122"/>
                          <a:cs typeface="Calibri" pitchFamily="34" charset="-120"/>
                        </a:rPr>
                        <a:t>Close completed on the agreed calendar; reconciliations and journal entries reviewed; management reporting by entity; support for the physician bonus calculations; revenue-cycle analysis</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buNone/>
                      </a:pPr>
                      <a:r>
                        <a:rPr lang="en-US" sz="1100" dirty="0">
                          <a:solidFill>
                            <a:srgbClr val="16181D"/>
                          </a:solidFill>
                          <a:latin typeface="Calibri" pitchFamily="34" charset="0"/>
                          <a:ea typeface="Calibri" pitchFamily="34" charset="-122"/>
                          <a:cs typeface="Calibri" pitchFamily="34" charset="-120"/>
                        </a:rPr>
                        <a:t>Staff and Controller</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buNone/>
                      </a:pPr>
                      <a:r>
                        <a:rPr lang="en-US" sz="1100" dirty="0">
                          <a:solidFill>
                            <a:srgbClr val="16181D"/>
                          </a:solidFill>
                          <a:latin typeface="Calibri" pitchFamily="34" charset="0"/>
                          <a:ea typeface="Calibri" pitchFamily="34" charset="-122"/>
                          <a:cs typeface="Calibri" pitchFamily="34" charset="-120"/>
                        </a:rPr>
                        <a:t>Controller and CFO</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extLst>
                  <a:ext uri="{0D108BD9-81ED-4DB2-BD59-A6C34878D82A}">
                    <a16:rowId xmlns:a16="http://schemas.microsoft.com/office/drawing/2014/main" val="10003"/>
                  </a:ext>
                </a:extLst>
              </a:tr>
              <a:tr h="548640">
                <a:tc>
                  <a:txBody>
                    <a:bodyPr/>
                    <a:lstStyle/>
                    <a:p>
                      <a:pPr marL="0" indent="0">
                        <a:buNone/>
                      </a:pPr>
                      <a:r>
                        <a:rPr lang="en-US" sz="1100" b="1" dirty="0">
                          <a:solidFill>
                            <a:srgbClr val="16181D"/>
                          </a:solidFill>
                          <a:latin typeface="Calibri" pitchFamily="34" charset="0"/>
                          <a:ea typeface="Calibri" pitchFamily="34" charset="-122"/>
                          <a:cs typeface="Calibri" pitchFamily="34" charset="-120"/>
                        </a:rPr>
                        <a:t>Quarterly</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buNone/>
                      </a:pPr>
                      <a:r>
                        <a:rPr lang="en-US" sz="1100" dirty="0">
                          <a:solidFill>
                            <a:srgbClr val="16181D"/>
                          </a:solidFill>
                          <a:latin typeface="Calibri" pitchFamily="34" charset="0"/>
                          <a:ea typeface="Calibri" pitchFamily="34" charset="-122"/>
                          <a:cs typeface="Calibri" pitchFamily="34" charset="-120"/>
                        </a:rPr>
                        <a:t>Review of scope, staffing mix and fees; lender package on the bank's schedule</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buNone/>
                      </a:pPr>
                      <a:r>
                        <a:rPr lang="en-US" sz="1100" dirty="0">
                          <a:solidFill>
                            <a:srgbClr val="16181D"/>
                          </a:solidFill>
                          <a:latin typeface="Calibri" pitchFamily="34" charset="0"/>
                          <a:ea typeface="Calibri" pitchFamily="34" charset="-122"/>
                          <a:cs typeface="Calibri" pitchFamily="34" charset="-120"/>
                        </a:rPr>
                        <a:t>Controller</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buNone/>
                      </a:pPr>
                      <a:r>
                        <a:rPr lang="en-US" sz="1100" dirty="0">
                          <a:solidFill>
                            <a:srgbClr val="16181D"/>
                          </a:solidFill>
                          <a:latin typeface="Calibri" pitchFamily="34" charset="0"/>
                          <a:ea typeface="Calibri" pitchFamily="34" charset="-122"/>
                          <a:cs typeface="Calibri" pitchFamily="34" charset="-120"/>
                        </a:rPr>
                        <a:t>CFO</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extLst>
                  <a:ext uri="{0D108BD9-81ED-4DB2-BD59-A6C34878D82A}">
                    <a16:rowId xmlns:a16="http://schemas.microsoft.com/office/drawing/2014/main" val="10004"/>
                  </a:ext>
                </a:extLst>
              </a:tr>
              <a:tr h="777240">
                <a:tc>
                  <a:txBody>
                    <a:bodyPr/>
                    <a:lstStyle/>
                    <a:p>
                      <a:pPr marL="0" indent="0">
                        <a:buNone/>
                      </a:pPr>
                      <a:r>
                        <a:rPr lang="en-US" sz="1100" b="1" dirty="0">
                          <a:solidFill>
                            <a:srgbClr val="16181D"/>
                          </a:solidFill>
                          <a:latin typeface="Calibri" pitchFamily="34" charset="0"/>
                          <a:ea typeface="Calibri" pitchFamily="34" charset="-122"/>
                          <a:cs typeface="Calibri" pitchFamily="34" charset="-120"/>
                        </a:rPr>
                        <a:t>Annually</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buNone/>
                      </a:pPr>
                      <a:r>
                        <a:rPr lang="en-US" sz="1100" dirty="0">
                          <a:solidFill>
                            <a:srgbClr val="16181D"/>
                          </a:solidFill>
                          <a:latin typeface="Calibri" pitchFamily="34" charset="0"/>
                          <a:ea typeface="Calibri" pitchFamily="34" charset="-122"/>
                          <a:cs typeface="Calibri" pitchFamily="34" charset="-120"/>
                        </a:rPr>
                        <a:t>Year-end close; December shareholder meeting results; year-end data for your retirement-plan advisors; tax package for CBIZ; budget and forecast for the coming year</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buNone/>
                      </a:pPr>
                      <a:r>
                        <a:rPr lang="en-US" sz="1100" dirty="0">
                          <a:solidFill>
                            <a:srgbClr val="16181D"/>
                          </a:solidFill>
                          <a:latin typeface="Calibri" pitchFamily="34" charset="0"/>
                          <a:ea typeface="Calibri" pitchFamily="34" charset="-122"/>
                          <a:cs typeface="Calibri" pitchFamily="34" charset="-120"/>
                        </a:rPr>
                        <a:t>Controller</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buNone/>
                      </a:pPr>
                      <a:r>
                        <a:rPr lang="en-US" sz="1100" dirty="0">
                          <a:solidFill>
                            <a:srgbClr val="16181D"/>
                          </a:solidFill>
                          <a:latin typeface="Calibri" pitchFamily="34" charset="0"/>
                          <a:ea typeface="Calibri" pitchFamily="34" charset="-122"/>
                          <a:cs typeface="Calibri" pitchFamily="34" charset="-120"/>
                        </a:rPr>
                        <a:t>CFO</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extLst>
                  <a:ext uri="{0D108BD9-81ED-4DB2-BD59-A6C34878D82A}">
                    <a16:rowId xmlns:a16="http://schemas.microsoft.com/office/drawing/2014/main" val="10005"/>
                  </a:ext>
                </a:extLst>
              </a:tr>
              <a:tr h="548640">
                <a:tc>
                  <a:txBody>
                    <a:bodyPr/>
                    <a:lstStyle/>
                    <a:p>
                      <a:pPr marL="0" indent="0">
                        <a:buNone/>
                      </a:pPr>
                      <a:r>
                        <a:rPr lang="en-US" sz="1100" b="1" dirty="0">
                          <a:solidFill>
                            <a:srgbClr val="16181D"/>
                          </a:solidFill>
                          <a:latin typeface="Calibri" pitchFamily="34" charset="0"/>
                          <a:ea typeface="Calibri" pitchFamily="34" charset="-122"/>
                          <a:cs typeface="Calibri" pitchFamily="34" charset="-120"/>
                        </a:rPr>
                        <a:t>Ongoing</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buNone/>
                      </a:pPr>
                      <a:r>
                        <a:rPr lang="en-US" sz="1100" dirty="0">
                          <a:solidFill>
                            <a:srgbClr val="16181D"/>
                          </a:solidFill>
                          <a:latin typeface="Calibri" pitchFamily="34" charset="0"/>
                          <a:ea typeface="Calibri" pitchFamily="34" charset="-122"/>
                          <a:cs typeface="Calibri" pitchFamily="34" charset="-120"/>
                        </a:rPr>
                        <a:t>Procedures, close checklist and chart of accounts kept current in one shared file; knowledge captured from Mark</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buNone/>
                      </a:pPr>
                      <a:r>
                        <a:rPr lang="en-US" sz="1100" dirty="0">
                          <a:solidFill>
                            <a:srgbClr val="16181D"/>
                          </a:solidFill>
                          <a:latin typeface="Calibri" pitchFamily="34" charset="0"/>
                          <a:ea typeface="Calibri" pitchFamily="34" charset="-122"/>
                          <a:cs typeface="Calibri" pitchFamily="34" charset="-120"/>
                        </a:rPr>
                        <a:t>Controller</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buNone/>
                      </a:pPr>
                      <a:r>
                        <a:rPr lang="en-US" sz="1100" dirty="0">
                          <a:solidFill>
                            <a:srgbClr val="16181D"/>
                          </a:solidFill>
                          <a:latin typeface="Calibri" pitchFamily="34" charset="0"/>
                          <a:ea typeface="Calibri" pitchFamily="34" charset="-122"/>
                          <a:cs typeface="Calibri" pitchFamily="34" charset="-120"/>
                        </a:rPr>
                        <a:t>CFO</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Text 2"/>
          <p:cNvSpPr txBox="1"/>
          <p:nvPr/>
        </p:nvSpPr>
        <p:spPr>
          <a:xfrm>
            <a:off x="548640" y="5943600"/>
            <a:ext cx="10972800" cy="365760"/>
          </a:xfrm>
          <a:prstGeom prst="rect">
            <a:avLst/>
          </a:prstGeom>
          <a:noFill/>
          <a:ln/>
        </p:spPr>
        <p:txBody>
          <a:bodyPr wrap="square" lIns="0" tIns="0" rIns="0" bIns="0" rtlCol="0" anchor="t"/>
          <a:lstStyle/>
          <a:p>
            <a:pPr marL="0" indent="0">
              <a:buNone/>
            </a:pPr>
            <a:r>
              <a:rPr lang="en-US" sz="1100" dirty="0">
                <a:solidFill>
                  <a:schemeClr val="accent3"/>
                </a:solidFill>
              </a:rPr>
              <a:t>Every deliverable is prepared by one person and reviewed by another before it reaches you. Reports are tied to the ledger in QuickBooks Online.</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472"/>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a:spLocks noGrp="1"/>
          </p:cNvSpPr>
          <p:nvPr>
            <p:ph type="body" idx="102" hasCustomPrompt="1"/>
          </p:nvPr>
        </p:nvSpPr>
        <p:spPr>
          <a:xfrm>
            <a:off x="548640" y="384048"/>
            <a:ext cx="8229600" cy="274320"/>
          </a:xfrm>
          <a:prstGeom prst="rect">
            <a:avLst/>
          </a:prstGeom>
          <a:noFill/>
          <a:ln/>
        </p:spPr>
        <p:txBody>
          <a:bodyPr wrap="square" lIns="0" tIns="0" rIns="0" bIns="0" rtlCol="0"/>
          <a:lstStyle/>
          <a:p>
            <a:pPr marL="0" indent="0">
              <a:buNone/>
            </a:pPr>
            <a:r>
              <a:rPr lang="en-US" sz="1100" b="1" kern="0" spc="200" dirty="0">
                <a:solidFill>
                  <a:srgbClr val="AF1F29"/>
                </a:solidFill>
              </a:rPr>
              <a:t>05  PROPOSED FEES</a:t>
            </a:r>
            <a:endParaRPr lang="en-US" sz="1100" dirty="0"/>
          </a:p>
        </p:txBody>
      </p:sp>
      <p:sp>
        <p:nvSpPr>
          <p:cNvPr id="3" name="Text 1"/>
          <p:cNvSpPr>
            <a:spLocks noGrp="1"/>
          </p:cNvSpPr>
          <p:nvPr>
            <p:ph type="title" idx="103" hasCustomPrompt="1"/>
          </p:nvPr>
        </p:nvSpPr>
        <p:spPr>
          <a:xfrm>
            <a:off x="548640" y="658368"/>
            <a:ext cx="9692640" cy="731520"/>
          </a:xfrm>
          <a:prstGeom prst="rect">
            <a:avLst/>
          </a:prstGeom>
          <a:noFill/>
          <a:ln/>
        </p:spPr>
        <p:txBody>
          <a:bodyPr wrap="square" lIns="0" tIns="0" rIns="0" bIns="0" rtlCol="0" anchor="t"/>
          <a:lstStyle/>
          <a:p>
            <a:pPr marL="0" indent="0" algn="l">
              <a:buNone/>
            </a:pPr>
            <a:r>
              <a:rPr lang="en-US" sz="2800" dirty="0">
                <a:solidFill>
                  <a:srgbClr val="16181D"/>
                </a:solidFill>
              </a:rPr>
              <a:t>Hourly rates and billing terms</a:t>
            </a:r>
            <a:endParaRPr lang="en-US" sz="2800" dirty="0"/>
          </a:p>
        </p:txBody>
      </p:sp>
      <p:sp>
        <p:nvSpPr>
          <p:cNvPr id="4" name="Text 2"/>
          <p:cNvSpPr txBox="1"/>
          <p:nvPr/>
        </p:nvSpPr>
        <p:spPr>
          <a:xfrm>
            <a:off x="548640" y="1554480"/>
            <a:ext cx="10972800" cy="411480"/>
          </a:xfrm>
          <a:prstGeom prst="rect">
            <a:avLst/>
          </a:prstGeom>
          <a:noFill/>
          <a:ln/>
        </p:spPr>
        <p:txBody>
          <a:bodyPr wrap="square" lIns="0" tIns="0" rIns="0" bIns="0" rtlCol="0" anchor="t"/>
          <a:lstStyle/>
          <a:p>
            <a:pPr marL="0" indent="0">
              <a:buNone/>
            </a:pPr>
            <a:r>
              <a:rPr lang="en-US" sz="1250" dirty="0">
                <a:solidFill>
                  <a:schemeClr val="accent3"/>
                </a:solidFill>
              </a:rPr>
              <a:t>Fees are hourly, billed as incurred. You pay for the hours worked, and the mix of staff, controller and CFO time is set with you and changed by email.</a:t>
            </a:r>
            <a:endParaRPr lang="en-US" sz="1250" dirty="0"/>
          </a:p>
        </p:txBody>
      </p:sp>
      <p:graphicFrame>
        <p:nvGraphicFramePr>
          <p:cNvPr id="13" name="rate table"/>
          <p:cNvGraphicFramePr>
            <a:graphicFrameLocks noGrp="1"/>
          </p:cNvGraphicFramePr>
          <p:nvPr>
            <p:extLst>
              <p:ext uri="{D42A27DB-BD31-4B8C-83A1-F6EECF244321}">
                <p14:modId xmlns:p14="http://schemas.microsoft.com/office/powerpoint/2010/main" val="1579011935"/>
              </p:ext>
            </p:extLst>
          </p:nvPr>
        </p:nvGraphicFramePr>
        <p:xfrm>
          <a:off x="548640" y="2103120"/>
          <a:ext cx="6766560" cy="914400"/>
        </p:xfrm>
        <a:graphic>
          <a:graphicData uri="http://schemas.openxmlformats.org/drawingml/2006/table">
            <a:tbl>
              <a:tblPr/>
              <a:tblGrid>
                <a:gridCol w="173736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3840480">
                  <a:extLst>
                    <a:ext uri="{9D8B030D-6E8A-4147-A177-3AD203B41FA5}">
                      <a16:colId xmlns:a16="http://schemas.microsoft.com/office/drawing/2014/main" val="20002"/>
                    </a:ext>
                  </a:extLst>
                </a:gridCol>
              </a:tblGrid>
              <a:tr h="36576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Role</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1B2A49"/>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Hourly rate</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1B2A49"/>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Typical use on this engagement</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1B2A49"/>
                    </a:solidFill>
                  </a:tcPr>
                </a:tc>
                <a:extLst>
                  <a:ext uri="{0D108BD9-81ED-4DB2-BD59-A6C34878D82A}">
                    <a16:rowId xmlns:a16="http://schemas.microsoft.com/office/drawing/2014/main" val="10000"/>
                  </a:ext>
                </a:extLst>
              </a:tr>
              <a:tr h="731520">
                <a:tc>
                  <a:txBody>
                    <a:bodyPr/>
                    <a:lstStyle/>
                    <a:p>
                      <a:pPr marL="0" indent="0">
                        <a:buNone/>
                      </a:pPr>
                      <a:r>
                        <a:rPr lang="en-US" sz="1100" b="1" dirty="0">
                          <a:solidFill>
                            <a:srgbClr val="16181D"/>
                          </a:solidFill>
                          <a:latin typeface="Calibri" pitchFamily="34" charset="0"/>
                          <a:ea typeface="Calibri" pitchFamily="34" charset="-122"/>
                          <a:cs typeface="Calibri" pitchFamily="34" charset="-120"/>
                        </a:rPr>
                        <a:t>Staff Accountant</a:t>
                      </a:r>
                      <a:endParaRPr lang="en-US" sz="1100" dirty="0">
                        <a:latin typeface="Calibri" charset="0"/>
                        <a:ea typeface="Calibri" charset="0"/>
                        <a:cs typeface="Calibri" charset="0"/>
                      </a:endParaRPr>
                    </a:p>
                  </a:txBody>
                  <a:tcPr marL="88900" marR="88900" marT="63500" marB="635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lgn="r">
                        <a:buNone/>
                      </a:pPr>
                      <a:r>
                        <a:rPr lang="en-US" sz="1600" b="1" dirty="0">
                          <a:solidFill>
                            <a:srgbClr val="1B2A49"/>
                          </a:solidFill>
                          <a:latin typeface="Calibri" pitchFamily="34" charset="0"/>
                          <a:ea typeface="Calibri" pitchFamily="34" charset="-122"/>
                          <a:cs typeface="Calibri" pitchFamily="34" charset="-120"/>
                        </a:rPr>
                        <a:t>$100</a:t>
                      </a:r>
                      <a:endParaRPr lang="en-US" sz="1600" dirty="0">
                        <a:latin typeface="Calibri" charset="0"/>
                        <a:ea typeface="Calibri" charset="0"/>
                        <a:cs typeface="Calibri" charset="0"/>
                      </a:endParaRPr>
                    </a:p>
                  </a:txBody>
                  <a:tcPr marL="88900" marR="88900" marT="63500" marB="635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buNone/>
                      </a:pPr>
                      <a:r>
                        <a:rPr lang="en-US" sz="1100" dirty="0">
                          <a:solidFill>
                            <a:srgbClr val="16181D"/>
                          </a:solidFill>
                          <a:latin typeface="Calibri" pitchFamily="34" charset="0"/>
                          <a:ea typeface="Calibri" pitchFamily="34" charset="-122"/>
                          <a:cs typeface="Calibri" pitchFamily="34" charset="-120"/>
                        </a:rPr>
                        <a:t>Reconciliations, journal entries and month-end schedules, AP and payroll journal support, audit and tax request lists</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extLst>
                  <a:ext uri="{0D108BD9-81ED-4DB2-BD59-A6C34878D82A}">
                    <a16:rowId xmlns:a16="http://schemas.microsoft.com/office/drawing/2014/main" val="10001"/>
                  </a:ext>
                </a:extLst>
              </a:tr>
              <a:tr h="731520">
                <a:tc>
                  <a:txBody>
                    <a:bodyPr/>
                    <a:lstStyle/>
                    <a:p>
                      <a:pPr marL="0" indent="0">
                        <a:buNone/>
                      </a:pPr>
                      <a:r>
                        <a:rPr lang="en-US" sz="1100" b="1" dirty="0">
                          <a:solidFill>
                            <a:srgbClr val="16181D"/>
                          </a:solidFill>
                          <a:latin typeface="Calibri" pitchFamily="34" charset="0"/>
                          <a:ea typeface="Calibri" pitchFamily="34" charset="-122"/>
                          <a:cs typeface="Calibri" pitchFamily="34" charset="-120"/>
                        </a:rPr>
                        <a:t>Controller</a:t>
                      </a:r>
                      <a:endParaRPr lang="en-US" sz="1100" dirty="0">
                        <a:latin typeface="Calibri" charset="0"/>
                        <a:ea typeface="Calibri" charset="0"/>
                        <a:cs typeface="Calibri" charset="0"/>
                      </a:endParaRPr>
                    </a:p>
                  </a:txBody>
                  <a:tcPr marL="88900" marR="88900" marT="63500" marB="635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lgn="r">
                        <a:buNone/>
                      </a:pPr>
                      <a:r>
                        <a:rPr lang="en-US" sz="1600" b="1" dirty="0">
                          <a:solidFill>
                            <a:srgbClr val="1B2A49"/>
                          </a:solidFill>
                          <a:latin typeface="Calibri" pitchFamily="34" charset="0"/>
                          <a:ea typeface="Calibri" pitchFamily="34" charset="-122"/>
                          <a:cs typeface="Calibri" pitchFamily="34" charset="-120"/>
                        </a:rPr>
                        <a:t>$185</a:t>
                      </a:r>
                      <a:endParaRPr lang="en-US" sz="1600" dirty="0">
                        <a:latin typeface="Calibri" charset="0"/>
                        <a:ea typeface="Calibri" charset="0"/>
                        <a:cs typeface="Calibri" charset="0"/>
                      </a:endParaRPr>
                    </a:p>
                  </a:txBody>
                  <a:tcPr marL="88900" marR="88900" marT="63500" marB="635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buNone/>
                      </a:pPr>
                      <a:r>
                        <a:rPr lang="en-US" sz="1100" dirty="0">
                          <a:solidFill>
                            <a:srgbClr val="16181D"/>
                          </a:solidFill>
                          <a:latin typeface="Calibri" pitchFamily="34" charset="0"/>
                          <a:ea typeface="Calibri" pitchFamily="34" charset="-122"/>
                          <a:cs typeface="Calibri" pitchFamily="34" charset="-120"/>
                        </a:rPr>
                        <a:t>Monthly close, review of the team's work, physician compensation, revenue-cycle and lender reporting, systems work</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extLst>
                  <a:ext uri="{0D108BD9-81ED-4DB2-BD59-A6C34878D82A}">
                    <a16:rowId xmlns:a16="http://schemas.microsoft.com/office/drawing/2014/main" val="10002"/>
                  </a:ext>
                </a:extLst>
              </a:tr>
              <a:tr h="731520">
                <a:tc>
                  <a:txBody>
                    <a:bodyPr/>
                    <a:lstStyle/>
                    <a:p>
                      <a:pPr marL="0" indent="0">
                        <a:buNone/>
                      </a:pPr>
                      <a:r>
                        <a:rPr lang="en-US" sz="1100" b="1" dirty="0">
                          <a:solidFill>
                            <a:srgbClr val="16181D"/>
                          </a:solidFill>
                          <a:latin typeface="Calibri" pitchFamily="34" charset="0"/>
                          <a:ea typeface="Calibri" pitchFamily="34" charset="-122"/>
                          <a:cs typeface="Calibri" pitchFamily="34" charset="-120"/>
                        </a:rPr>
                        <a:t>CFO</a:t>
                      </a:r>
                      <a:endParaRPr lang="en-US" sz="1100" dirty="0">
                        <a:latin typeface="Calibri" charset="0"/>
                        <a:ea typeface="Calibri" charset="0"/>
                        <a:cs typeface="Calibri" charset="0"/>
                      </a:endParaRPr>
                    </a:p>
                  </a:txBody>
                  <a:tcPr marL="88900" marR="88900" marT="63500" marB="635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lgn="r">
                        <a:buNone/>
                      </a:pPr>
                      <a:r>
                        <a:rPr lang="en-US" sz="1600" b="1" dirty="0">
                          <a:solidFill>
                            <a:srgbClr val="1B2A49"/>
                          </a:solidFill>
                          <a:latin typeface="Calibri" pitchFamily="34" charset="0"/>
                          <a:ea typeface="Calibri" pitchFamily="34" charset="-122"/>
                          <a:cs typeface="Calibri" pitchFamily="34" charset="-120"/>
                        </a:rPr>
                        <a:t>$250</a:t>
                      </a:r>
                      <a:endParaRPr lang="en-US" sz="1600" dirty="0">
                        <a:latin typeface="Calibri" charset="0"/>
                        <a:ea typeface="Calibri" charset="0"/>
                        <a:cs typeface="Calibri" charset="0"/>
                      </a:endParaRPr>
                    </a:p>
                  </a:txBody>
                  <a:tcPr marL="88900" marR="88900" marT="63500" marB="635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buNone/>
                      </a:pPr>
                      <a:r>
                        <a:rPr lang="en-US" sz="1100" dirty="0">
                          <a:solidFill>
                            <a:srgbClr val="16181D"/>
                          </a:solidFill>
                          <a:latin typeface="Calibri" pitchFamily="34" charset="0"/>
                          <a:ea typeface="Calibri" pitchFamily="34" charset="-122"/>
                          <a:cs typeface="Calibri" pitchFamily="34" charset="-120"/>
                        </a:rPr>
                        <a:t>Relationship lead for the physicians, budgeting and forecasting, board and lender matters, accounting policy, direction to the finance team</a:t>
                      </a:r>
                      <a:endParaRPr lang="en-US" sz="1100" dirty="0">
                        <a:latin typeface="Calibri" charset="0"/>
                        <a:ea typeface="Calibri" charset="0"/>
                        <a:cs typeface="Calibri" charset="0"/>
                      </a:endParaRPr>
                    </a:p>
                  </a:txBody>
                  <a:tcPr marL="88900" marR="88900" marT="63500" marB="63500">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6" name="Text 3"/>
          <p:cNvSpPr txBox="1"/>
          <p:nvPr/>
        </p:nvSpPr>
        <p:spPr>
          <a:xfrm>
            <a:off x="548640" y="4754880"/>
            <a:ext cx="6766560" cy="365760"/>
          </a:xfrm>
          <a:prstGeom prst="rect">
            <a:avLst/>
          </a:prstGeom>
          <a:noFill/>
          <a:ln/>
        </p:spPr>
        <p:txBody>
          <a:bodyPr wrap="square" lIns="0" tIns="0" rIns="0" bIns="0" rtlCol="0" anchor="t"/>
          <a:lstStyle/>
          <a:p>
            <a:pPr marL="0" indent="0">
              <a:buNone/>
            </a:pPr>
            <a:r>
              <a:rPr lang="en-US" sz="1100" dirty="0">
                <a:solidFill>
                  <a:schemeClr val="accent3"/>
                </a:solidFill>
              </a:rPr>
              <a:t>Rates are guaranteed through December 31, 2026. After that date, rates change only as agreed in writing.</a:t>
            </a:r>
            <a:endParaRPr lang="en-US" sz="1100" dirty="0"/>
          </a:p>
        </p:txBody>
      </p:sp>
      <p:sp>
        <p:nvSpPr>
          <p:cNvPr id="7" name="billing terms"/>
          <p:cNvSpPr/>
          <p:nvPr/>
        </p:nvSpPr>
        <p:spPr>
          <a:xfrm>
            <a:off x="7680960" y="2103120"/>
            <a:ext cx="3962095" cy="3977640"/>
          </a:xfrm>
          <a:prstGeom prst="rect">
            <a:avLst/>
          </a:prstGeom>
          <a:solidFill>
            <a:schemeClr val="accent5"/>
          </a:solidFill>
          <a:ln w="9525">
            <a:solidFill>
              <a:srgbClr val="D5D9E0"/>
            </a:solidFill>
            <a:prstDash val="solid"/>
          </a:ln>
        </p:spPr>
        <p:txBody>
          <a:bodyPr/>
          <a:lstStyle/>
          <a:p>
            <a:endParaRPr lang="en-US"/>
          </a:p>
        </p:txBody>
      </p:sp>
      <p:sp>
        <p:nvSpPr>
          <p:cNvPr id="8" name="Text 5"/>
          <p:cNvSpPr txBox="1"/>
          <p:nvPr/>
        </p:nvSpPr>
        <p:spPr>
          <a:xfrm>
            <a:off x="7955280" y="2286000"/>
            <a:ext cx="3413455" cy="320040"/>
          </a:xfrm>
          <a:prstGeom prst="rect">
            <a:avLst/>
          </a:prstGeom>
          <a:noFill/>
          <a:ln/>
        </p:spPr>
        <p:txBody>
          <a:bodyPr wrap="square" lIns="0" tIns="0" rIns="0" bIns="0" rtlCol="0" anchor="t"/>
          <a:lstStyle/>
          <a:p>
            <a:pPr marL="0" indent="0">
              <a:buNone/>
            </a:pPr>
            <a:r>
              <a:rPr lang="en-US" sz="1300" b="1" dirty="0">
                <a:solidFill>
                  <a:schemeClr val="tx2"/>
                </a:solidFill>
                <a:latin typeface="Cambria" pitchFamily="34" charset="0"/>
                <a:ea typeface="Cambria" pitchFamily="34" charset="-122"/>
                <a:cs typeface="Cambria" pitchFamily="34" charset="-120"/>
              </a:rPr>
              <a:t>Billing terms</a:t>
            </a:r>
            <a:endParaRPr lang="en-US" sz="1300" dirty="0"/>
          </a:p>
        </p:txBody>
      </p:sp>
      <p:sp>
        <p:nvSpPr>
          <p:cNvPr id="9" name="Text 6"/>
          <p:cNvSpPr txBox="1"/>
          <p:nvPr/>
        </p:nvSpPr>
        <p:spPr>
          <a:xfrm>
            <a:off x="7955280" y="2651760"/>
            <a:ext cx="3413455" cy="1737360"/>
          </a:xfrm>
          <a:prstGeom prst="rect">
            <a:avLst/>
          </a:prstGeom>
          <a:noFill/>
          <a:ln/>
        </p:spPr>
        <p:txBody>
          <a:bodyPr wrap="square" lIns="0" tIns="0" rIns="0" bIns="0" rtlCol="0" anchor="t"/>
          <a:lstStyle/>
          <a:p>
            <a:pPr marL="152400" indent="-152400">
              <a:spcAft>
                <a:spcPts val="400"/>
              </a:spcAft>
              <a:buSzPct val="100000"/>
              <a:buChar char="•"/>
            </a:pPr>
            <a:r>
              <a:rPr lang="en-US" sz="1150" dirty="0">
                <a:solidFill>
                  <a:schemeClr val="tx1"/>
                </a:solidFill>
              </a:rPr>
              <a:t>Invoices every two weeks with time detail by person and task; net 7 days</a:t>
            </a:r>
            <a:endParaRPr lang="en-US" sz="1150" dirty="0"/>
          </a:p>
          <a:p>
            <a:pPr marL="152400" indent="-152400">
              <a:spcAft>
                <a:spcPts val="400"/>
              </a:spcAft>
              <a:buSzPct val="100000"/>
              <a:buChar char="•"/>
            </a:pPr>
            <a:r>
              <a:rPr lang="en-US" sz="1150" dirty="0">
                <a:solidFill>
                  <a:schemeClr val="tx1"/>
                </a:solidFill>
              </a:rPr>
              <a:t>Retainer, set after we review the books, applied to the final invoice</a:t>
            </a:r>
            <a:endParaRPr lang="en-US" sz="1150" dirty="0"/>
          </a:p>
          <a:p>
            <a:pPr marL="152400" indent="-152400">
              <a:spcAft>
                <a:spcPts val="400"/>
              </a:spcAft>
              <a:buSzPct val="100000"/>
              <a:buChar char="•"/>
            </a:pPr>
            <a:r>
              <a:rPr lang="en-US" sz="1150" dirty="0">
                <a:solidFill>
                  <a:schemeClr val="tx1"/>
                </a:solidFill>
              </a:rPr>
              <a:t>Out-of-pocket costs such as travel, meals and lodging billed at cost</a:t>
            </a:r>
            <a:endParaRPr lang="en-US" sz="1150" dirty="0"/>
          </a:p>
          <a:p>
            <a:pPr marL="152400" indent="-152400">
              <a:spcAft>
                <a:spcPts val="400"/>
              </a:spcAft>
              <a:buSzPct val="100000"/>
              <a:buChar char="•"/>
            </a:pPr>
            <a:r>
              <a:rPr lang="en-US" sz="1150" dirty="0">
                <a:solidFill>
                  <a:schemeClr val="tx1"/>
                </a:solidFill>
              </a:rPr>
              <a:t>No minimum term; either party may end the engagement on 30 days' written notice</a:t>
            </a:r>
            <a:endParaRPr lang="en-US" sz="1150" dirty="0"/>
          </a:p>
        </p:txBody>
      </p:sp>
      <p:sp>
        <p:nvSpPr>
          <p:cNvPr id="10" name="Text 7"/>
          <p:cNvSpPr txBox="1"/>
          <p:nvPr/>
        </p:nvSpPr>
        <p:spPr>
          <a:xfrm>
            <a:off x="7955280" y="4343400"/>
            <a:ext cx="3413455" cy="320040"/>
          </a:xfrm>
          <a:prstGeom prst="rect">
            <a:avLst/>
          </a:prstGeom>
          <a:noFill/>
          <a:ln/>
        </p:spPr>
        <p:txBody>
          <a:bodyPr wrap="square" lIns="0" tIns="0" rIns="0" bIns="0" rtlCol="0" anchor="t"/>
          <a:lstStyle/>
          <a:p>
            <a:pPr marL="0" indent="0">
              <a:buNone/>
            </a:pPr>
            <a:r>
              <a:rPr lang="en-US" sz="1300" b="1" dirty="0">
                <a:solidFill>
                  <a:schemeClr val="tx2"/>
                </a:solidFill>
                <a:latin typeface="Cambria" pitchFamily="34" charset="0"/>
                <a:ea typeface="Cambria" pitchFamily="34" charset="-122"/>
                <a:cs typeface="Cambria" pitchFamily="34" charset="-120"/>
              </a:rPr>
              <a:t>Managing the budget</a:t>
            </a:r>
            <a:endParaRPr lang="en-US" sz="1300" dirty="0"/>
          </a:p>
        </p:txBody>
      </p:sp>
      <p:sp>
        <p:nvSpPr>
          <p:cNvPr id="11" name="Text 8"/>
          <p:cNvSpPr txBox="1"/>
          <p:nvPr/>
        </p:nvSpPr>
        <p:spPr>
          <a:xfrm>
            <a:off x="7955280" y="4709160"/>
            <a:ext cx="3413455" cy="1325880"/>
          </a:xfrm>
          <a:prstGeom prst="rect">
            <a:avLst/>
          </a:prstGeom>
          <a:noFill/>
          <a:ln/>
        </p:spPr>
        <p:txBody>
          <a:bodyPr wrap="square" lIns="0" tIns="0" rIns="0" bIns="0" rtlCol="0" anchor="t"/>
          <a:lstStyle/>
          <a:p>
            <a:pPr marL="152400" indent="-152400">
              <a:spcAft>
                <a:spcPts val="400"/>
              </a:spcAft>
              <a:buSzPct val="100000"/>
              <a:buChar char="•"/>
            </a:pPr>
            <a:r>
              <a:rPr lang="en-US" sz="1150" dirty="0">
                <a:solidFill>
                  <a:schemeClr val="tx1"/>
                </a:solidFill>
              </a:rPr>
              <a:t>Weekly progress and budget update during onboarding</a:t>
            </a:r>
            <a:endParaRPr lang="en-US" sz="1150" dirty="0"/>
          </a:p>
          <a:p>
            <a:pPr marL="152400" indent="-152400">
              <a:spcAft>
                <a:spcPts val="400"/>
              </a:spcAft>
              <a:buSzPct val="100000"/>
              <a:buChar char="•"/>
            </a:pPr>
            <a:r>
              <a:rPr lang="en-US" sz="1150" dirty="0">
                <a:solidFill>
                  <a:schemeClr val="tx1"/>
                </a:solidFill>
              </a:rPr>
              <a:t>We advise you before any work that would substantially increase fees</a:t>
            </a:r>
            <a:endParaRPr lang="en-US" sz="1150" dirty="0"/>
          </a:p>
          <a:p>
            <a:pPr marL="152400" indent="-152400">
              <a:spcAft>
                <a:spcPts val="400"/>
              </a:spcAft>
              <a:buSzPct val="100000"/>
              <a:buChar char="•"/>
            </a:pPr>
            <a:r>
              <a:rPr lang="en-US" sz="1150" dirty="0">
                <a:solidFill>
                  <a:schemeClr val="tx1"/>
                </a:solidFill>
              </a:rPr>
              <a:t>Scope and staffing changes take effect once confirmed by email; no new letter or signature</a:t>
            </a:r>
            <a:endParaRPr lang="en-US" sz="1150" dirty="0"/>
          </a:p>
        </p:txBody>
      </p:sp>
      <p:sp>
        <p:nvSpPr>
          <p:cNvPr id="12" name="not included"/>
          <p:cNvSpPr/>
          <p:nvPr/>
        </p:nvSpPr>
        <p:spPr>
          <a:xfrm>
            <a:off x="548640" y="5257800"/>
            <a:ext cx="6766560" cy="822960"/>
          </a:xfrm>
          <a:prstGeom prst="rect">
            <a:avLst/>
          </a:prstGeom>
          <a:solidFill>
            <a:schemeClr val="bg1"/>
          </a:solidFill>
          <a:ln w="9525">
            <a:solidFill>
              <a:srgbClr val="D5D9E0"/>
            </a:solidFill>
            <a:prstDash val="solid"/>
          </a:ln>
        </p:spPr>
        <p:txBody>
          <a:bodyPr/>
          <a:lstStyle/>
          <a:p>
            <a:endParaRPr lang="en-US"/>
          </a:p>
        </p:txBody>
      </p:sp>
      <p:sp>
        <p:nvSpPr>
          <p:cNvPr id="5" name="Text 10"/>
          <p:cNvSpPr txBox="1"/>
          <p:nvPr/>
        </p:nvSpPr>
        <p:spPr>
          <a:xfrm>
            <a:off x="777240" y="5257800"/>
            <a:ext cx="6309360" cy="822960"/>
          </a:xfrm>
          <a:prstGeom prst="rect">
            <a:avLst/>
          </a:prstGeom>
          <a:noFill/>
          <a:ln/>
        </p:spPr>
        <p:txBody>
          <a:bodyPr wrap="square" lIns="0" tIns="0" rIns="0" bIns="0" rtlCol="0" anchor="ctr"/>
          <a:lstStyle/>
          <a:p>
            <a:pPr marL="0" indent="0">
              <a:buNone/>
            </a:pPr>
            <a:r>
              <a:rPr lang="en-US" sz="1100" b="1" dirty="0">
                <a:solidFill>
                  <a:srgbClr val="1B2A49"/>
                </a:solidFill>
              </a:rPr>
              <a:t>Not included. </a:t>
            </a:r>
            <a:r>
              <a:rPr lang="en-US" sz="1100" dirty="0">
                <a:solidFill>
                  <a:schemeClr val="tx1"/>
                </a:solidFill>
              </a:rPr>
              <a:t>Tax return preparation and filing, which CBIZ handles, patient billing and coding, and performing audits, which we support but do not perform. Full terms are in the enclosed engagement letter.</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472"/>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a:spLocks noGrp="1"/>
          </p:cNvSpPr>
          <p:nvPr>
            <p:ph type="body" idx="102" hasCustomPrompt="1"/>
          </p:nvPr>
        </p:nvSpPr>
        <p:spPr>
          <a:xfrm>
            <a:off x="548640" y="384048"/>
            <a:ext cx="8229600" cy="274320"/>
          </a:xfrm>
          <a:prstGeom prst="rect">
            <a:avLst/>
          </a:prstGeom>
          <a:noFill/>
          <a:ln/>
        </p:spPr>
        <p:txBody>
          <a:bodyPr wrap="square" lIns="0" tIns="0" rIns="0" bIns="0" rtlCol="0"/>
          <a:lstStyle/>
          <a:p>
            <a:pPr marL="0" indent="0">
              <a:buNone/>
            </a:pPr>
            <a:r>
              <a:rPr lang="en-US" sz="1100" b="1" kern="0" spc="200" dirty="0">
                <a:solidFill>
                  <a:srgbClr val="AF1F29"/>
                </a:solidFill>
              </a:rPr>
              <a:t>06  WHY ONYX AND NEXT STEPS</a:t>
            </a:r>
            <a:endParaRPr lang="en-US" sz="1100" dirty="0"/>
          </a:p>
        </p:txBody>
      </p:sp>
      <p:sp>
        <p:nvSpPr>
          <p:cNvPr id="3" name="Text 1"/>
          <p:cNvSpPr>
            <a:spLocks noGrp="1"/>
          </p:cNvSpPr>
          <p:nvPr>
            <p:ph type="title" idx="103" hasCustomPrompt="1"/>
          </p:nvPr>
        </p:nvSpPr>
        <p:spPr>
          <a:xfrm>
            <a:off x="548640" y="658368"/>
            <a:ext cx="9692640" cy="731520"/>
          </a:xfrm>
          <a:prstGeom prst="rect">
            <a:avLst/>
          </a:prstGeom>
          <a:noFill/>
          <a:ln/>
        </p:spPr>
        <p:txBody>
          <a:bodyPr wrap="square" lIns="0" tIns="0" rIns="0" bIns="0" rtlCol="0" anchor="t"/>
          <a:lstStyle/>
          <a:p>
            <a:pPr marL="0" indent="0" algn="l">
              <a:buNone/>
            </a:pPr>
            <a:r>
              <a:rPr lang="en-US" sz="2800" dirty="0">
                <a:solidFill>
                  <a:srgbClr val="16181D"/>
                </a:solidFill>
              </a:rPr>
              <a:t>What a team gives you, and how we start</a:t>
            </a:r>
            <a:endParaRPr lang="en-US" sz="2800" dirty="0"/>
          </a:p>
        </p:txBody>
      </p:sp>
      <p:sp>
        <p:nvSpPr>
          <p:cNvPr id="4" name="Text 2"/>
          <p:cNvSpPr txBox="1"/>
          <p:nvPr/>
        </p:nvSpPr>
        <p:spPr>
          <a:xfrm>
            <a:off x="548640" y="1600200"/>
            <a:ext cx="5760720" cy="320040"/>
          </a:xfrm>
          <a:prstGeom prst="rect">
            <a:avLst/>
          </a:prstGeom>
          <a:noFill/>
          <a:ln/>
        </p:spPr>
        <p:txBody>
          <a:bodyPr wrap="square" lIns="0" tIns="0" rIns="0" bIns="0" rtlCol="0" anchor="t"/>
          <a:lstStyle/>
          <a:p>
            <a:pPr marL="0" indent="0">
              <a:buNone/>
            </a:pPr>
            <a:r>
              <a:rPr lang="en-US" sz="1300" b="1" dirty="0">
                <a:solidFill>
                  <a:schemeClr val="tx2"/>
                </a:solidFill>
                <a:latin typeface="Cambria" pitchFamily="34" charset="0"/>
                <a:ea typeface="Cambria" pitchFamily="34" charset="-122"/>
                <a:cs typeface="Cambria" pitchFamily="34" charset="-120"/>
              </a:rPr>
              <a:t>Compared with a single full-time hire</a:t>
            </a:r>
            <a:endParaRPr lang="en-US" sz="1300" dirty="0"/>
          </a:p>
        </p:txBody>
      </p:sp>
      <p:sp>
        <p:nvSpPr>
          <p:cNvPr id="5" name="why Continuity"/>
          <p:cNvSpPr/>
          <p:nvPr/>
        </p:nvSpPr>
        <p:spPr>
          <a:xfrm>
            <a:off x="548640" y="2039112"/>
            <a:ext cx="384048" cy="384048"/>
          </a:xfrm>
          <a:prstGeom prst="ellipse">
            <a:avLst/>
          </a:prstGeom>
          <a:solidFill>
            <a:schemeClr val="accent1"/>
          </a:solidFill>
          <a:ln w="12700">
            <a:solidFill>
              <a:srgbClr val="1B2A49"/>
            </a:solidFill>
            <a:prstDash val="solid"/>
          </a:ln>
        </p:spPr>
        <p:txBody>
          <a:bodyPr/>
          <a:lstStyle/>
          <a:p>
            <a:endParaRPr lang="en-US"/>
          </a:p>
        </p:txBody>
      </p:sp>
      <p:sp>
        <p:nvSpPr>
          <p:cNvPr id="6" name="Text 4"/>
          <p:cNvSpPr txBox="1"/>
          <p:nvPr/>
        </p:nvSpPr>
        <p:spPr>
          <a:xfrm>
            <a:off x="548640" y="2039112"/>
            <a:ext cx="384048" cy="384048"/>
          </a:xfrm>
          <a:prstGeom prst="rect">
            <a:avLst/>
          </a:prstGeom>
          <a:noFill/>
          <a:ln/>
        </p:spPr>
        <p:txBody>
          <a:bodyPr wrap="square" lIns="0" tIns="0" rIns="0" bIns="0" rtlCol="0" anchor="ctr"/>
          <a:lstStyle/>
          <a:p>
            <a:pPr marL="0" indent="0" algn="ctr">
              <a:buNone/>
            </a:pPr>
            <a:r>
              <a:rPr lang="en-US" sz="1200" b="1" dirty="0">
                <a:solidFill>
                  <a:schemeClr val="bg1"/>
                </a:solidFill>
              </a:rPr>
              <a:t>1</a:t>
            </a:r>
            <a:endParaRPr lang="en-US" sz="1200" dirty="0"/>
          </a:p>
        </p:txBody>
      </p:sp>
      <p:sp>
        <p:nvSpPr>
          <p:cNvPr id="7" name="Text 5"/>
          <p:cNvSpPr txBox="1"/>
          <p:nvPr/>
        </p:nvSpPr>
        <p:spPr>
          <a:xfrm>
            <a:off x="1097280" y="2011680"/>
            <a:ext cx="5212080" cy="274320"/>
          </a:xfrm>
          <a:prstGeom prst="rect">
            <a:avLst/>
          </a:prstGeom>
          <a:noFill/>
          <a:ln/>
        </p:spPr>
        <p:txBody>
          <a:bodyPr wrap="square" lIns="0" tIns="0" rIns="0" bIns="0" rtlCol="0" anchor="t"/>
          <a:lstStyle/>
          <a:p>
            <a:pPr marL="0" indent="0">
              <a:buNone/>
            </a:pPr>
            <a:r>
              <a:rPr lang="en-US" sz="1250" b="1" dirty="0">
                <a:solidFill>
                  <a:schemeClr val="tx1"/>
                </a:solidFill>
              </a:rPr>
              <a:t>Continuity</a:t>
            </a:r>
            <a:endParaRPr lang="en-US" sz="1250" dirty="0"/>
          </a:p>
        </p:txBody>
      </p:sp>
      <p:sp>
        <p:nvSpPr>
          <p:cNvPr id="8" name="Text 6"/>
          <p:cNvSpPr txBox="1"/>
          <p:nvPr/>
        </p:nvSpPr>
        <p:spPr>
          <a:xfrm>
            <a:off x="1097280" y="2286000"/>
            <a:ext cx="5212080" cy="658368"/>
          </a:xfrm>
          <a:prstGeom prst="rect">
            <a:avLst/>
          </a:prstGeom>
          <a:noFill/>
          <a:ln/>
        </p:spPr>
        <p:txBody>
          <a:bodyPr wrap="square" lIns="0" tIns="0" rIns="0" bIns="0" rtlCol="0" anchor="t"/>
          <a:lstStyle/>
          <a:p>
            <a:pPr marL="0" indent="0">
              <a:buNone/>
            </a:pPr>
            <a:r>
              <a:rPr lang="en-US" sz="1150" dirty="0">
                <a:solidFill>
                  <a:schemeClr val="tx1"/>
                </a:solidFill>
              </a:rPr>
              <a:t>You work with a team, not one individual. If a person changes, the file, the procedures and your senior contact do not.</a:t>
            </a:r>
            <a:endParaRPr lang="en-US" sz="1150" dirty="0"/>
          </a:p>
        </p:txBody>
      </p:sp>
      <p:sp>
        <p:nvSpPr>
          <p:cNvPr id="9" name="why Depth"/>
          <p:cNvSpPr/>
          <p:nvPr/>
        </p:nvSpPr>
        <p:spPr>
          <a:xfrm>
            <a:off x="548640" y="2971800"/>
            <a:ext cx="384048" cy="384048"/>
          </a:xfrm>
          <a:prstGeom prst="ellipse">
            <a:avLst/>
          </a:prstGeom>
          <a:solidFill>
            <a:schemeClr val="accent1"/>
          </a:solidFill>
          <a:ln w="12700">
            <a:solidFill>
              <a:srgbClr val="1B2A49"/>
            </a:solidFill>
            <a:prstDash val="solid"/>
          </a:ln>
        </p:spPr>
        <p:txBody>
          <a:bodyPr/>
          <a:lstStyle/>
          <a:p>
            <a:endParaRPr lang="en-US"/>
          </a:p>
        </p:txBody>
      </p:sp>
      <p:sp>
        <p:nvSpPr>
          <p:cNvPr id="10" name="Text 8"/>
          <p:cNvSpPr txBox="1"/>
          <p:nvPr/>
        </p:nvSpPr>
        <p:spPr>
          <a:xfrm>
            <a:off x="548640" y="2971800"/>
            <a:ext cx="384048" cy="384048"/>
          </a:xfrm>
          <a:prstGeom prst="rect">
            <a:avLst/>
          </a:prstGeom>
          <a:noFill/>
          <a:ln/>
        </p:spPr>
        <p:txBody>
          <a:bodyPr wrap="square" lIns="0" tIns="0" rIns="0" bIns="0" rtlCol="0" anchor="ctr"/>
          <a:lstStyle/>
          <a:p>
            <a:pPr marL="0" indent="0" algn="ctr">
              <a:buNone/>
            </a:pPr>
            <a:r>
              <a:rPr lang="en-US" sz="1200" b="1" dirty="0">
                <a:solidFill>
                  <a:schemeClr val="bg1"/>
                </a:solidFill>
              </a:rPr>
              <a:t>2</a:t>
            </a:r>
            <a:endParaRPr lang="en-US" sz="1200" dirty="0"/>
          </a:p>
        </p:txBody>
      </p:sp>
      <p:sp>
        <p:nvSpPr>
          <p:cNvPr id="11" name="Text 9"/>
          <p:cNvSpPr txBox="1"/>
          <p:nvPr/>
        </p:nvSpPr>
        <p:spPr>
          <a:xfrm>
            <a:off x="1097280" y="2944368"/>
            <a:ext cx="5212080" cy="274320"/>
          </a:xfrm>
          <a:prstGeom prst="rect">
            <a:avLst/>
          </a:prstGeom>
          <a:noFill/>
          <a:ln/>
        </p:spPr>
        <p:txBody>
          <a:bodyPr wrap="square" lIns="0" tIns="0" rIns="0" bIns="0" rtlCol="0" anchor="t"/>
          <a:lstStyle/>
          <a:p>
            <a:pPr marL="0" indent="0">
              <a:buNone/>
            </a:pPr>
            <a:r>
              <a:rPr lang="en-US" sz="1250" b="1" dirty="0">
                <a:solidFill>
                  <a:schemeClr val="tx1"/>
                </a:solidFill>
              </a:rPr>
              <a:t>Depth</a:t>
            </a:r>
            <a:endParaRPr lang="en-US" sz="1250" dirty="0"/>
          </a:p>
        </p:txBody>
      </p:sp>
      <p:sp>
        <p:nvSpPr>
          <p:cNvPr id="12" name="Text 10"/>
          <p:cNvSpPr txBox="1"/>
          <p:nvPr/>
        </p:nvSpPr>
        <p:spPr>
          <a:xfrm>
            <a:off x="1097280" y="3218688"/>
            <a:ext cx="5212080" cy="658368"/>
          </a:xfrm>
          <a:prstGeom prst="rect">
            <a:avLst/>
          </a:prstGeom>
          <a:noFill/>
          <a:ln/>
        </p:spPr>
        <p:txBody>
          <a:bodyPr wrap="square" lIns="0" tIns="0" rIns="0" bIns="0" rtlCol="0" anchor="t"/>
          <a:lstStyle/>
          <a:p>
            <a:pPr marL="0" indent="0">
              <a:buNone/>
            </a:pPr>
            <a:r>
              <a:rPr lang="en-US" sz="1150" dirty="0">
                <a:solidFill>
                  <a:schemeClr val="tx1"/>
                </a:solidFill>
              </a:rPr>
              <a:t>CFO, controller and staff expertise under one engagement, with a built-in review process so the work is completed accurately and consistently.</a:t>
            </a:r>
            <a:endParaRPr lang="en-US" sz="1150" dirty="0"/>
          </a:p>
        </p:txBody>
      </p:sp>
      <p:sp>
        <p:nvSpPr>
          <p:cNvPr id="13" name="why Flexibility"/>
          <p:cNvSpPr/>
          <p:nvPr/>
        </p:nvSpPr>
        <p:spPr>
          <a:xfrm>
            <a:off x="548640" y="3904488"/>
            <a:ext cx="384048" cy="384048"/>
          </a:xfrm>
          <a:prstGeom prst="ellipse">
            <a:avLst/>
          </a:prstGeom>
          <a:solidFill>
            <a:schemeClr val="accent1"/>
          </a:solidFill>
          <a:ln w="12700">
            <a:solidFill>
              <a:srgbClr val="1B2A49"/>
            </a:solidFill>
            <a:prstDash val="solid"/>
          </a:ln>
        </p:spPr>
        <p:txBody>
          <a:bodyPr/>
          <a:lstStyle/>
          <a:p>
            <a:endParaRPr lang="en-US"/>
          </a:p>
        </p:txBody>
      </p:sp>
      <p:sp>
        <p:nvSpPr>
          <p:cNvPr id="14" name="Text 12"/>
          <p:cNvSpPr txBox="1"/>
          <p:nvPr/>
        </p:nvSpPr>
        <p:spPr>
          <a:xfrm>
            <a:off x="548640" y="3904488"/>
            <a:ext cx="384048" cy="384048"/>
          </a:xfrm>
          <a:prstGeom prst="rect">
            <a:avLst/>
          </a:prstGeom>
          <a:noFill/>
          <a:ln/>
        </p:spPr>
        <p:txBody>
          <a:bodyPr wrap="square" lIns="0" tIns="0" rIns="0" bIns="0" rtlCol="0" anchor="ctr"/>
          <a:lstStyle/>
          <a:p>
            <a:pPr marL="0" indent="0" algn="ctr">
              <a:buNone/>
            </a:pPr>
            <a:r>
              <a:rPr lang="en-US" sz="1200" b="1" dirty="0">
                <a:solidFill>
                  <a:schemeClr val="bg1"/>
                </a:solidFill>
              </a:rPr>
              <a:t>3</a:t>
            </a:r>
            <a:endParaRPr lang="en-US" sz="1200" dirty="0"/>
          </a:p>
        </p:txBody>
      </p:sp>
      <p:sp>
        <p:nvSpPr>
          <p:cNvPr id="15" name="Text 13"/>
          <p:cNvSpPr txBox="1"/>
          <p:nvPr/>
        </p:nvSpPr>
        <p:spPr>
          <a:xfrm>
            <a:off x="1097280" y="3877056"/>
            <a:ext cx="5212080" cy="274320"/>
          </a:xfrm>
          <a:prstGeom prst="rect">
            <a:avLst/>
          </a:prstGeom>
          <a:noFill/>
          <a:ln/>
        </p:spPr>
        <p:txBody>
          <a:bodyPr wrap="square" lIns="0" tIns="0" rIns="0" bIns="0" rtlCol="0" anchor="t"/>
          <a:lstStyle/>
          <a:p>
            <a:pPr marL="0" indent="0">
              <a:buNone/>
            </a:pPr>
            <a:r>
              <a:rPr lang="en-US" sz="1250" b="1" dirty="0">
                <a:solidFill>
                  <a:schemeClr val="tx1"/>
                </a:solidFill>
              </a:rPr>
              <a:t>Flexibility</a:t>
            </a:r>
            <a:endParaRPr lang="en-US" sz="1250" dirty="0"/>
          </a:p>
        </p:txBody>
      </p:sp>
      <p:sp>
        <p:nvSpPr>
          <p:cNvPr id="16" name="Text 14"/>
          <p:cNvSpPr txBox="1"/>
          <p:nvPr/>
        </p:nvSpPr>
        <p:spPr>
          <a:xfrm>
            <a:off x="1097280" y="4151376"/>
            <a:ext cx="5212080" cy="658368"/>
          </a:xfrm>
          <a:prstGeom prst="rect">
            <a:avLst/>
          </a:prstGeom>
          <a:noFill/>
          <a:ln/>
        </p:spPr>
        <p:txBody>
          <a:bodyPr wrap="square" lIns="0" tIns="0" rIns="0" bIns="0" rtlCol="0" anchor="t"/>
          <a:lstStyle/>
          <a:p>
            <a:pPr marL="0" indent="0">
              <a:buNone/>
            </a:pPr>
            <a:r>
              <a:rPr lang="en-US" sz="1150" dirty="0">
                <a:solidFill>
                  <a:schemeClr val="tx1"/>
                </a:solidFill>
              </a:rPr>
              <a:t>Start with CFO plus controller, controller-led or staff augmentation, and move between them by email. No penalties and no paperwork to redo.</a:t>
            </a:r>
            <a:endParaRPr lang="en-US" sz="1150" dirty="0"/>
          </a:p>
        </p:txBody>
      </p:sp>
      <p:sp>
        <p:nvSpPr>
          <p:cNvPr id="17" name="why Fit"/>
          <p:cNvSpPr/>
          <p:nvPr/>
        </p:nvSpPr>
        <p:spPr>
          <a:xfrm>
            <a:off x="548640" y="4837176"/>
            <a:ext cx="384048" cy="384048"/>
          </a:xfrm>
          <a:prstGeom prst="ellipse">
            <a:avLst/>
          </a:prstGeom>
          <a:solidFill>
            <a:schemeClr val="accent1"/>
          </a:solidFill>
          <a:ln w="12700">
            <a:solidFill>
              <a:srgbClr val="1B2A49"/>
            </a:solidFill>
            <a:prstDash val="solid"/>
          </a:ln>
        </p:spPr>
        <p:txBody>
          <a:bodyPr/>
          <a:lstStyle/>
          <a:p>
            <a:endParaRPr lang="en-US"/>
          </a:p>
        </p:txBody>
      </p:sp>
      <p:sp>
        <p:nvSpPr>
          <p:cNvPr id="18" name="Text 16"/>
          <p:cNvSpPr txBox="1"/>
          <p:nvPr/>
        </p:nvSpPr>
        <p:spPr>
          <a:xfrm>
            <a:off x="548640" y="4837176"/>
            <a:ext cx="384048" cy="384048"/>
          </a:xfrm>
          <a:prstGeom prst="rect">
            <a:avLst/>
          </a:prstGeom>
          <a:noFill/>
          <a:ln/>
        </p:spPr>
        <p:txBody>
          <a:bodyPr wrap="square" lIns="0" tIns="0" rIns="0" bIns="0" rtlCol="0" anchor="ctr"/>
          <a:lstStyle/>
          <a:p>
            <a:pPr marL="0" indent="0" algn="ctr">
              <a:buNone/>
            </a:pPr>
            <a:r>
              <a:rPr lang="en-US" sz="1200" b="1" dirty="0">
                <a:solidFill>
                  <a:schemeClr val="bg1"/>
                </a:solidFill>
              </a:rPr>
              <a:t>4</a:t>
            </a:r>
            <a:endParaRPr lang="en-US" sz="1200" dirty="0"/>
          </a:p>
        </p:txBody>
      </p:sp>
      <p:sp>
        <p:nvSpPr>
          <p:cNvPr id="19" name="Text 17"/>
          <p:cNvSpPr txBox="1"/>
          <p:nvPr/>
        </p:nvSpPr>
        <p:spPr>
          <a:xfrm>
            <a:off x="1097280" y="4809744"/>
            <a:ext cx="5212080" cy="274320"/>
          </a:xfrm>
          <a:prstGeom prst="rect">
            <a:avLst/>
          </a:prstGeom>
          <a:noFill/>
          <a:ln/>
        </p:spPr>
        <p:txBody>
          <a:bodyPr wrap="square" lIns="0" tIns="0" rIns="0" bIns="0" rtlCol="0" anchor="t"/>
          <a:lstStyle/>
          <a:p>
            <a:pPr marL="0" indent="0">
              <a:buNone/>
            </a:pPr>
            <a:r>
              <a:rPr lang="en-US" sz="1250" b="1" dirty="0">
                <a:solidFill>
                  <a:schemeClr val="tx1"/>
                </a:solidFill>
              </a:rPr>
              <a:t>Fit</a:t>
            </a:r>
            <a:endParaRPr lang="en-US" sz="1250" dirty="0"/>
          </a:p>
        </p:txBody>
      </p:sp>
      <p:sp>
        <p:nvSpPr>
          <p:cNvPr id="20" name="Text 18"/>
          <p:cNvSpPr txBox="1"/>
          <p:nvPr/>
        </p:nvSpPr>
        <p:spPr>
          <a:xfrm>
            <a:off x="1097280" y="5084064"/>
            <a:ext cx="5212080" cy="658368"/>
          </a:xfrm>
          <a:prstGeom prst="rect">
            <a:avLst/>
          </a:prstGeom>
          <a:noFill/>
          <a:ln/>
        </p:spPr>
        <p:txBody>
          <a:bodyPr wrap="square" lIns="0" tIns="0" rIns="0" bIns="0" rtlCol="0" anchor="t"/>
          <a:lstStyle/>
          <a:p>
            <a:pPr marL="0" indent="0">
              <a:buNone/>
            </a:pPr>
            <a:r>
              <a:rPr lang="en-US" sz="1150" dirty="0">
                <a:solidFill>
                  <a:schemeClr val="tx1"/>
                </a:solidFill>
              </a:rPr>
              <a:t>We work alongside your team, CBIZ and your bank, and we keep approvals with you. A stable close, multi-entity reporting and lender reporting in QuickBooks Online are what we do every day.</a:t>
            </a:r>
            <a:endParaRPr lang="en-US" sz="1150" dirty="0"/>
          </a:p>
        </p:txBody>
      </p:sp>
      <p:sp>
        <p:nvSpPr>
          <p:cNvPr id="21" name="next steps panel"/>
          <p:cNvSpPr/>
          <p:nvPr/>
        </p:nvSpPr>
        <p:spPr>
          <a:xfrm>
            <a:off x="6766560" y="1600200"/>
            <a:ext cx="4876495" cy="4526280"/>
          </a:xfrm>
          <a:prstGeom prst="rect">
            <a:avLst/>
          </a:prstGeom>
          <a:solidFill>
            <a:schemeClr val="accent1"/>
          </a:solidFill>
          <a:ln w="12700">
            <a:solidFill>
              <a:srgbClr val="1B2A49"/>
            </a:solidFill>
            <a:prstDash val="solid"/>
          </a:ln>
        </p:spPr>
        <p:txBody>
          <a:bodyPr/>
          <a:lstStyle/>
          <a:p>
            <a:endParaRPr lang="en-US"/>
          </a:p>
        </p:txBody>
      </p:sp>
      <p:sp>
        <p:nvSpPr>
          <p:cNvPr id="22" name="Text 20"/>
          <p:cNvSpPr txBox="1"/>
          <p:nvPr/>
        </p:nvSpPr>
        <p:spPr>
          <a:xfrm>
            <a:off x="7086600" y="1783080"/>
            <a:ext cx="4236415" cy="365760"/>
          </a:xfrm>
          <a:prstGeom prst="rect">
            <a:avLst/>
          </a:prstGeom>
          <a:noFill/>
          <a:ln/>
        </p:spPr>
        <p:txBody>
          <a:bodyPr wrap="square" lIns="0" tIns="0" rIns="0" bIns="0" rtlCol="0" anchor="t"/>
          <a:lstStyle/>
          <a:p>
            <a:pPr marL="0" indent="0">
              <a:buNone/>
            </a:pPr>
            <a:r>
              <a:rPr lang="en-US" sz="1500" b="1" dirty="0">
                <a:solidFill>
                  <a:schemeClr val="bg1"/>
                </a:solidFill>
                <a:latin typeface="Cambria" pitchFamily="34" charset="0"/>
                <a:ea typeface="Cambria" pitchFamily="34" charset="-122"/>
                <a:cs typeface="Cambria" pitchFamily="34" charset="-120"/>
              </a:rPr>
              <a:t>Next steps</a:t>
            </a:r>
            <a:endParaRPr lang="en-US" sz="1500" dirty="0"/>
          </a:p>
        </p:txBody>
      </p:sp>
      <p:sp>
        <p:nvSpPr>
          <p:cNvPr id="23" name="Text 21"/>
          <p:cNvSpPr txBox="1"/>
          <p:nvPr/>
        </p:nvSpPr>
        <p:spPr>
          <a:xfrm>
            <a:off x="7086600" y="2240280"/>
            <a:ext cx="365760" cy="365760"/>
          </a:xfrm>
          <a:prstGeom prst="rect">
            <a:avLst/>
          </a:prstGeom>
          <a:noFill/>
          <a:ln/>
        </p:spPr>
        <p:txBody>
          <a:bodyPr wrap="square" lIns="0" tIns="0" rIns="0" bIns="0" rtlCol="0" anchor="t"/>
          <a:lstStyle/>
          <a:p>
            <a:pPr marL="0" indent="0">
              <a:buNone/>
            </a:pPr>
            <a:r>
              <a:rPr lang="en-US" sz="2000" b="1" dirty="0">
                <a:solidFill>
                  <a:schemeClr val="accent2"/>
                </a:solidFill>
                <a:latin typeface="Cambria" pitchFamily="34" charset="0"/>
                <a:ea typeface="Cambria" pitchFamily="34" charset="-122"/>
                <a:cs typeface="Cambria" pitchFamily="34" charset="-120"/>
              </a:rPr>
              <a:t>1</a:t>
            </a:r>
            <a:endParaRPr lang="en-US" sz="2000" dirty="0"/>
          </a:p>
        </p:txBody>
      </p:sp>
      <p:sp>
        <p:nvSpPr>
          <p:cNvPr id="24" name="Text 22"/>
          <p:cNvSpPr txBox="1"/>
          <p:nvPr/>
        </p:nvSpPr>
        <p:spPr>
          <a:xfrm>
            <a:off x="7543800" y="2240280"/>
            <a:ext cx="3779215" cy="274320"/>
          </a:xfrm>
          <a:prstGeom prst="rect">
            <a:avLst/>
          </a:prstGeom>
          <a:noFill/>
          <a:ln/>
        </p:spPr>
        <p:txBody>
          <a:bodyPr wrap="square" lIns="0" tIns="0" rIns="0" bIns="0" rtlCol="0" anchor="t"/>
          <a:lstStyle/>
          <a:p>
            <a:pPr marL="0" indent="0">
              <a:buNone/>
            </a:pPr>
            <a:r>
              <a:rPr lang="en-US" sz="1250" b="1" dirty="0">
                <a:solidFill>
                  <a:schemeClr val="bg1"/>
                </a:solidFill>
              </a:rPr>
              <a:t>Review</a:t>
            </a:r>
            <a:endParaRPr lang="en-US" sz="1250" dirty="0"/>
          </a:p>
        </p:txBody>
      </p:sp>
      <p:sp>
        <p:nvSpPr>
          <p:cNvPr id="25" name="Text 23"/>
          <p:cNvSpPr txBox="1"/>
          <p:nvPr/>
        </p:nvSpPr>
        <p:spPr>
          <a:xfrm>
            <a:off x="7543800" y="2514600"/>
            <a:ext cx="3779215" cy="640080"/>
          </a:xfrm>
          <a:prstGeom prst="rect">
            <a:avLst/>
          </a:prstGeom>
          <a:noFill/>
          <a:ln/>
        </p:spPr>
        <p:txBody>
          <a:bodyPr wrap="square" lIns="0" tIns="0" rIns="0" bIns="0" rtlCol="0" anchor="t"/>
          <a:lstStyle/>
          <a:p>
            <a:pPr marL="0" indent="0">
              <a:buNone/>
            </a:pPr>
            <a:r>
              <a:rPr lang="en-US" sz="1150" dirty="0">
                <a:solidFill>
                  <a:schemeClr val="bg1"/>
                </a:solidFill>
              </a:rPr>
              <a:t>Share this proposal and the engagement letter with the physicians ahead of October 16. We are glad to join the meeting or a follow-up call.</a:t>
            </a:r>
            <a:endParaRPr lang="en-US" sz="1150" dirty="0"/>
          </a:p>
        </p:txBody>
      </p:sp>
      <p:sp>
        <p:nvSpPr>
          <p:cNvPr id="26" name="Text 24"/>
          <p:cNvSpPr txBox="1"/>
          <p:nvPr/>
        </p:nvSpPr>
        <p:spPr>
          <a:xfrm>
            <a:off x="7086600" y="3200400"/>
            <a:ext cx="365760" cy="365760"/>
          </a:xfrm>
          <a:prstGeom prst="rect">
            <a:avLst/>
          </a:prstGeom>
          <a:noFill/>
          <a:ln/>
        </p:spPr>
        <p:txBody>
          <a:bodyPr wrap="square" lIns="0" tIns="0" rIns="0" bIns="0" rtlCol="0" anchor="t"/>
          <a:lstStyle/>
          <a:p>
            <a:pPr marL="0" indent="0">
              <a:buNone/>
            </a:pPr>
            <a:r>
              <a:rPr lang="en-US" sz="2000" b="1" dirty="0">
                <a:solidFill>
                  <a:schemeClr val="accent2"/>
                </a:solidFill>
                <a:latin typeface="Cambria" pitchFamily="34" charset="0"/>
                <a:ea typeface="Cambria" pitchFamily="34" charset="-122"/>
                <a:cs typeface="Cambria" pitchFamily="34" charset="-120"/>
              </a:rPr>
              <a:t>2</a:t>
            </a:r>
            <a:endParaRPr lang="en-US" sz="2000" dirty="0"/>
          </a:p>
        </p:txBody>
      </p:sp>
      <p:sp>
        <p:nvSpPr>
          <p:cNvPr id="27" name="Text 25"/>
          <p:cNvSpPr txBox="1"/>
          <p:nvPr/>
        </p:nvSpPr>
        <p:spPr>
          <a:xfrm>
            <a:off x="7543800" y="3200400"/>
            <a:ext cx="3779215" cy="274320"/>
          </a:xfrm>
          <a:prstGeom prst="rect">
            <a:avLst/>
          </a:prstGeom>
          <a:noFill/>
          <a:ln/>
        </p:spPr>
        <p:txBody>
          <a:bodyPr wrap="square" lIns="0" tIns="0" rIns="0" bIns="0" rtlCol="0" anchor="t"/>
          <a:lstStyle/>
          <a:p>
            <a:pPr marL="0" indent="0">
              <a:buNone/>
            </a:pPr>
            <a:r>
              <a:rPr lang="en-US" sz="1250" b="1" dirty="0">
                <a:solidFill>
                  <a:schemeClr val="bg1"/>
                </a:solidFill>
              </a:rPr>
              <a:t>Sign</a:t>
            </a:r>
            <a:endParaRPr lang="en-US" sz="1250" dirty="0"/>
          </a:p>
        </p:txBody>
      </p:sp>
      <p:sp>
        <p:nvSpPr>
          <p:cNvPr id="28" name="Text 26"/>
          <p:cNvSpPr txBox="1"/>
          <p:nvPr/>
        </p:nvSpPr>
        <p:spPr>
          <a:xfrm>
            <a:off x="7543800" y="3474720"/>
            <a:ext cx="3779215" cy="640080"/>
          </a:xfrm>
          <a:prstGeom prst="rect">
            <a:avLst/>
          </a:prstGeom>
          <a:noFill/>
          <a:ln/>
        </p:spPr>
        <p:txBody>
          <a:bodyPr wrap="square" lIns="0" tIns="0" rIns="0" bIns="0" rtlCol="0" anchor="t"/>
          <a:lstStyle/>
          <a:p>
            <a:pPr marL="0" indent="0">
              <a:buNone/>
            </a:pPr>
            <a:r>
              <a:rPr lang="en-US" sz="1150" dirty="0">
                <a:solidFill>
                  <a:schemeClr val="bg1"/>
                </a:solidFill>
              </a:rPr>
              <a:t>Sign the letter; we can send it for electronic signature. The retainer, set after we review the books, starts the work.</a:t>
            </a:r>
            <a:endParaRPr lang="en-US" sz="1150" dirty="0"/>
          </a:p>
        </p:txBody>
      </p:sp>
      <p:sp>
        <p:nvSpPr>
          <p:cNvPr id="29" name="Text 27"/>
          <p:cNvSpPr txBox="1"/>
          <p:nvPr/>
        </p:nvSpPr>
        <p:spPr>
          <a:xfrm>
            <a:off x="7086600" y="3977640"/>
            <a:ext cx="365760" cy="365760"/>
          </a:xfrm>
          <a:prstGeom prst="rect">
            <a:avLst/>
          </a:prstGeom>
          <a:noFill/>
          <a:ln/>
        </p:spPr>
        <p:txBody>
          <a:bodyPr wrap="square" lIns="0" tIns="0" rIns="0" bIns="0" rtlCol="0" anchor="t"/>
          <a:lstStyle/>
          <a:p>
            <a:pPr marL="0" indent="0">
              <a:buNone/>
            </a:pPr>
            <a:r>
              <a:rPr lang="en-US" sz="2000" b="1" dirty="0">
                <a:solidFill>
                  <a:schemeClr val="accent2"/>
                </a:solidFill>
                <a:latin typeface="Cambria" pitchFamily="34" charset="0"/>
                <a:ea typeface="Cambria" pitchFamily="34" charset="-122"/>
                <a:cs typeface="Cambria" pitchFamily="34" charset="-120"/>
              </a:rPr>
              <a:t>3</a:t>
            </a:r>
            <a:endParaRPr lang="en-US" sz="2000" dirty="0"/>
          </a:p>
        </p:txBody>
      </p:sp>
      <p:sp>
        <p:nvSpPr>
          <p:cNvPr id="30" name="Text 28"/>
          <p:cNvSpPr txBox="1"/>
          <p:nvPr/>
        </p:nvSpPr>
        <p:spPr>
          <a:xfrm>
            <a:off x="7543800" y="3977640"/>
            <a:ext cx="3779215" cy="274320"/>
          </a:xfrm>
          <a:prstGeom prst="rect">
            <a:avLst/>
          </a:prstGeom>
          <a:noFill/>
          <a:ln/>
        </p:spPr>
        <p:txBody>
          <a:bodyPr wrap="square" lIns="0" tIns="0" rIns="0" bIns="0" rtlCol="0" anchor="t"/>
          <a:lstStyle/>
          <a:p>
            <a:pPr marL="0" indent="0">
              <a:buNone/>
            </a:pPr>
            <a:r>
              <a:rPr lang="en-US" sz="1250" b="1" dirty="0">
                <a:solidFill>
                  <a:schemeClr val="bg1"/>
                </a:solidFill>
              </a:rPr>
              <a:t>Grant access</a:t>
            </a:r>
            <a:endParaRPr lang="en-US" sz="1250" dirty="0"/>
          </a:p>
        </p:txBody>
      </p:sp>
      <p:sp>
        <p:nvSpPr>
          <p:cNvPr id="31" name="Text 29"/>
          <p:cNvSpPr txBox="1"/>
          <p:nvPr/>
        </p:nvSpPr>
        <p:spPr>
          <a:xfrm>
            <a:off x="7543800" y="4251960"/>
            <a:ext cx="3779215" cy="640080"/>
          </a:xfrm>
          <a:prstGeom prst="rect">
            <a:avLst/>
          </a:prstGeom>
          <a:noFill/>
          <a:ln/>
        </p:spPr>
        <p:txBody>
          <a:bodyPr wrap="square" lIns="0" tIns="0" rIns="0" bIns="0" rtlCol="0" anchor="t"/>
          <a:lstStyle/>
          <a:p>
            <a:pPr marL="0" indent="0">
              <a:buNone/>
            </a:pPr>
            <a:r>
              <a:rPr lang="en-US" sz="1150" dirty="0">
                <a:solidFill>
                  <a:schemeClr val="bg1"/>
                </a:solidFill>
              </a:rPr>
              <a:t>QuickBooks Online for each entity, eClinicalWorks reporting, Paylocity, bank and loan view access, and the discovery materials.</a:t>
            </a:r>
            <a:endParaRPr lang="en-US" sz="1150" dirty="0"/>
          </a:p>
        </p:txBody>
      </p:sp>
      <p:sp>
        <p:nvSpPr>
          <p:cNvPr id="32" name="Text 30"/>
          <p:cNvSpPr txBox="1"/>
          <p:nvPr/>
        </p:nvSpPr>
        <p:spPr>
          <a:xfrm>
            <a:off x="7086600" y="4937760"/>
            <a:ext cx="365760" cy="365760"/>
          </a:xfrm>
          <a:prstGeom prst="rect">
            <a:avLst/>
          </a:prstGeom>
          <a:noFill/>
          <a:ln/>
        </p:spPr>
        <p:txBody>
          <a:bodyPr wrap="square" lIns="0" tIns="0" rIns="0" bIns="0" rtlCol="0" anchor="t"/>
          <a:lstStyle/>
          <a:p>
            <a:pPr marL="0" indent="0">
              <a:buNone/>
            </a:pPr>
            <a:r>
              <a:rPr lang="en-US" sz="2000" b="1" dirty="0">
                <a:solidFill>
                  <a:schemeClr val="accent2"/>
                </a:solidFill>
                <a:latin typeface="Cambria" pitchFamily="34" charset="0"/>
                <a:ea typeface="Cambria" pitchFamily="34" charset="-122"/>
                <a:cs typeface="Cambria" pitchFamily="34" charset="-120"/>
              </a:rPr>
              <a:t>4</a:t>
            </a:r>
            <a:endParaRPr lang="en-US" sz="2000" dirty="0"/>
          </a:p>
        </p:txBody>
      </p:sp>
      <p:sp>
        <p:nvSpPr>
          <p:cNvPr id="33" name="Text 31"/>
          <p:cNvSpPr txBox="1"/>
          <p:nvPr/>
        </p:nvSpPr>
        <p:spPr>
          <a:xfrm>
            <a:off x="7543800" y="4937760"/>
            <a:ext cx="3779215" cy="274320"/>
          </a:xfrm>
          <a:prstGeom prst="rect">
            <a:avLst/>
          </a:prstGeom>
          <a:noFill/>
          <a:ln/>
        </p:spPr>
        <p:txBody>
          <a:bodyPr wrap="square" lIns="0" tIns="0" rIns="0" bIns="0" rtlCol="0" anchor="t"/>
          <a:lstStyle/>
          <a:p>
            <a:pPr marL="0" indent="0">
              <a:buNone/>
            </a:pPr>
            <a:r>
              <a:rPr lang="en-US" sz="1250" b="1" dirty="0">
                <a:solidFill>
                  <a:schemeClr val="bg1"/>
                </a:solidFill>
              </a:rPr>
              <a:t>Kick off</a:t>
            </a:r>
            <a:endParaRPr lang="en-US" sz="1250" dirty="0"/>
          </a:p>
        </p:txBody>
      </p:sp>
      <p:sp>
        <p:nvSpPr>
          <p:cNvPr id="34" name="Text 32"/>
          <p:cNvSpPr txBox="1"/>
          <p:nvPr/>
        </p:nvSpPr>
        <p:spPr>
          <a:xfrm>
            <a:off x="7543800" y="5212080"/>
            <a:ext cx="3779215" cy="640080"/>
          </a:xfrm>
          <a:prstGeom prst="rect">
            <a:avLst/>
          </a:prstGeom>
          <a:noFill/>
          <a:ln/>
        </p:spPr>
        <p:txBody>
          <a:bodyPr wrap="square" lIns="0" tIns="0" rIns="0" bIns="0" rtlCol="0" anchor="t"/>
          <a:lstStyle/>
          <a:p>
            <a:pPr marL="0" indent="0">
              <a:buNone/>
            </a:pPr>
            <a:r>
              <a:rPr lang="en-US" sz="1150" dirty="0">
                <a:solidFill>
                  <a:schemeClr val="bg1"/>
                </a:solidFill>
              </a:rPr>
              <a:t>On site in Phoenix the following week. Knowledge transfer from Mark, close review and the first weekly update begin in week one.</a:t>
            </a:r>
            <a:endParaRPr lang="en-US" sz="1150" dirty="0"/>
          </a:p>
        </p:txBody>
      </p:sp>
      <p:sp>
        <p:nvSpPr>
          <p:cNvPr id="35" name="Text 33"/>
          <p:cNvSpPr txBox="1"/>
          <p:nvPr/>
        </p:nvSpPr>
        <p:spPr>
          <a:xfrm>
            <a:off x="548640" y="5852160"/>
            <a:ext cx="10972800" cy="274320"/>
          </a:xfrm>
          <a:prstGeom prst="rect">
            <a:avLst/>
          </a:prstGeom>
          <a:noFill/>
          <a:ln/>
        </p:spPr>
        <p:txBody>
          <a:bodyPr wrap="square" lIns="0" tIns="0" rIns="0" bIns="0" rtlCol="0" anchor="t"/>
          <a:lstStyle/>
          <a:p>
            <a:pPr marL="0" indent="0">
              <a:buNone/>
            </a:pPr>
            <a:r>
              <a:rPr lang="en-US" sz="1100" b="1" dirty="0">
                <a:solidFill>
                  <a:schemeClr val="tx2"/>
                </a:solidFill>
              </a:rPr>
              <a:t>Steven Nikolov, Principal  |  steven@onyxcfo.com  |  direct 480-999-5509</a:t>
            </a:r>
            <a:endParaRPr lang="en-US" sz="1100" dirty="0"/>
          </a:p>
        </p:txBody>
      </p:sp>
      <p:sp>
        <p:nvSpPr>
          <p:cNvPr id="36" name="Text 34"/>
          <p:cNvSpPr txBox="1"/>
          <p:nvPr/>
        </p:nvSpPr>
        <p:spPr>
          <a:xfrm>
            <a:off x="548640" y="6108192"/>
            <a:ext cx="10972800" cy="274320"/>
          </a:xfrm>
          <a:prstGeom prst="rect">
            <a:avLst/>
          </a:prstGeom>
          <a:noFill/>
          <a:ln/>
        </p:spPr>
        <p:txBody>
          <a:bodyPr wrap="square" lIns="0" tIns="0" rIns="0" bIns="0" rtlCol="0" anchor="t"/>
          <a:lstStyle/>
          <a:p>
            <a:pPr marL="0" indent="0">
              <a:buNone/>
            </a:pPr>
            <a:r>
              <a:rPr lang="en-US" sz="1100" dirty="0">
                <a:solidFill>
                  <a:schemeClr val="accent3"/>
                </a:solidFill>
              </a:rPr>
              <a:t>Josephine Mack, Chief of Staff &amp; Client Relations  |  jmack@onyxcfo.com</a:t>
            </a:r>
            <a:endParaRPr lang="en-US" sz="1100" dirty="0"/>
          </a:p>
        </p:txBody>
      </p:sp>
      <p:sp>
        <p:nvSpPr>
          <p:cNvPr id="37"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472"/>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2194560"/>
            <a:ext cx="7315200" cy="731520"/>
          </a:xfrm>
          <a:prstGeom prst="rect">
            <a:avLst/>
          </a:prstGeom>
          <a:noFill/>
          <a:ln/>
        </p:spPr>
        <p:txBody>
          <a:bodyPr wrap="square" lIns="0" tIns="0" rIns="0" bIns="0" rtlCol="0" anchor="t"/>
          <a:lstStyle/>
          <a:p>
            <a:pPr marL="0" indent="0">
              <a:buNone/>
            </a:pPr>
            <a:r>
              <a:rPr lang="en-US" sz="3400" dirty="0">
                <a:solidFill>
                  <a:schemeClr val="bg1"/>
                </a:solidFill>
                <a:latin typeface="Cambria" pitchFamily="34" charset="0"/>
                <a:ea typeface="Cambria" pitchFamily="34" charset="-122"/>
                <a:cs typeface="Cambria" pitchFamily="34" charset="-120"/>
              </a:rPr>
              <a:t>Thank you</a:t>
            </a:r>
            <a:endParaRPr lang="en-US" sz="3400" dirty="0"/>
          </a:p>
        </p:txBody>
      </p:sp>
      <p:sp>
        <p:nvSpPr>
          <p:cNvPr id="3" name="Text 1"/>
          <p:cNvSpPr txBox="1"/>
          <p:nvPr/>
        </p:nvSpPr>
        <p:spPr>
          <a:xfrm>
            <a:off x="548640" y="3017520"/>
            <a:ext cx="6858000" cy="822960"/>
          </a:xfrm>
          <a:prstGeom prst="rect">
            <a:avLst/>
          </a:prstGeom>
          <a:noFill/>
          <a:ln/>
        </p:spPr>
        <p:txBody>
          <a:bodyPr wrap="square" lIns="0" tIns="0" rIns="0" bIns="0" rtlCol="0" anchor="t"/>
          <a:lstStyle/>
          <a:p>
            <a:pPr marL="0" indent="0">
              <a:buNone/>
            </a:pPr>
            <a:r>
              <a:rPr lang="en-US" sz="1400" dirty="0">
                <a:solidFill>
                  <a:schemeClr val="bg1"/>
                </a:solidFill>
              </a:rPr>
              <a:t>We appreciate the opportunity to earn the practice's business and to become a trusted partner to the physicians.</a:t>
            </a:r>
            <a:endParaRPr lang="en-US" sz="1400" dirty="0"/>
          </a:p>
        </p:txBody>
      </p:sp>
      <p:sp>
        <p:nvSpPr>
          <p:cNvPr id="4" name="Text 2"/>
          <p:cNvSpPr txBox="1"/>
          <p:nvPr/>
        </p:nvSpPr>
        <p:spPr>
          <a:xfrm>
            <a:off x="548640" y="4754880"/>
            <a:ext cx="4572000" cy="1280160"/>
          </a:xfrm>
          <a:prstGeom prst="rect">
            <a:avLst/>
          </a:prstGeom>
          <a:noFill/>
          <a:ln/>
        </p:spPr>
        <p:txBody>
          <a:bodyPr wrap="square" lIns="0" tIns="0" rIns="0" bIns="0" rtlCol="0" anchor="t"/>
          <a:lstStyle/>
          <a:p>
            <a:pPr marL="0" indent="0">
              <a:lnSpc>
                <a:spcPct val="115000"/>
              </a:lnSpc>
              <a:buNone/>
            </a:pPr>
            <a:r>
              <a:rPr lang="en-US" sz="1200" dirty="0">
                <a:solidFill>
                  <a:schemeClr val="bg1"/>
                </a:solidFill>
              </a:rPr>
              <a:t>Onyx Accounting Group, LLC</a:t>
            </a:r>
            <a:endParaRPr lang="en-US" sz="1200" dirty="0"/>
          </a:p>
          <a:p>
            <a:pPr marL="0" indent="0">
              <a:lnSpc>
                <a:spcPct val="115000"/>
              </a:lnSpc>
              <a:buNone/>
            </a:pPr>
            <a:r>
              <a:rPr lang="en-US" sz="1200" dirty="0">
                <a:solidFill>
                  <a:schemeClr val="bg1"/>
                </a:solidFill>
              </a:rPr>
              <a:t>14614 N Kierland Blvd, Suite N220</a:t>
            </a:r>
            <a:endParaRPr lang="en-US" sz="1200" dirty="0"/>
          </a:p>
          <a:p>
            <a:pPr marL="0" indent="0">
              <a:lnSpc>
                <a:spcPct val="115000"/>
              </a:lnSpc>
              <a:buNone/>
            </a:pPr>
            <a:r>
              <a:rPr lang="en-US" sz="1200" dirty="0">
                <a:solidFill>
                  <a:schemeClr val="bg1"/>
                </a:solidFill>
              </a:rPr>
              <a:t>Scottsdale, AZ 85254</a:t>
            </a:r>
            <a:endParaRPr lang="en-US" sz="1200" dirty="0"/>
          </a:p>
          <a:p>
            <a:pPr marL="0" indent="0">
              <a:lnSpc>
                <a:spcPct val="115000"/>
              </a:lnSpc>
              <a:buNone/>
            </a:pPr>
            <a:r>
              <a:rPr lang="en-US" sz="1200" dirty="0">
                <a:solidFill>
                  <a:schemeClr val="bg1"/>
                </a:solidFill>
              </a:rPr>
              <a:t>onyxcfo.com</a:t>
            </a:r>
            <a:endParaRPr lang="en-US" sz="1200" dirty="0"/>
          </a:p>
        </p:txBody>
      </p:sp>
      <p:sp>
        <p:nvSpPr>
          <p:cNvPr id="5" name="logo plate"/>
          <p:cNvSpPr/>
          <p:nvPr/>
        </p:nvSpPr>
        <p:spPr>
          <a:xfrm>
            <a:off x="8138160" y="2011680"/>
            <a:ext cx="3474720" cy="1463040"/>
          </a:xfrm>
          <a:prstGeom prst="rect">
            <a:avLst/>
          </a:prstGeom>
          <a:solidFill>
            <a:schemeClr val="bg1"/>
          </a:solidFill>
          <a:ln w="12700">
            <a:solidFill>
              <a:srgbClr val="FFFFFF"/>
            </a:solidFill>
            <a:prstDash val="solid"/>
          </a:ln>
        </p:spPr>
        <p:txBody>
          <a:bodyPr/>
          <a:lstStyle/>
          <a:p>
            <a:endParaRPr lang="en-US"/>
          </a:p>
        </p:txBody>
      </p:sp>
      <p:pic>
        <p:nvPicPr>
          <p:cNvPr id="8" name="Client logo" descr="AZHandCenter.png"/>
          <p:cNvPicPr>
            <a:picLocks noChangeAspect="1"/>
          </p:cNvPicPr>
          <p:nvPr/>
        </p:nvPicPr>
        <p:blipFill>
          <a:blip r:embed="rId4"/>
          <a:stretch>
            <a:fillRect/>
          </a:stretch>
        </p:blipFill>
        <p:spPr>
          <a:xfrm>
            <a:off x="8458200" y="2415398"/>
            <a:ext cx="2834640" cy="579709"/>
          </a:xfrm>
          <a:prstGeom prst="rect">
            <a:avLst/>
          </a:prstGeom>
        </p:spPr>
      </p:pic>
      <p:sp>
        <p:nvSpPr>
          <p:cNvPr id="7" name="Text 4"/>
          <p:cNvSpPr txBox="1"/>
          <p:nvPr/>
        </p:nvSpPr>
        <p:spPr>
          <a:xfrm>
            <a:off x="8138160" y="3657600"/>
            <a:ext cx="3657600" cy="640080"/>
          </a:xfrm>
          <a:prstGeom prst="rect">
            <a:avLst/>
          </a:prstGeom>
          <a:noFill/>
          <a:ln/>
        </p:spPr>
        <p:txBody>
          <a:bodyPr wrap="square" lIns="0" tIns="0" rIns="0" bIns="0" rtlCol="0" anchor="t"/>
          <a:lstStyle/>
          <a:p>
            <a:pPr marL="0" indent="0">
              <a:buNone/>
            </a:pPr>
            <a:r>
              <a:rPr lang="en-US" sz="1100" dirty="0">
                <a:solidFill>
                  <a:schemeClr val="bg1"/>
                </a:solidFill>
              </a:rPr>
              <a:t>Prepared for</a:t>
            </a:r>
            <a:endParaRPr lang="en-US" sz="1100" dirty="0"/>
          </a:p>
          <a:p>
            <a:pPr marL="0" indent="0">
              <a:buNone/>
            </a:pPr>
            <a:r>
              <a:rPr lang="en-US" sz="1100" dirty="0">
                <a:solidFill>
                  <a:schemeClr val="bg1"/>
                </a:solidFill>
              </a:rPr>
              <a:t>Arizona Center for Hand to Shoulder Surgery</a:t>
            </a:r>
            <a:endParaRPr lang="en-US" sz="1100" dirty="0"/>
          </a:p>
          <a:p>
            <a:pPr marL="0" indent="0">
              <a:buNone/>
            </a:pPr>
            <a:r>
              <a:rPr lang="en-US" sz="1100" dirty="0">
                <a:solidFill>
                  <a:schemeClr val="bg1"/>
                </a:solidFill>
              </a:rPr>
              <a:t>Mark Williamson, CFO</a:t>
            </a:r>
            <a:endParaRPr lang="en-US" sz="1100" dirty="0"/>
          </a:p>
        </p:txBody>
      </p:sp>
    </p:spTree>
  </p:cSld>
  <p:clrMapOvr>
    <a:masterClrMapping/>
  </p:clrMapOvr>
</p:sld>
</file>

<file path=ppt/theme/theme1.xml><?xml version="1.0" encoding="utf-8"?>
<a:theme xmlns:a="http://schemas.openxmlformats.org/drawingml/2006/main" name="ONYX Proposal">
  <a:themeElements>
    <a:clrScheme name="ONYX Proposal">
      <a:dk1>
        <a:srgbClr val="16181D"/>
      </a:dk1>
      <a:lt1>
        <a:srgbClr val="FFFFFF"/>
      </a:lt1>
      <a:dk2>
        <a:srgbClr val="1B2A49"/>
      </a:dk2>
      <a:lt2>
        <a:srgbClr val="F3F4F6"/>
      </a:lt2>
      <a:accent1>
        <a:srgbClr val="1B2A49"/>
      </a:accent1>
      <a:accent2>
        <a:srgbClr val="AF1F29"/>
      </a:accent2>
      <a:accent3>
        <a:srgbClr val="5B6472"/>
      </a:accent3>
      <a:accent4>
        <a:srgbClr val="D5D9E0"/>
      </a:accent4>
      <a:accent5>
        <a:srgbClr val="E9EDF4"/>
      </a:accent5>
      <a:accent6>
        <a:srgbClr val="3E5C8A"/>
      </a:accent6>
      <a:hlink>
        <a:srgbClr val="1B2A49"/>
      </a:hlink>
      <a:folHlink>
        <a:srgbClr val="5B6472"/>
      </a:folHlink>
    </a:clrScheme>
    <a:fontScheme name="ONYX Propos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3133</Words>
  <Application>Microsoft Office PowerPoint</Application>
  <PresentationFormat>Widescreen</PresentationFormat>
  <Paragraphs>365</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Cambria</vt:lpstr>
      <vt:lpstr>ONYX Proposal</vt:lpstr>
      <vt:lpstr>PowerPoint Presentation</vt:lpstr>
      <vt:lpstr>A note to Marc and the leadership team</vt:lpstr>
      <vt:lpstr>What this proposal covers</vt:lpstr>
      <vt:lpstr>Onyx Accounting Group</vt:lpstr>
      <vt:lpstr>Your engagement team</vt:lpstr>
      <vt:lpstr>Our understanding of George Brazil</vt:lpstr>
      <vt:lpstr>Services proposed for George Brazil</vt:lpstr>
      <vt:lpstr>How we will work together</vt:lpstr>
      <vt:lpstr>October 2026 through March 2027</vt:lpstr>
      <vt:lpstr>The first 90 days</vt:lpstr>
      <vt:lpstr>What you receive, and when</vt:lpstr>
      <vt:lpstr>Hourly rates and billing terms</vt:lpstr>
      <vt:lpstr>What a team gives you, and how we start</vt:lpstr>
      <vt:lpstr>PowerPoint Presentation</vt:lpstr>
    </vt:vector>
  </TitlesOfParts>
  <Company>Onyx Accounting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ONYX Proposal: Arizona Center for Hand to Shoulder Surgery</dc:title>
  <dc:subject>Proposal for Accounting, Controller and CFO Services</dc:subject>
  <dc:creator>Onyx Accounting Group</dc:creator>
  <cp:lastModifiedBy>Steven Nikolov</cp:lastModifiedBy>
  <cp:revision>4</cp:revision>
  <dcterms:created xsi:type="dcterms:W3CDTF">2026-10-05T09:00:00Z</dcterms:created>
  <dcterms:modified xsi:type="dcterms:W3CDTF">2026-10-05T09:00:00Z</dcterms:modified>
</cp:coreProperties>
</file>