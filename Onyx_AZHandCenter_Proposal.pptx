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 Proposal accompanies the ACHS engagement letter.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Arizona Center for Hand to Shoulder Surgery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12" name="Client logo" descr="AZHandCenter_navy.png"/>
          <p:cNvPicPr>
            <a:picLocks noChangeAspect="1"/>
          </p:cNvPicPr>
          <p:nvPr/>
        </p:nvPicPr>
        <p:blipFill>
          <a:blip r:embed="rId5"/>
          <a:stretch>
            <a:fillRect/>
          </a:stretch>
        </p:blipFill>
        <p:spPr>
          <a:xfrm>
            <a:off x="5212080" y="1508760"/>
            <a:ext cx="4480560" cy="711524"/>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Arizona Center for Hand to Shoulder Surgery</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370 E Virginia Ave, Ste 100, Phoenix, AZ 85004</a:t>
            </a:r>
            <a:endParaRPr lang="en-US" sz="1200" dirty="0"/>
          </a:p>
          <a:p>
            <a:pPr marL="0" indent="0">
              <a:buNone/>
            </a:pPr>
            <a:r>
              <a:rPr lang="en-US" sz="1200" dirty="0">
                <a:solidFill>
                  <a:schemeClr val="accent3"/>
                </a:solidFill>
              </a:rPr>
              <a:t>Attn: Mark Williamson, CFO</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&amp;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Mark and the physicians</a:t>
            </a:r>
            <a:endParaRPr lang="en-US" sz="2800" dirty="0"/>
          </a:p>
        </p:txBody>
      </p:sp>
      <p:sp>
        <p:nvSpPr>
          <p:cNvPr id="4" name="Text 2"/>
          <p:cNvSpPr txBox="1"/>
          <p:nvPr/>
        </p:nvSpPr>
        <p:spPr>
          <a:xfrm>
            <a:off x="548640" y="1600200"/>
            <a:ext cx="3383280" cy="1828800"/>
          </a:xfrm>
          <a:prstGeom prst="rect">
            <a:avLst/>
          </a:prstGeom>
          <a:noFill/>
          <a:ln/>
        </p:spPr>
        <p:txBody>
          <a:bodyPr wrap="square" lIns="0" tIns="0" rIns="0" bIns="0" rtlCol="0" anchor="t"/>
          <a:lstStyle/>
          <a:p>
            <a:pPr marL="0" indent="0">
              <a:lnSpc>
                <a:spcPct val="115000"/>
              </a:lnSpc>
              <a:buNone/>
            </a:pPr>
            <a:r>
              <a:rPr lang="en-US" sz="1100" dirty="0">
                <a:solidFill>
                  <a:schemeClr val="accent3"/>
                </a:solidFill>
              </a:rPr>
              <a:t>October 7, 2026</a:t>
            </a:r>
            <a:endParaRPr lang="en-US" sz="1200" dirty="0"/>
          </a:p>
          <a:p>
            <a:pPr marL="0" indent="0">
              <a:lnSpc>
                <a:spcPct val="115000"/>
              </a:lnSpc>
              <a:buNone/>
            </a:pPr>
            <a:endParaRPr lang="en-US" sz="1200" dirty="0"/>
          </a:p>
          <a:p>
            <a:pPr marL="0" indent="0">
              <a:lnSpc>
                <a:spcPct val="115000"/>
              </a:lnSpc>
              <a:buNone/>
            </a:pPr>
            <a:r>
              <a:rPr lang="en-US" sz="1100" dirty="0">
                <a:solidFill>
                  <a:schemeClr val="accent3"/>
                </a:solidFill>
              </a:rPr>
              <a:t>Mark Williamson, CFO</a:t>
            </a:r>
            <a:endParaRPr lang="en-US" sz="1200" dirty="0"/>
          </a:p>
          <a:p>
            <a:pPr marL="0" indent="0">
              <a:lnSpc>
                <a:spcPct val="115000"/>
              </a:lnSpc>
              <a:buNone/>
            </a:pPr>
            <a:r>
              <a:rPr lang="en-US" sz="1100" dirty="0">
                <a:solidFill>
                  <a:schemeClr val="accent3"/>
                </a:solidFill>
              </a:rPr>
              <a:t>Arizona Center for Hand to Shoulder Surgery</a:t>
            </a:r>
            <a:endParaRPr lang="en-US" sz="1200" dirty="0"/>
          </a:p>
          <a:p>
            <a:pPr marL="0" indent="0">
              <a:lnSpc>
                <a:spcPct val="115000"/>
              </a:lnSpc>
              <a:buNone/>
            </a:pPr>
            <a:r>
              <a:rPr lang="en-US" sz="1100" dirty="0">
                <a:solidFill>
                  <a:schemeClr val="accent3"/>
                </a:solidFill>
              </a:rPr>
              <a:t>370 E Virginia Ave, Ste 100</a:t>
            </a:r>
            <a:endParaRPr lang="en-US" sz="1200" dirty="0"/>
          </a:p>
          <a:p>
            <a:pPr marL="0" indent="0">
              <a:lnSpc>
                <a:spcPct val="115000"/>
              </a:lnSpc>
              <a:buNone/>
            </a:pPr>
            <a:r>
              <a:rPr lang="en-US" sz="1100" dirty="0">
                <a:solidFill>
                  <a:schemeClr val="accent3"/>
                </a:solidFill>
              </a:rPr>
              <a:t>Phoenix, AZ 85004</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Mark,</a:t>
            </a:r>
            <a:endParaRPr lang="en-US" sz="1250" dirty="0"/>
          </a:p>
          <a:p>
            <a:pPr marL="0" indent="0">
              <a:lnSpc>
                <a:spcPct val="112000"/>
              </a:lnSpc>
              <a:spcAft>
                <a:spcPts val="1000"/>
              </a:spcAft>
              <a:buNone/>
            </a:pPr>
            <a:r>
              <a:rPr lang="en-US" sz="1250" dirty="0">
                <a:solidFill>
                  <a:schemeClr val="tx1"/>
                </a:solidFill>
              </a:rPr>
              <a:t>Thank you for the time you gave us on our October 5 call. This proposal accompanies the enclosed engagement letter and describes how Onyx Accounting Group would support Arizona Center for Hand to Shoulder Surgery as you move toward retirement.</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a consistent senior finance contact for the physicians, knowledge transfer from you before you retire, and a monthly close that stays on track across all three entities. Behind that sits the work that needs controller and CFO judgment: physician compensation and the mid-month bonus, revenue-cycle and borrowing-base reporting, less manual work between eClinicalWorks, payroll and QuickBooks Online, and an automation roadmap with review controls.</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you can start with CFO plus controller, controller-led or staff support and change the mix by email.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walk through any part of this proposal before October 16.</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the practice,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April 2027</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are an Elite Level Partner of Intuit (QuickBooks Online) and work inside our clients' own systems as an extension of their finance team, covering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0657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0657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020056"/>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294376"/>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3867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14223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482803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10235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as your relationship lead. Lisa Danforth, CPA, provides CFO-level support, and Jessica Bumphus leads the controller work. Staff support is assigned as the work settles, and the mix is adjusted with you.</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057400"/>
          <a:ext cx="11091672" cy="310896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Relationship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Overall direction and quality. CFO-level work: close design, board and lender reporting, budgeting and forecasting, covenant matters,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Lisa Danforth, CPA</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CFO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CFO-level support alongside Steven: management and board reporting, physician compensation review, budgeting and forecasting, a second senior contact for the physicians.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Weekly during the first 90 days, then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Leads the monthly close, reviews the team's reconciliations and entries, supports physician compensation and revenue-cycle reporting, drives the systems and automation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05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05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05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payroll and physician compensation. ONYX works from view access to bank and loan accounts and from the access you grant in QuickBooks Online, eClinicalWorks reports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the practice</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The practice. </a:t>
            </a:r>
            <a:r>
              <a:rPr lang="en-US" sz="1150" dirty="0">
                <a:solidFill>
                  <a:schemeClr val="tx1"/>
                </a:solidFill>
              </a:rPr>
              <a:t>Physician-owned hand and trauma practice since 2000: 15 surgeons, five clinics with therapy suites, 24/7 trauma call at 17 hospitals. Revenue over $32 million.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Mark Williamson, CFO, retiring. A supervisory accountant, three staff and an international AP resource.</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QuickBooks Online with physician classes, eClinicalWorks for EMR and billing, Paylocity payroll (Paychex under evaluation).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Lines of credit with borrowing-base reporting. Entities: the practice, a surgery center acquired in 2024 and Arizona Pharmacy Consultants.</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Dependable finance leadership now, without waiting for another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Controller-led close and operational finance, with knowledge transfer from Mark before he retires.</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A consistent senior contact the physicians can trust and reach.</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eClinicalWorks, payroll and QuickBooks Online, with review controls on any automation.</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A path that can grow into broader CFO leadership: budgeting, board and lender reporting.</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Knowledge transfer from Mark</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Annual shareholder board meeting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CBIZ tax package</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mid-month physician bonus and revenue-cycle analytics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Mar 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Benefits renewal, with Paychex under review</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5 call with Mark and the job description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the practice</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reconciliations and entries prepared by the internal team</a:t>
            </a:r>
            <a:endParaRPr lang="en-US" sz="1150" dirty="0"/>
          </a:p>
          <a:p>
            <a:pPr marL="152400" indent="-152400">
              <a:spcAft>
                <a:spcPts val="400"/>
              </a:spcAft>
              <a:buSzPct val="100000"/>
              <a:buChar char="•"/>
            </a:pPr>
            <a:r>
              <a:rPr lang="en-US" sz="1150" dirty="0">
                <a:solidFill>
                  <a:schemeClr val="tx1"/>
                </a:solidFill>
              </a:rPr>
              <a:t>Support physician compensation: class allocations and the mid-month bonus</a:t>
            </a:r>
            <a:endParaRPr lang="en-US" sz="1150" dirty="0"/>
          </a:p>
          <a:p>
            <a:pPr marL="152400" indent="-152400">
              <a:spcAft>
                <a:spcPts val="400"/>
              </a:spcAft>
              <a:buSzPct val="100000"/>
              <a:buChar char="•"/>
            </a:pPr>
            <a:r>
              <a:rPr lang="en-US" sz="1150" dirty="0">
                <a:solidFill>
                  <a:schemeClr val="tx1"/>
                </a:solidFill>
              </a:rPr>
              <a:t>Document close procedures and controls</a:t>
            </a:r>
            <a:endParaRPr lang="en-US" sz="1150" dirty="0"/>
          </a:p>
          <a:p>
            <a:pPr marL="152400" indent="-152400">
              <a:spcAft>
                <a:spcPts val="400"/>
              </a:spcAft>
              <a:buSzPct val="100000"/>
              <a:buChar char="•"/>
            </a:pPr>
            <a:r>
              <a:rPr lang="en-US" sz="1150" dirty="0">
                <a:solidFill>
                  <a:schemeClr val="tx1"/>
                </a:solidFill>
              </a:rPr>
              <a:t>Guide the internal team on AP, AR and the ledger; day-to-day contact</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Board and lender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reporting and analysis by entity for the physicians and shareholders</a:t>
            </a:r>
            <a:endParaRPr lang="en-US" sz="1150" dirty="0"/>
          </a:p>
          <a:p>
            <a:pPr marL="152400" indent="-152400">
              <a:spcAft>
                <a:spcPts val="400"/>
              </a:spcAft>
              <a:buSzPct val="100000"/>
              <a:buChar char="•"/>
            </a:pPr>
            <a:r>
              <a:rPr lang="en-US" sz="1150" dirty="0">
                <a:solidFill>
                  <a:schemeClr val="tx1"/>
                </a:solidFill>
              </a:rPr>
              <a:t>Borrowing-base and covenant reporting to your lenders</a:t>
            </a:r>
            <a:endParaRPr lang="en-US" sz="1150" dirty="0"/>
          </a:p>
          <a:p>
            <a:pPr marL="152400" indent="-152400">
              <a:spcAft>
                <a:spcPts val="400"/>
              </a:spcAft>
              <a:buSzPct val="100000"/>
              <a:buChar char="•"/>
            </a:pPr>
            <a:r>
              <a:rPr lang="en-US" sz="1150" dirty="0">
                <a:solidFill>
                  <a:schemeClr val="tx1"/>
                </a:solidFill>
              </a:rPr>
              <a:t>Revenue-cycle analysis: charges, collection rates, denials</a:t>
            </a:r>
            <a:endParaRPr lang="en-US" sz="1150" dirty="0"/>
          </a:p>
          <a:p>
            <a:pPr marL="152400" indent="-152400">
              <a:spcAft>
                <a:spcPts val="400"/>
              </a:spcAft>
              <a:buSzPct val="100000"/>
              <a:buChar char="•"/>
            </a:pPr>
            <a:r>
              <a:rPr lang="en-US" sz="1150" dirty="0">
                <a:solidFill>
                  <a:schemeClr val="tx1"/>
                </a:solidFill>
              </a:rPr>
              <a:t>Results presented to the executive board and at the December meeting</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variance analysis</a:t>
            </a:r>
            <a:endParaRPr lang="en-US" sz="1150" dirty="0"/>
          </a:p>
          <a:p>
            <a:pPr marL="152400" indent="-152400">
              <a:spcAft>
                <a:spcPts val="400"/>
              </a:spcAft>
              <a:buSzPct val="100000"/>
              <a:buChar char="•"/>
            </a:pPr>
            <a:r>
              <a:rPr lang="en-US" sz="1150" dirty="0">
                <a:solidFill>
                  <a:schemeClr val="tx1"/>
                </a:solidFill>
              </a:rPr>
              <a:t>Relationship lead and finance contact for the physicians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Coordination with CBIZ, counsel, USI and your plan advisors</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Review the QuickBooks class structure, workflows and controls</a:t>
            </a:r>
            <a:endParaRPr lang="en-US" sz="1150" dirty="0"/>
          </a:p>
          <a:p>
            <a:pPr marL="152400" indent="-152400">
              <a:spcAft>
                <a:spcPts val="400"/>
              </a:spcAft>
              <a:buSzPct val="100000"/>
              <a:buChar char="•"/>
            </a:pPr>
            <a:r>
              <a:rPr lang="en-US" sz="1150" dirty="0">
                <a:solidFill>
                  <a:schemeClr val="tx1"/>
                </a:solidFill>
              </a:rPr>
              <a:t>Reduce manual steps between eClinicalWorks, payroll and the ledger</a:t>
            </a:r>
            <a:endParaRPr lang="en-US" sz="1150" dirty="0"/>
          </a:p>
          <a:p>
            <a:pPr marL="152400" indent="-152400">
              <a:spcAft>
                <a:spcPts val="400"/>
              </a:spcAft>
              <a:buSzPct val="100000"/>
              <a:buChar char="•"/>
            </a:pPr>
            <a:r>
              <a:rPr lang="en-US" sz="1150" dirty="0">
                <a:solidFill>
                  <a:schemeClr val="tx1"/>
                </a:solidFill>
              </a:rPr>
              <a:t>Automation roadmap for AP, payroll journals, close checklists and KPI dashboards</a:t>
            </a:r>
            <a:endParaRPr lang="en-US" sz="1150" dirty="0"/>
          </a:p>
          <a:p>
            <a:pPr marL="152400" indent="-152400">
              <a:spcAft>
                <a:spcPts val="400"/>
              </a:spcAft>
              <a:buSzPct val="100000"/>
              <a:buChar char="•"/>
            </a:pPr>
            <a:r>
              <a:rPr lang="en-US" sz="1150" dirty="0">
                <a:solidFill>
                  <a:schemeClr val="tx1"/>
                </a:solidFill>
              </a:rPr>
              <a:t>Review controls on every automated output</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Provide information for audits and regulatory reviews; ONYX gives no opinion or assurance</a:t>
            </a:r>
            <a:endParaRPr lang="en-US" sz="1150" dirty="0"/>
          </a:p>
          <a:p>
            <a:pPr marL="152400" indent="-152400">
              <a:spcAft>
                <a:spcPts val="400"/>
              </a:spcAft>
              <a:buSzPct val="100000"/>
              <a:buChar char="•"/>
            </a:pPr>
            <a:r>
              <a:rPr lang="en-US" sz="1150" dirty="0">
                <a:solidFill>
                  <a:schemeClr val="tx1"/>
                </a:solidFill>
              </a:rPr>
              <a:t>Organize everything CBIZ needs for the returns; ONYX does not prepare or file tax returns</a:t>
            </a:r>
            <a:endParaRPr lang="en-US" sz="1150" dirty="0"/>
          </a:p>
          <a:p>
            <a:pPr marL="152400" indent="-152400">
              <a:spcAft>
                <a:spcPts val="400"/>
              </a:spcAft>
              <a:buSzPct val="100000"/>
              <a:buChar char="•"/>
            </a:pPr>
            <a:r>
              <a:rPr lang="en-US" sz="1150" dirty="0">
                <a:solidFill>
                  <a:schemeClr val="tx1"/>
                </a:solidFill>
              </a:rPr>
              <a:t>Support payroll journals and the evaluation of Paychex</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enclosed engagement letter.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QuickBooks Online, with view access to bank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Mark</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the practice</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wire, new vendor, payroll change and bonus</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Review and approval of bank statements and reconciliations</a:t>
            </a:r>
            <a:endParaRPr lang="en-US" sz="1150" dirty="0"/>
          </a:p>
          <a:p>
            <a:pPr marL="152400" indent="-152400">
              <a:spcAft>
                <a:spcPts val="400"/>
              </a:spcAft>
              <a:buSzPct val="100000"/>
              <a:buChar char="•"/>
            </a:pPr>
            <a:r>
              <a:rPr lang="en-US" sz="1150" dirty="0">
                <a:solidFill>
                  <a:schemeClr val="tx1"/>
                </a:solidFill>
              </a:rPr>
              <a:t>Tax filings, through CBIZ</a:t>
            </a:r>
            <a:endParaRPr lang="en-US" sz="1150" dirty="0"/>
          </a:p>
          <a:p>
            <a:pPr marL="152400" indent="-152400">
              <a:spcAft>
                <a:spcPts val="400"/>
              </a:spcAft>
              <a:buSzPct val="100000"/>
              <a:buChar char="•"/>
            </a:pPr>
            <a:r>
              <a:rPr lang="en-US" sz="1150" dirty="0">
                <a:solidFill>
                  <a:schemeClr val="tx1"/>
                </a:solidFill>
              </a:rPr>
              <a:t>Patient billing, coding and payer compliance, owned by the revenue-cycle team; ONYX reconciles and reports</a:t>
            </a:r>
            <a:endParaRPr lang="en-US" sz="1150" dirty="0"/>
          </a:p>
          <a:p>
            <a:pPr marL="152400" indent="-152400">
              <a:spcAft>
                <a:spcPts val="400"/>
              </a:spcAft>
              <a:buSzPct val="100000"/>
              <a:buChar char="•"/>
            </a:pPr>
            <a:r>
              <a:rPr lang="en-US" sz="1150" dirty="0">
                <a:solidFill>
                  <a:schemeClr val="tx1"/>
                </a:solidFill>
              </a:rPr>
              <a:t>A primary point of contact, with Mark and the staff available for onboarding</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audits; we support them with information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Signing authority, moving money, legal advice</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Mark; executive board as needed; shareholder meeting each December. Quarterly review of scope, staffing mix and fees.</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November 2026 through April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Apr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transfer from Mark</a:t>
            </a:r>
            <a:endParaRPr lang="en-US" sz="1050" dirty="0"/>
          </a:p>
        </p:txBody>
      </p:sp>
      <p:sp>
        <p:nvSpPr>
          <p:cNvPr id="18" name="bar 0"/>
          <p:cNvSpPr/>
          <p:nvPr/>
        </p:nvSpPr>
        <p:spPr>
          <a:xfrm>
            <a:off x="4302709" y="1965960"/>
            <a:ext cx="1064818"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0" name="bar 1"/>
          <p:cNvSpPr/>
          <p:nvPr/>
        </p:nvSpPr>
        <p:spPr>
          <a:xfrm>
            <a:off x="4741164" y="2304288"/>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Physician bonus and revenue-cycle reporting</a:t>
            </a:r>
            <a:endParaRPr lang="en-US" sz="1050" dirty="0"/>
          </a:p>
        </p:txBody>
      </p:sp>
      <p:sp>
        <p:nvSpPr>
          <p:cNvPr id="23" name="bar 2"/>
          <p:cNvSpPr/>
          <p:nvPr/>
        </p:nvSpPr>
        <p:spPr>
          <a:xfrm>
            <a:off x="4741164" y="2642616"/>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Borrowing-base package and lender reporting</a:t>
            </a:r>
            <a:endParaRPr lang="en-US" sz="1050" dirty="0"/>
          </a:p>
        </p:txBody>
      </p:sp>
      <p:sp>
        <p:nvSpPr>
          <p:cNvPr id="25" name="bar 3"/>
          <p:cNvSpPr/>
          <p:nvPr/>
        </p:nvSpPr>
        <p:spPr>
          <a:xfrm>
            <a:off x="5367528" y="2980944"/>
            <a:ext cx="6263640"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QuickBooks classes and EMR-to-ledger mapping</a:t>
            </a:r>
            <a:endParaRPr lang="en-US" sz="1050" dirty="0"/>
          </a:p>
        </p:txBody>
      </p:sp>
      <p:sp>
        <p:nvSpPr>
          <p:cNvPr id="28" name="bar 4"/>
          <p:cNvSpPr/>
          <p:nvPr/>
        </p:nvSpPr>
        <p:spPr>
          <a:xfrm>
            <a:off x="5743346" y="3319272"/>
            <a:ext cx="2756001"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December shareholder meeting (date to confirm)</a:t>
            </a:r>
            <a:endParaRPr lang="en-US" sz="1050" dirty="0"/>
          </a:p>
        </p:txBody>
      </p:sp>
      <p:sp>
        <p:nvSpPr>
          <p:cNvPr id="30" name="bar 5"/>
          <p:cNvSpPr/>
          <p:nvPr/>
        </p:nvSpPr>
        <p:spPr>
          <a:xfrm>
            <a:off x="5868619" y="3657600"/>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retirement-plan year-end data</a:t>
            </a:r>
            <a:endParaRPr lang="en-US" sz="1050" dirty="0"/>
          </a:p>
        </p:txBody>
      </p:sp>
      <p:sp>
        <p:nvSpPr>
          <p:cNvPr id="33" name="bar 6"/>
          <p:cNvSpPr/>
          <p:nvPr/>
        </p:nvSpPr>
        <p:spPr>
          <a:xfrm>
            <a:off x="6620256" y="3995928"/>
            <a:ext cx="1503273"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Automation roadmap with review controls</a:t>
            </a:r>
            <a:endParaRPr lang="en-US" sz="1050" dirty="0"/>
          </a:p>
        </p:txBody>
      </p:sp>
      <p:sp>
        <p:nvSpPr>
          <p:cNvPr id="35" name="bar 7"/>
          <p:cNvSpPr/>
          <p:nvPr/>
        </p:nvSpPr>
        <p:spPr>
          <a:xfrm>
            <a:off x="6996074" y="4334256"/>
            <a:ext cx="3382365"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CFO reporting rhythm</a:t>
            </a:r>
            <a:endParaRPr lang="en-US" sz="1050" dirty="0"/>
          </a:p>
        </p:txBody>
      </p:sp>
      <p:sp>
        <p:nvSpPr>
          <p:cNvPr id="38" name="bar 8"/>
          <p:cNvSpPr/>
          <p:nvPr/>
        </p:nvSpPr>
        <p:spPr>
          <a:xfrm>
            <a:off x="5993892" y="4672584"/>
            <a:ext cx="5637276"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Benefits renewal (Mar 1)</a:t>
            </a:r>
            <a:endParaRPr lang="en-US" sz="1050" dirty="0"/>
          </a:p>
        </p:txBody>
      </p:sp>
      <p:sp>
        <p:nvSpPr>
          <p:cNvPr id="40" name="bar 9"/>
          <p:cNvSpPr/>
          <p:nvPr/>
        </p:nvSpPr>
        <p:spPr>
          <a:xfrm>
            <a:off x="9125712" y="5010912"/>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20212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66262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392216"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4852720"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664494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10544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7897672"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358176"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4267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0317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in early November 2026 with system access from day one. Red bars are fixed-date events. Dates are confirmed with Mark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Mark; access to QuickBooks, eClinicalWorks, payroll and bank</a:t>
            </a:r>
            <a:endParaRPr lang="en-US" sz="1100" dirty="0"/>
          </a:p>
          <a:p>
            <a:pPr marL="152400" indent="-152400">
              <a:spcAft>
                <a:spcPts val="400"/>
              </a:spcAft>
              <a:buSzPct val="100000"/>
              <a:buChar char="•"/>
            </a:pPr>
            <a:r>
              <a:rPr lang="en-US" sz="1100" dirty="0">
                <a:solidFill>
                  <a:schemeClr val="tx1"/>
                </a:solidFill>
              </a:rPr>
              <a:t>Capture Mark's recurring tasks, files, deadlines and bank contacts</a:t>
            </a:r>
            <a:endParaRPr lang="en-US" sz="1100" dirty="0"/>
          </a:p>
          <a:p>
            <a:pPr marL="152400" indent="-152400">
              <a:spcAft>
                <a:spcPts val="400"/>
              </a:spcAft>
              <a:buSzPct val="100000"/>
              <a:buChar char="•"/>
            </a:pPr>
            <a:r>
              <a:rPr lang="en-US" sz="1100" dirty="0">
                <a:solidFill>
                  <a:schemeClr val="tx1"/>
                </a:solidFill>
              </a:rPr>
              <a:t>Document the close, physician compensation and borrowing-base reporting</a:t>
            </a:r>
            <a:endParaRPr lang="en-US" sz="1100" dirty="0"/>
          </a:p>
          <a:p>
            <a:pPr marL="152400" indent="-152400">
              <a:spcAft>
                <a:spcPts val="400"/>
              </a:spcAft>
              <a:buSzPct val="100000"/>
              <a:buChar char="•"/>
            </a:pPr>
            <a:r>
              <a:rPr lang="en-US" sz="1100" dirty="0">
                <a:solidFill>
                  <a:schemeClr val="tx1"/>
                </a:solidFill>
              </a:rPr>
              <a:t>Take over review of the close and the mid-month bonus process</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October close reviewed, November close under way</a:t>
            </a:r>
            <a:endParaRPr lang="en-US" sz="1100" dirty="0"/>
          </a:p>
          <a:p>
            <a:pPr marL="152400" indent="-152400">
              <a:spcAft>
                <a:spcPts val="400"/>
              </a:spcAft>
              <a:buSzPct val="100000"/>
              <a:buChar char="•"/>
            </a:pPr>
            <a:r>
              <a:rPr lang="en-US" sz="1100" dirty="0">
                <a:solidFill>
                  <a:schemeClr val="tx1"/>
                </a:solidFill>
              </a:rPr>
              <a:t>Open-items tracker in place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November close and deliver management reporting</a:t>
            </a:r>
            <a:endParaRPr lang="en-US" sz="1100" dirty="0"/>
          </a:p>
          <a:p>
            <a:pPr marL="152400" indent="-152400">
              <a:spcAft>
                <a:spcPts val="400"/>
              </a:spcAft>
              <a:buSzPct val="100000"/>
              <a:buChar char="•"/>
            </a:pPr>
            <a:r>
              <a:rPr lang="en-US" sz="1100" dirty="0">
                <a:solidFill>
                  <a:schemeClr val="tx1"/>
                </a:solidFill>
              </a:rPr>
              <a:t>Prepare results for the December shareholder meeting</a:t>
            </a:r>
            <a:endParaRPr lang="en-US" sz="1100" dirty="0"/>
          </a:p>
          <a:p>
            <a:pPr marL="152400" indent="-152400">
              <a:spcAft>
                <a:spcPts val="400"/>
              </a:spcAft>
              <a:buSzPct val="100000"/>
              <a:buChar char="•"/>
            </a:pPr>
            <a:r>
              <a:rPr lang="en-US" sz="1100" dirty="0">
                <a:solidFill>
                  <a:schemeClr val="tx1"/>
                </a:solidFill>
              </a:rPr>
              <a:t>Tie revenue-cycle activity to the ledger; deliver the monthly analysis</a:t>
            </a:r>
            <a:endParaRPr lang="en-US" sz="1100" dirty="0"/>
          </a:p>
          <a:p>
            <a:pPr marL="152400" indent="-152400">
              <a:spcAft>
                <a:spcPts val="400"/>
              </a:spcAft>
              <a:buSzPct val="100000"/>
              <a:buChar char="•"/>
            </a:pPr>
            <a:r>
              <a:rPr lang="en-US" sz="1100" dirty="0">
                <a:solidFill>
                  <a:schemeClr val="tx1"/>
                </a:solidFill>
              </a:rPr>
              <a:t>Map eClinicalWorks, payroll and QuickBooks flows; log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Shareholder meeting package</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Year-end close; year-end data to your retirement-plan advisors</a:t>
            </a:r>
            <a:endParaRPr lang="en-US" sz="1100" dirty="0"/>
          </a:p>
          <a:p>
            <a:pPr marL="152400" indent="-152400">
              <a:spcAft>
                <a:spcPts val="400"/>
              </a:spcAft>
              <a:buSzPct val="100000"/>
              <a:buChar char="•"/>
            </a:pPr>
            <a:r>
              <a:rPr lang="en-US" sz="1100" dirty="0">
                <a:solidFill>
                  <a:schemeClr val="tx1"/>
                </a:solidFill>
              </a:rPr>
              <a:t>QuickBooks class and control review, all entities</a:t>
            </a:r>
            <a:endParaRPr lang="en-US" sz="1100" dirty="0"/>
          </a:p>
          <a:p>
            <a:pPr marL="152400" indent="-152400">
              <a:spcAft>
                <a:spcPts val="400"/>
              </a:spcAft>
              <a:buSzPct val="100000"/>
              <a:buChar char="•"/>
            </a:pPr>
            <a:r>
              <a:rPr lang="en-US" sz="1100" dirty="0">
                <a:solidFill>
                  <a:schemeClr val="tx1"/>
                </a:solidFill>
              </a:rPr>
              <a:t>Automation roadmap with review controls; Paychex support</a:t>
            </a:r>
            <a:endParaRPr lang="en-US" sz="1100" dirty="0"/>
          </a:p>
          <a:p>
            <a:pPr marL="152400" indent="-152400">
              <a:spcAft>
                <a:spcPts val="400"/>
              </a:spcAft>
              <a:buSzPct val="100000"/>
              <a:buChar char="•"/>
            </a:pPr>
            <a:r>
              <a:rPr lang="en-US" sz="1100" dirty="0">
                <a:solidFill>
                  <a:schemeClr val="tx1"/>
                </a:solidFill>
              </a:rPr>
              <a:t>90-day review with Mark: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procedures</a:t>
            </a:r>
            <a:endParaRPr lang="en-US" sz="1100" dirty="0"/>
          </a:p>
          <a:p>
            <a:pPr marL="152400" indent="-152400">
              <a:spcAft>
                <a:spcPts val="400"/>
              </a:spcAft>
              <a:buSzPct val="100000"/>
              <a:buChar char="•"/>
            </a:pPr>
            <a:r>
              <a:rPr lang="en-US" sz="1100" dirty="0">
                <a:solidFill>
                  <a:schemeClr val="tx1"/>
                </a:solidFill>
              </a:rPr>
              <a:t>Year-end books ready for CBIZ</a:t>
            </a:r>
            <a:endParaRPr lang="en-US" sz="1100" dirty="0"/>
          </a:p>
          <a:p>
            <a:pPr marL="152400" indent="-152400">
              <a:spcAft>
                <a:spcPts val="400"/>
              </a:spcAft>
              <a:buSzPct val="100000"/>
              <a:buChar char="•"/>
            </a:pPr>
            <a:r>
              <a:rPr lang="en-US" sz="1100" dirty="0">
                <a:solidFill>
                  <a:schemeClr val="tx1"/>
                </a:solidFill>
              </a:rPr>
              <a:t>Automation roadmap and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borrowing-base reporting, revenue-cycle analysis, budget versus actual, CFO support for the executive board and lenders.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tracker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Biweekly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journal support for each Paylocity run; AP support for the internal team as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reporting by entity; support for the physician bonus calculations; revenue-cycle analysis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Review of scope, staffing mix and fees; lender package on the bank's schedule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December shareholder meeting results; year-end data for your retirement-plan advisors; tax package for CBIZ;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knowledge captured from Mark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QuickBooks Online.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the team's work, physician compensation, revenue-cycle and lender reporting, systems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$250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for the physicians, budgeting and forecasting, board and lender matters, accounting policy,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set after we review the books, applied to the final invoice</a:t>
            </a:r>
            <a:endParaRPr lang="en-US" sz="1150" dirty="0"/>
          </a:p>
          <a:p>
            <a:pPr marL="152400" indent="-152400">
              <a:spcAft>
                <a:spcPts val="400"/>
              </a:spcAft>
              <a:buSzPct val="100000"/>
              <a:buChar char="•"/>
            </a:pPr>
            <a:r>
              <a:rPr lang="en-US" sz="1150" dirty="0">
                <a:solidFill>
                  <a:schemeClr val="tx1"/>
                </a:solidFill>
              </a:rPr>
              <a:t>Out-of-pocket costs such as travel, meals and lodging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CBIZ handles, patient billing and coding, and performing audits, which we support but do not perform. Full terms are in the enclosed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Start with CFO plus controller, controller-led or staff augmentation, and move between them by email. No penalties and no paperwork to redo.</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your team, CBIZ and your bank, and we keep approvals with you. A stable close, multi-entity reporting and lender reporting in QuickBooks Online are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the physicians ahead of October 16. We are glad to join the meeting or a follow-up call.</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letter; we can send it for electronic signature. The retainer, set after we review the books, starts the work.</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QuickBooks Online for each entity, eClinicalWorks reporting, Paylocity, bank and loan view access, and the discovery materials.</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transfer from Mark, close review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&amp;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the practice's business and to become a trusted partner to the physicians.</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8" name="Client logo" descr="AZHandCenter_navy.png"/>
          <p:cNvPicPr>
            <a:picLocks noChangeAspect="1"/>
          </p:cNvPicPr>
          <p:nvPr/>
        </p:nvPicPr>
        <p:blipFill>
          <a:blip r:embed="rId4"/>
          <a:stretch>
            <a:fillRect/>
          </a:stretch>
        </p:blipFill>
        <p:spPr>
          <a:xfrm>
            <a:off x="8458200" y="2480178"/>
            <a:ext cx="2834640" cy="450148"/>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a:t>
            </a:r>
            <a:endParaRPr lang="en-US" sz="1100" dirty="0"/>
          </a:p>
          <a:p>
            <a:pPr marL="0" indent="0">
              <a:buNone/>
            </a:pPr>
            <a:r>
              <a:rPr lang="en-US" sz="1100" dirty="0">
                <a:solidFill>
                  <a:schemeClr val="bg1"/>
                </a:solidFill>
              </a:rPr>
              <a:t>Arizona Center for Hand to Shoulder Surgery</a:t>
            </a:r>
            <a:endParaRPr lang="en-US" sz="1100" dirty="0"/>
          </a:p>
          <a:p>
            <a:pPr marL="0" indent="0">
              <a:buNone/>
            </a:pPr>
            <a:r>
              <a:rPr lang="en-US" sz="1100" dirty="0">
                <a:solidFill>
                  <a:schemeClr val="bg1"/>
                </a:solidFill>
              </a:rPr>
              <a:t>Mark Williamson, CFO</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Proposal: Arizona Center for Hand to Shoulder Surgery</dc:title>
  <dc:subject>Proposal for Accounting, Controller and CFO Services</dc:subject>
  <dc:creator>Onyx Accounting Group</dc:creator>
  <cp:lastModifiedBy>Steven Nikolov</cp:lastModifiedBy>
  <cp:revision>4</cp:revision>
  <dcterms:created xsi:type="dcterms:W3CDTF">2026-10-05T09:00:00Z</dcterms:created>
  <dcterms:modified xsi:type="dcterms:W3CDTF">2026-10-05T09:00:00Z</dcterms:modified>
</cp:coreProperties>
</file>