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D9E79A-E356-4544-6A09-9A1D45D72EAE}">
          <p14:sldIdLst>
            <p14:sldId id="256"/>
            <p14:sldId id="257"/>
            <p14:sldId id="258"/>
          </p14:sldIdLst>
        </p14:section>
        <p14:section name="01 Who we are" id="{6920C485-F38D-0467-708E-BF131F7EEDBF}">
          <p14:sldIdLst>
            <p14:sldId id="259"/>
            <p14:sldId id="260"/>
          </p14:sldIdLst>
        </p14:section>
        <p14:section name="02 What we can help with" id="{D865D581-AB5B-50E4-5CE6-5C1110189744}">
          <p14:sldIdLst>
            <p14:sldId id="261"/>
            <p14:sldId id="262"/>
            <p14:sldId id="263"/>
          </p14:sldIdLst>
        </p14:section>
        <p14:section name="03 Engagement timeline" id="{BE9016A4-BCED-42AE-D5BD-4F440FFB9306}">
          <p14:sldIdLst>
            <p14:sldId id="264"/>
          </p14:sldIdLst>
        </p14:section>
        <p14:section name="04 30/60/90-day plan" id="{D18E2FDC-9B0B-F83D-9C01-56E6F221050F}">
          <p14:sldIdLst>
            <p14:sldId id="265"/>
            <p14:sldId id="266"/>
          </p14:sldIdLst>
        </p14:section>
        <p14:section name="05 Proposed fees" id="{8A093D5D-E9FB-CDCE-3C1B-581F527438CF}">
          <p14:sldIdLst>
            <p14:sldId id="267"/>
          </p14:sldIdLst>
        </p14:section>
        <p14:section name="06 Why ONYX and next steps" id="{7CE09CF9-53E3-4C8F-DF64-AD829310B33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4541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Proposal accompanies the engagement letter dated October 5,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1B2A49"/>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0500055" y="301752"/>
            <a:ext cx="1143000" cy="537667"/>
          </a:xfrm>
          <a:prstGeom prst="rect">
            <a:avLst/>
          </a:prstGeom>
        </p:spPr>
      </p:pic>
      <p:sp>
        <p:nvSpPr>
          <p:cNvPr id="3" name="Text 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5B6472"/>
                </a:solidFill>
              </a:rPr>
              <a:t>Proposal for AJAC, Inc. dba George Brazil  |  Confidential</a:t>
            </a:r>
            <a:endParaRPr lang="en-US" sz="900" dirty="0"/>
          </a:p>
        </p:txBody>
      </p:sp>
      <p:sp>
        <p:nvSpPr>
          <p:cNvPr id="4" name="Text 1"/>
          <p:cNvSpPr>
            <a:spLocks noGrp="1"/>
          </p:cNvSpPr>
          <p:nvPr>
            <p:ph type="body" idx="102" hasCustomPrompt="1"/>
          </p:nvPr>
        </p:nvSpPr>
        <p:spPr>
          <a:xfrm>
            <a:off x="548640" y="384048"/>
            <a:ext cx="8229600" cy="274320"/>
          </a:xfrm>
          <a:prstGeom prst="rect">
            <a:avLst/>
          </a:prstGeom>
          <a:noFill/>
          <a:ln/>
        </p:spPr>
        <p:txBody>
          <a:bodyPr wrap="square" rtlCol="0"/>
          <a:lstStyle>
            <a:lvl1pPr marL="0" indent="0">
              <a:buNone/>
              <a:defRPr lang="en-US" sz="1100" b="1" kern="0" spc="200" dirty="0">
                <a:solidFill>
                  <a:srgbClr val="AF1F29"/>
                </a:solidFill>
              </a:defRPr>
            </a:lvl1pPr>
          </a:lstStyle>
          <a:p>
            <a:pPr marL="0" indent="0">
              <a:buNone/>
            </a:pPr>
            <a:endParaRPr lang="en-US" sz="1100" dirty="0"/>
          </a:p>
        </p:txBody>
      </p:sp>
      <p:sp>
        <p:nvSpPr>
          <p:cNvPr id="5" name="Text 1"/>
          <p:cNvSpPr>
            <a:spLocks noGrp="1"/>
          </p:cNvSpPr>
          <p:nvPr>
            <p:ph type="title" idx="103" hasCustomPrompt="1"/>
          </p:nvPr>
        </p:nvSpPr>
        <p:spPr>
          <a:xfrm>
            <a:off x="548640" y="658368"/>
            <a:ext cx="9692640" cy="731520"/>
          </a:xfrm>
          <a:prstGeom prst="rect">
            <a:avLst/>
          </a:prstGeom>
          <a:noFill/>
          <a:ln/>
        </p:spPr>
        <p:txBody>
          <a:bodyPr wrap="square" rtlCol="0"/>
          <a:lstStyle>
            <a:lvl1pPr marL="0" indent="0" algn="l">
              <a:buNone/>
              <a:defRPr lang="en-US" sz="2800" dirty="0">
                <a:solidFill>
                  <a:srgbClr val="16181D"/>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B2A4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57200"/>
            <a:ext cx="1463040" cy="68762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NYX logo" descr="preencoded.png"/>
          <p:cNvPicPr>
            <a:picLocks noChangeAspect="1"/>
          </p:cNvPicPr>
          <p:nvPr/>
        </p:nvPicPr>
        <p:blipFill>
          <a:blip r:embed="rId3"/>
          <a:stretch>
            <a:fillRect/>
          </a:stretch>
        </p:blipFill>
        <p:spPr>
          <a:xfrm>
            <a:off x="548640" y="548640"/>
            <a:ext cx="1828800" cy="859536"/>
          </a:xfrm>
          <a:prstGeom prst="rect">
            <a:avLst/>
          </a:prstGeom>
        </p:spPr>
      </p:pic>
      <p:sp>
        <p:nvSpPr>
          <p:cNvPr id="3" name="Text 0"/>
          <p:cNvSpPr txBox="1"/>
          <p:nvPr/>
        </p:nvSpPr>
        <p:spPr>
          <a:xfrm>
            <a:off x="548640" y="2377440"/>
            <a:ext cx="3474720" cy="1737360"/>
          </a:xfrm>
          <a:prstGeom prst="rect">
            <a:avLst/>
          </a:prstGeom>
          <a:noFill/>
          <a:ln/>
        </p:spPr>
        <p:txBody>
          <a:bodyPr wrap="square" lIns="0" tIns="0" rIns="0" bIns="0" rtlCol="0" anchor="t"/>
          <a:lstStyle/>
          <a:p>
            <a:pPr marL="0" indent="0">
              <a:lnSpc>
                <a:spcPct val="110000"/>
              </a:lnSpc>
              <a:buNone/>
            </a:pPr>
            <a:r>
              <a:rPr lang="en-US" sz="2400" dirty="0">
                <a:solidFill>
                  <a:schemeClr val="bg1"/>
                </a:solidFill>
                <a:latin typeface="Cambria" pitchFamily="34" charset="0"/>
                <a:ea typeface="Cambria" pitchFamily="34" charset="-122"/>
                <a:cs typeface="Cambria" pitchFamily="34" charset="-120"/>
              </a:rPr>
              <a:t>Proposal for Accounting, Controller and CFO Services</a:t>
            </a:r>
            <a:endParaRPr lang="en-US" sz="2400" dirty="0"/>
          </a:p>
        </p:txBody>
      </p:sp>
      <p:sp>
        <p:nvSpPr>
          <p:cNvPr id="4" name="Text 1"/>
          <p:cNvSpPr txBox="1"/>
          <p:nvPr/>
        </p:nvSpPr>
        <p:spPr>
          <a:xfrm>
            <a:off x="548640" y="5943600"/>
            <a:ext cx="3474720" cy="320040"/>
          </a:xfrm>
          <a:prstGeom prst="rect">
            <a:avLst/>
          </a:prstGeom>
          <a:noFill/>
          <a:ln/>
        </p:spPr>
        <p:txBody>
          <a:bodyPr wrap="square" lIns="0" tIns="0" rIns="0" bIns="0" rtlCol="0" anchor="t"/>
          <a:lstStyle/>
          <a:p>
            <a:pPr marL="0" indent="0">
              <a:buNone/>
            </a:pPr>
            <a:r>
              <a:rPr lang="en-US" sz="1200" dirty="0">
                <a:solidFill>
                  <a:schemeClr val="bg1"/>
                </a:solidFill>
              </a:rPr>
              <a:t>October 5, 2026</a:t>
            </a:r>
            <a:endParaRPr lang="en-US" sz="1200" dirty="0"/>
          </a:p>
        </p:txBody>
      </p:sp>
      <p:sp>
        <p:nvSpPr>
          <p:cNvPr id="5" name="Text 2"/>
          <p:cNvSpPr txBox="1"/>
          <p:nvPr/>
        </p:nvSpPr>
        <p:spPr>
          <a:xfrm>
            <a:off x="5212080" y="1097280"/>
            <a:ext cx="4572000"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PREPARED FOR</a:t>
            </a:r>
            <a:endParaRPr lang="en-US" sz="1100" dirty="0"/>
          </a:p>
        </p:txBody>
      </p:sp>
      <p:pic>
        <p:nvPicPr>
          <p:cNvPr id="6" name="George Brazil logo" descr="preencoded.png"/>
          <p:cNvPicPr>
            <a:picLocks noChangeAspect="1"/>
          </p:cNvPicPr>
          <p:nvPr/>
        </p:nvPicPr>
        <p:blipFill>
          <a:blip r:embed="rId4"/>
          <a:stretch>
            <a:fillRect/>
          </a:stretch>
        </p:blipFill>
        <p:spPr>
          <a:xfrm>
            <a:off x="5212080" y="1508760"/>
            <a:ext cx="3017520" cy="950976"/>
          </a:xfrm>
          <a:prstGeom prst="rect">
            <a:avLst/>
          </a:prstGeom>
        </p:spPr>
      </p:pic>
      <p:sp>
        <p:nvSpPr>
          <p:cNvPr id="7" name="Text 3"/>
          <p:cNvSpPr txBox="1"/>
          <p:nvPr/>
        </p:nvSpPr>
        <p:spPr>
          <a:xfrm>
            <a:off x="5212080" y="2651760"/>
            <a:ext cx="6400800" cy="411480"/>
          </a:xfrm>
          <a:prstGeom prst="rect">
            <a:avLst/>
          </a:prstGeom>
          <a:noFill/>
          <a:ln/>
        </p:spPr>
        <p:txBody>
          <a:bodyPr wrap="square" lIns="0" tIns="0" rIns="0" bIns="0" rtlCol="0" anchor="t"/>
          <a:lstStyle/>
          <a:p>
            <a:pPr marL="0" indent="0">
              <a:buNone/>
            </a:pPr>
            <a:r>
              <a:rPr lang="en-US" sz="1800" dirty="0">
                <a:solidFill>
                  <a:schemeClr val="tx1"/>
                </a:solidFill>
                <a:latin typeface="Cambria" pitchFamily="34" charset="0"/>
                <a:ea typeface="Cambria" pitchFamily="34" charset="-122"/>
                <a:cs typeface="Cambria" pitchFamily="34" charset="-120"/>
              </a:rPr>
              <a:t>AJAC, Inc. dba George Brazil Plumbing &amp; Electrical</a:t>
            </a:r>
            <a:endParaRPr lang="en-US" sz="1800" dirty="0"/>
          </a:p>
        </p:txBody>
      </p:sp>
      <p:sp>
        <p:nvSpPr>
          <p:cNvPr id="8" name="Text 4"/>
          <p:cNvSpPr txBox="1"/>
          <p:nvPr/>
        </p:nvSpPr>
        <p:spPr>
          <a:xfrm>
            <a:off x="5212080" y="3108960"/>
            <a:ext cx="6400800" cy="640080"/>
          </a:xfrm>
          <a:prstGeom prst="rect">
            <a:avLst/>
          </a:prstGeom>
          <a:noFill/>
          <a:ln/>
        </p:spPr>
        <p:txBody>
          <a:bodyPr wrap="square" lIns="0" tIns="0" rIns="0" bIns="0" rtlCol="0" anchor="t"/>
          <a:lstStyle/>
          <a:p>
            <a:pPr marL="0" indent="0">
              <a:buNone/>
            </a:pPr>
            <a:r>
              <a:rPr lang="en-US" sz="1200" dirty="0">
                <a:solidFill>
                  <a:schemeClr val="accent3"/>
                </a:solidFill>
              </a:rPr>
              <a:t>3830 S 38th St, Phoenix, AZ 85040</a:t>
            </a:r>
            <a:endParaRPr lang="en-US" sz="1200" dirty="0"/>
          </a:p>
          <a:p>
            <a:pPr marL="0" indent="0">
              <a:buNone/>
            </a:pPr>
            <a:r>
              <a:rPr lang="en-US" sz="1200" dirty="0">
                <a:solidFill>
                  <a:schemeClr val="accent3"/>
                </a:solidFill>
              </a:rPr>
              <a:t>Attn: Marc Erpenbeck, President</a:t>
            </a:r>
            <a:endParaRPr lang="en-US" sz="1200" dirty="0"/>
          </a:p>
        </p:txBody>
      </p:sp>
      <p:sp>
        <p:nvSpPr>
          <p:cNvPr id="9" name="Text 5"/>
          <p:cNvSpPr txBox="1"/>
          <p:nvPr/>
        </p:nvSpPr>
        <p:spPr>
          <a:xfrm>
            <a:off x="5212080" y="4206240"/>
            <a:ext cx="4572000"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PREPARED BY</a:t>
            </a:r>
            <a:endParaRPr lang="en-US" sz="1100" dirty="0"/>
          </a:p>
        </p:txBody>
      </p:sp>
      <p:sp>
        <p:nvSpPr>
          <p:cNvPr id="10" name="Text 6"/>
          <p:cNvSpPr txBox="1"/>
          <p:nvPr/>
        </p:nvSpPr>
        <p:spPr>
          <a:xfrm>
            <a:off x="5212080" y="4526280"/>
            <a:ext cx="6400800" cy="1280160"/>
          </a:xfrm>
          <a:prstGeom prst="rect">
            <a:avLst/>
          </a:prstGeom>
          <a:noFill/>
          <a:ln/>
        </p:spPr>
        <p:txBody>
          <a:bodyPr wrap="square" lIns="0" tIns="0" rIns="0" bIns="0" rtlCol="0" anchor="t"/>
          <a:lstStyle/>
          <a:p>
            <a:pPr marL="0" indent="0">
              <a:buNone/>
            </a:pPr>
            <a:r>
              <a:rPr lang="en-US" sz="1200" b="1" dirty="0">
                <a:solidFill>
                  <a:schemeClr val="tx1"/>
                </a:solidFill>
              </a:rPr>
              <a:t>Steven Nikolov, Principal</a:t>
            </a:r>
            <a:endParaRPr lang="en-US" sz="1200" dirty="0"/>
          </a:p>
          <a:p>
            <a:pPr marL="0" indent="0">
              <a:buNone/>
            </a:pPr>
            <a:r>
              <a:rPr lang="en-US" sz="1200" dirty="0">
                <a:solidFill>
                  <a:srgbClr val="5B6472"/>
                </a:solidFill>
              </a:rPr>
              <a:t>steven@onyxcfo.com  |  direct 480-999-5509  |  mobile 480-772-5612</a:t>
            </a:r>
            <a:endParaRPr lang="en-US" sz="1200" dirty="0"/>
          </a:p>
          <a:p>
            <a:pPr marL="0" indent="0">
              <a:buNone/>
            </a:pPr>
            <a:r>
              <a:rPr lang="en-US" sz="600" dirty="0">
                <a:solidFill>
                  <a:schemeClr val="tx1"/>
                </a:solidFill>
              </a:rPr>
              <a:t> </a:t>
            </a:r>
            <a:endParaRPr lang="en-US" sz="1200" dirty="0"/>
          </a:p>
          <a:p>
            <a:pPr marL="0" indent="0">
              <a:buNone/>
            </a:pPr>
            <a:r>
              <a:rPr lang="en-US" sz="1200" b="1" dirty="0">
                <a:solidFill>
                  <a:schemeClr val="tx1"/>
                </a:solidFill>
              </a:rPr>
              <a:t>Josephine Mack, Chief of Staff and Client Relations</a:t>
            </a:r>
            <a:endParaRPr lang="en-US" sz="1200" dirty="0"/>
          </a:p>
          <a:p>
            <a:pPr marL="0" indent="0">
              <a:buNone/>
            </a:pPr>
            <a:r>
              <a:rPr lang="en-US" sz="1200" dirty="0">
                <a:solidFill>
                  <a:srgbClr val="5B6472"/>
                </a:solidFill>
              </a:rPr>
              <a:t>jmack@onyxcfo.com</a:t>
            </a:r>
            <a:endParaRPr lang="en-US" sz="1200" dirty="0"/>
          </a:p>
        </p:txBody>
      </p:sp>
      <p:sp>
        <p:nvSpPr>
          <p:cNvPr id="11" name="Text 7"/>
          <p:cNvSpPr txBox="1"/>
          <p:nvPr/>
        </p:nvSpPr>
        <p:spPr>
          <a:xfrm>
            <a:off x="5212080" y="5989320"/>
            <a:ext cx="6583680" cy="274320"/>
          </a:xfrm>
          <a:prstGeom prst="rect">
            <a:avLst/>
          </a:prstGeom>
          <a:noFill/>
          <a:ln/>
        </p:spPr>
        <p:txBody>
          <a:bodyPr wrap="square" lIns="0" tIns="0" rIns="0" bIns="0" rtlCol="0" anchor="t"/>
          <a:lstStyle/>
          <a:p>
            <a:pPr marL="0" indent="0">
              <a:buNone/>
            </a:pPr>
            <a:r>
              <a:rPr lang="en-US" sz="1000" dirty="0">
                <a:solidFill>
                  <a:schemeClr val="accent3"/>
                </a:solidFill>
              </a:rPr>
              <a:t>Onyx Accounting Group, LLC  |  14614 N Kierland Blvd, Suite N220, Scottsdale, AZ 85254  |  onyxcfo.com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INTRODUCTION</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A note to Marc and the leadership team</a:t>
            </a:r>
            <a:endParaRPr lang="en-US" sz="2800" dirty="0"/>
          </a:p>
        </p:txBody>
      </p:sp>
      <p:sp>
        <p:nvSpPr>
          <p:cNvPr id="4" name="Text 2"/>
          <p:cNvSpPr txBox="1"/>
          <p:nvPr/>
        </p:nvSpPr>
        <p:spPr>
          <a:xfrm>
            <a:off x="548640" y="1600200"/>
            <a:ext cx="3108960" cy="1828800"/>
          </a:xfrm>
          <a:prstGeom prst="rect">
            <a:avLst/>
          </a:prstGeom>
          <a:noFill/>
          <a:ln/>
        </p:spPr>
        <p:txBody>
          <a:bodyPr wrap="square" lIns="0" tIns="0" rIns="0" bIns="0" rtlCol="0" anchor="t"/>
          <a:lstStyle/>
          <a:p>
            <a:pPr marL="0" indent="0">
              <a:lnSpc>
                <a:spcPct val="115000"/>
              </a:lnSpc>
              <a:buNone/>
            </a:pPr>
            <a:r>
              <a:rPr lang="en-US" sz="1200" dirty="0">
                <a:solidFill>
                  <a:schemeClr val="accent3"/>
                </a:solidFill>
              </a:rPr>
              <a:t>October 5, 2026</a:t>
            </a:r>
            <a:endParaRPr lang="en-US" sz="1200" dirty="0"/>
          </a:p>
          <a:p>
            <a:pPr marL="0" indent="0">
              <a:lnSpc>
                <a:spcPct val="115000"/>
              </a:lnSpc>
              <a:buNone/>
            </a:pPr>
            <a:endParaRPr lang="en-US" sz="1200" dirty="0"/>
          </a:p>
          <a:p>
            <a:pPr marL="0" indent="0">
              <a:lnSpc>
                <a:spcPct val="115000"/>
              </a:lnSpc>
              <a:buNone/>
            </a:pPr>
            <a:r>
              <a:rPr lang="en-US" sz="1200" dirty="0">
                <a:solidFill>
                  <a:schemeClr val="accent3"/>
                </a:solidFill>
              </a:rPr>
              <a:t>Marc Erpenbeck, President</a:t>
            </a:r>
            <a:endParaRPr lang="en-US" sz="1200" dirty="0"/>
          </a:p>
          <a:p>
            <a:pPr marL="0" indent="0">
              <a:lnSpc>
                <a:spcPct val="115000"/>
              </a:lnSpc>
              <a:buNone/>
            </a:pPr>
            <a:r>
              <a:rPr lang="en-US" sz="1200" dirty="0">
                <a:solidFill>
                  <a:schemeClr val="accent3"/>
                </a:solidFill>
              </a:rPr>
              <a:t>AJAC, Inc. dba George Brazil</a:t>
            </a:r>
            <a:endParaRPr lang="en-US" sz="1200" dirty="0"/>
          </a:p>
          <a:p>
            <a:pPr marL="0" indent="0">
              <a:lnSpc>
                <a:spcPct val="115000"/>
              </a:lnSpc>
              <a:buNone/>
            </a:pPr>
            <a:r>
              <a:rPr lang="en-US" sz="1200" dirty="0">
                <a:solidFill>
                  <a:schemeClr val="accent3"/>
                </a:solidFill>
              </a:rPr>
              <a:t>3830 S 38th St</a:t>
            </a:r>
            <a:endParaRPr lang="en-US" sz="1200" dirty="0"/>
          </a:p>
          <a:p>
            <a:pPr marL="0" indent="0">
              <a:lnSpc>
                <a:spcPct val="115000"/>
              </a:lnSpc>
              <a:buNone/>
            </a:pPr>
            <a:r>
              <a:rPr lang="en-US" sz="1200" dirty="0">
                <a:solidFill>
                  <a:schemeClr val="accent3"/>
                </a:solidFill>
              </a:rPr>
              <a:t>Phoenix, AZ 85040</a:t>
            </a:r>
            <a:endParaRPr lang="en-US" sz="1200" dirty="0"/>
          </a:p>
        </p:txBody>
      </p:sp>
      <p:sp>
        <p:nvSpPr>
          <p:cNvPr id="5" name="Text 3"/>
          <p:cNvSpPr txBox="1"/>
          <p:nvPr/>
        </p:nvSpPr>
        <p:spPr>
          <a:xfrm>
            <a:off x="4023360" y="1600200"/>
            <a:ext cx="7589520" cy="3840480"/>
          </a:xfrm>
          <a:prstGeom prst="rect">
            <a:avLst/>
          </a:prstGeom>
          <a:noFill/>
          <a:ln/>
        </p:spPr>
        <p:txBody>
          <a:bodyPr wrap="square" lIns="0" tIns="0" rIns="0" bIns="0" rtlCol="0" anchor="t"/>
          <a:lstStyle/>
          <a:p>
            <a:pPr marL="0" indent="0">
              <a:lnSpc>
                <a:spcPct val="112000"/>
              </a:lnSpc>
              <a:spcAft>
                <a:spcPts val="1000"/>
              </a:spcAft>
              <a:buNone/>
            </a:pPr>
            <a:r>
              <a:rPr lang="en-US" sz="1250" dirty="0">
                <a:solidFill>
                  <a:schemeClr val="tx1"/>
                </a:solidFill>
              </a:rPr>
              <a:t>Dear Marc,</a:t>
            </a:r>
            <a:endParaRPr lang="en-US" sz="1250" dirty="0"/>
          </a:p>
          <a:p>
            <a:pPr marL="0" indent="0">
              <a:lnSpc>
                <a:spcPct val="112000"/>
              </a:lnSpc>
              <a:spcAft>
                <a:spcPts val="1000"/>
              </a:spcAft>
              <a:buNone/>
            </a:pPr>
            <a:r>
              <a:rPr lang="en-US" sz="1250" dirty="0">
                <a:solidFill>
                  <a:schemeClr val="tx1"/>
                </a:solidFill>
              </a:rPr>
              <a:t>Thank you for the time you, Shawne, Josh and Ian gave us at your office on October 2. This proposal accompanies the enclosed engagement letter and describes how Onyx Accounting Group would support George Brazil following your CFO's departure.</a:t>
            </a:r>
            <a:endParaRPr lang="en-US" sz="1250" dirty="0"/>
          </a:p>
          <a:p>
            <a:pPr marL="0" indent="0">
              <a:lnSpc>
                <a:spcPct val="112000"/>
              </a:lnSpc>
              <a:spcAft>
                <a:spcPts val="1000"/>
              </a:spcAft>
              <a:buNone/>
            </a:pPr>
            <a:r>
              <a:rPr lang="en-US" sz="1250" dirty="0">
                <a:solidFill>
                  <a:schemeClr val="tx1"/>
                </a:solidFill>
              </a:rPr>
              <a:t>We have organized it around what we heard. The first priority is continuity: keeping the monthly close, Bell Bank reporting and the day-to-day accounting on track while supporting and training Ian. Behind that sits the work that needs controller and CFO judgment, including the 401(k) plan audit, the year-end financial audit, a smoother accounts payable process, cleaner flows between ServiceTitan, QStock and Sage Intacct, and planning for the S corporation conversion in 2028.</a:t>
            </a:r>
            <a:endParaRPr lang="en-US" sz="1250" dirty="0"/>
          </a:p>
          <a:p>
            <a:pPr marL="0" indent="0">
              <a:lnSpc>
                <a:spcPct val="112000"/>
              </a:lnSpc>
              <a:spcAft>
                <a:spcPts val="1000"/>
              </a:spcAft>
              <a:buNone/>
            </a:pPr>
            <a:r>
              <a:rPr lang="en-US" sz="1250" dirty="0">
                <a:solidFill>
                  <a:schemeClr val="tx1"/>
                </a:solidFill>
              </a:rPr>
              <a:t>Our fees are hourly at the rates in Section 05. You pay for the hours worked, and the mix of controller, CFO and staff time can be changed by email as your needs change. There is no minimum term.</a:t>
            </a:r>
            <a:endParaRPr lang="en-US" sz="1250" dirty="0"/>
          </a:p>
          <a:p>
            <a:pPr marL="0" indent="0">
              <a:lnSpc>
                <a:spcPct val="112000"/>
              </a:lnSpc>
              <a:spcAft>
                <a:spcPts val="1000"/>
              </a:spcAft>
              <a:buNone/>
            </a:pPr>
            <a:r>
              <a:rPr lang="en-US" sz="1250" dirty="0">
                <a:solidFill>
                  <a:schemeClr val="tx1"/>
                </a:solidFill>
              </a:rPr>
              <a:t>We would welcome the opportunity to work with your team and are glad to meet again to walk through any part of this proposal.</a:t>
            </a:r>
            <a:endParaRPr lang="en-US" sz="1250" dirty="0"/>
          </a:p>
        </p:txBody>
      </p:sp>
      <p:sp>
        <p:nvSpPr>
          <p:cNvPr id="6" name="Text 4"/>
          <p:cNvSpPr txBox="1"/>
          <p:nvPr/>
        </p:nvSpPr>
        <p:spPr>
          <a:xfrm>
            <a:off x="4023360" y="5532120"/>
            <a:ext cx="5486400" cy="548640"/>
          </a:xfrm>
          <a:prstGeom prst="rect">
            <a:avLst/>
          </a:prstGeom>
          <a:noFill/>
          <a:ln/>
        </p:spPr>
        <p:txBody>
          <a:bodyPr wrap="square" lIns="0" tIns="0" rIns="0" bIns="0" rtlCol="0" anchor="t"/>
          <a:lstStyle/>
          <a:p>
            <a:pPr marL="0" indent="0">
              <a:buNone/>
            </a:pPr>
            <a:r>
              <a:rPr lang="en-US" sz="1200" b="1" dirty="0">
                <a:solidFill>
                  <a:schemeClr val="tx1"/>
                </a:solidFill>
              </a:rPr>
              <a:t>Steven Nikolov</a:t>
            </a:r>
            <a:endParaRPr lang="en-US" sz="1200" dirty="0"/>
          </a:p>
          <a:p>
            <a:pPr marL="0" indent="0">
              <a:buNone/>
            </a:pPr>
            <a:r>
              <a:rPr lang="en-US" sz="1200" dirty="0">
                <a:solidFill>
                  <a:srgbClr val="5B6472"/>
                </a:solidFill>
              </a:rPr>
              <a:t>Principal, Onyx Accounting Group</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CONTENTS</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What this proposal covers</a:t>
            </a:r>
            <a:endParaRPr lang="en-US" sz="2800" dirty="0"/>
          </a:p>
        </p:txBody>
      </p:sp>
      <p:sp>
        <p:nvSpPr>
          <p:cNvPr id="4" name="contents 01"/>
          <p:cNvSpPr/>
          <p:nvPr/>
        </p:nvSpPr>
        <p:spPr>
          <a:xfrm>
            <a:off x="548640" y="1737360"/>
            <a:ext cx="5349240" cy="1188720"/>
          </a:xfrm>
          <a:prstGeom prst="rect">
            <a:avLst/>
          </a:prstGeom>
          <a:solidFill>
            <a:schemeClr val="accent5"/>
          </a:solidFill>
          <a:ln w="9525">
            <a:solidFill>
              <a:srgbClr val="D5D9E0"/>
            </a:solidFill>
            <a:prstDash val="solid"/>
          </a:ln>
        </p:spPr>
        <p:txBody>
          <a:bodyPr/>
          <a:lstStyle/>
          <a:p>
            <a:endParaRPr lang="en-US"/>
          </a:p>
        </p:txBody>
      </p:sp>
      <p:sp>
        <p:nvSpPr>
          <p:cNvPr id="5" name="Text 3"/>
          <p:cNvSpPr txBox="1"/>
          <p:nvPr/>
        </p:nvSpPr>
        <p:spPr>
          <a:xfrm>
            <a:off x="777240" y="201168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737360" y="196596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Who we are</a:t>
            </a:r>
            <a:endParaRPr lang="en-US" sz="1500" dirty="0"/>
          </a:p>
        </p:txBody>
      </p:sp>
      <p:sp>
        <p:nvSpPr>
          <p:cNvPr id="7" name="Text 5"/>
          <p:cNvSpPr txBox="1"/>
          <p:nvPr/>
        </p:nvSpPr>
        <p:spPr>
          <a:xfrm>
            <a:off x="1737360" y="233172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The firm, how we staff an engagement, and your engagement team</a:t>
            </a:r>
            <a:endParaRPr lang="en-US" sz="1150" dirty="0"/>
          </a:p>
        </p:txBody>
      </p:sp>
      <p:sp>
        <p:nvSpPr>
          <p:cNvPr id="8" name="contents 02"/>
          <p:cNvSpPr/>
          <p:nvPr/>
        </p:nvSpPr>
        <p:spPr>
          <a:xfrm>
            <a:off x="548640" y="3154680"/>
            <a:ext cx="5349240" cy="1188720"/>
          </a:xfrm>
          <a:prstGeom prst="rect">
            <a:avLst/>
          </a:prstGeom>
          <a:solidFill>
            <a:schemeClr val="accent5"/>
          </a:solidFill>
          <a:ln w="9525">
            <a:solidFill>
              <a:srgbClr val="D5D9E0"/>
            </a:solidFill>
            <a:prstDash val="solid"/>
          </a:ln>
        </p:spPr>
        <p:txBody>
          <a:bodyPr/>
          <a:lstStyle/>
          <a:p>
            <a:endParaRPr lang="en-US"/>
          </a:p>
        </p:txBody>
      </p:sp>
      <p:sp>
        <p:nvSpPr>
          <p:cNvPr id="9" name="Text 7"/>
          <p:cNvSpPr txBox="1"/>
          <p:nvPr/>
        </p:nvSpPr>
        <p:spPr>
          <a:xfrm>
            <a:off x="777240" y="342900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1737360" y="338328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What we can help with</a:t>
            </a:r>
            <a:endParaRPr lang="en-US" sz="1500" dirty="0"/>
          </a:p>
        </p:txBody>
      </p:sp>
      <p:sp>
        <p:nvSpPr>
          <p:cNvPr id="11" name="Text 9"/>
          <p:cNvSpPr txBox="1"/>
          <p:nvPr/>
        </p:nvSpPr>
        <p:spPr>
          <a:xfrm>
            <a:off x="1737360" y="374904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Our understanding of George Brazil, the services proposed, and how we will work together</a:t>
            </a:r>
            <a:endParaRPr lang="en-US" sz="1150" dirty="0"/>
          </a:p>
        </p:txBody>
      </p:sp>
      <p:sp>
        <p:nvSpPr>
          <p:cNvPr id="12" name="contents 03"/>
          <p:cNvSpPr/>
          <p:nvPr/>
        </p:nvSpPr>
        <p:spPr>
          <a:xfrm>
            <a:off x="548640" y="4572000"/>
            <a:ext cx="5349240" cy="1188720"/>
          </a:xfrm>
          <a:prstGeom prst="rect">
            <a:avLst/>
          </a:prstGeom>
          <a:solidFill>
            <a:schemeClr val="accent5"/>
          </a:solidFill>
          <a:ln w="9525">
            <a:solidFill>
              <a:srgbClr val="D5D9E0"/>
            </a:solidFill>
            <a:prstDash val="solid"/>
          </a:ln>
        </p:spPr>
        <p:txBody>
          <a:bodyPr/>
          <a:lstStyle/>
          <a:p>
            <a:endParaRPr lang="en-US"/>
          </a:p>
        </p:txBody>
      </p:sp>
      <p:sp>
        <p:nvSpPr>
          <p:cNvPr id="13" name="Text 11"/>
          <p:cNvSpPr txBox="1"/>
          <p:nvPr/>
        </p:nvSpPr>
        <p:spPr>
          <a:xfrm>
            <a:off x="777240" y="484632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1737360" y="480060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Engagement timeline</a:t>
            </a:r>
            <a:endParaRPr lang="en-US" sz="1500" dirty="0"/>
          </a:p>
        </p:txBody>
      </p:sp>
      <p:sp>
        <p:nvSpPr>
          <p:cNvPr id="15" name="Text 13"/>
          <p:cNvSpPr txBox="1"/>
          <p:nvPr/>
        </p:nvSpPr>
        <p:spPr>
          <a:xfrm>
            <a:off x="1737360" y="516636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Key dates from kickoff through the year-end audit</a:t>
            </a:r>
            <a:endParaRPr lang="en-US" sz="1150" dirty="0"/>
          </a:p>
        </p:txBody>
      </p:sp>
      <p:sp>
        <p:nvSpPr>
          <p:cNvPr id="16" name="contents 04"/>
          <p:cNvSpPr/>
          <p:nvPr/>
        </p:nvSpPr>
        <p:spPr>
          <a:xfrm>
            <a:off x="6263640" y="1737360"/>
            <a:ext cx="5349240" cy="1188720"/>
          </a:xfrm>
          <a:prstGeom prst="rect">
            <a:avLst/>
          </a:prstGeom>
          <a:solidFill>
            <a:schemeClr val="accent5"/>
          </a:solidFill>
          <a:ln w="9525">
            <a:solidFill>
              <a:srgbClr val="D5D9E0"/>
            </a:solidFill>
            <a:prstDash val="solid"/>
          </a:ln>
        </p:spPr>
        <p:txBody>
          <a:bodyPr/>
          <a:lstStyle/>
          <a:p>
            <a:endParaRPr lang="en-US"/>
          </a:p>
        </p:txBody>
      </p:sp>
      <p:sp>
        <p:nvSpPr>
          <p:cNvPr id="17" name="Text 15"/>
          <p:cNvSpPr txBox="1"/>
          <p:nvPr/>
        </p:nvSpPr>
        <p:spPr>
          <a:xfrm>
            <a:off x="6492240" y="201168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7452360" y="196596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30/60/90-day plan</a:t>
            </a:r>
            <a:endParaRPr lang="en-US" sz="1500" dirty="0"/>
          </a:p>
        </p:txBody>
      </p:sp>
      <p:sp>
        <p:nvSpPr>
          <p:cNvPr id="19" name="Text 17"/>
          <p:cNvSpPr txBox="1"/>
          <p:nvPr/>
        </p:nvSpPr>
        <p:spPr>
          <a:xfrm>
            <a:off x="7452360" y="233172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What happens in each phase and what you receive at each checkpoint</a:t>
            </a:r>
            <a:endParaRPr lang="en-US" sz="1150" dirty="0"/>
          </a:p>
        </p:txBody>
      </p:sp>
      <p:sp>
        <p:nvSpPr>
          <p:cNvPr id="20" name="contents 05"/>
          <p:cNvSpPr/>
          <p:nvPr/>
        </p:nvSpPr>
        <p:spPr>
          <a:xfrm>
            <a:off x="6263640" y="3154680"/>
            <a:ext cx="5349240" cy="1188720"/>
          </a:xfrm>
          <a:prstGeom prst="rect">
            <a:avLst/>
          </a:prstGeom>
          <a:solidFill>
            <a:schemeClr val="accent5"/>
          </a:solidFill>
          <a:ln w="9525">
            <a:solidFill>
              <a:srgbClr val="D5D9E0"/>
            </a:solidFill>
            <a:prstDash val="solid"/>
          </a:ln>
        </p:spPr>
        <p:txBody>
          <a:bodyPr/>
          <a:lstStyle/>
          <a:p>
            <a:endParaRPr lang="en-US"/>
          </a:p>
        </p:txBody>
      </p:sp>
      <p:sp>
        <p:nvSpPr>
          <p:cNvPr id="21" name="Text 19"/>
          <p:cNvSpPr txBox="1"/>
          <p:nvPr/>
        </p:nvSpPr>
        <p:spPr>
          <a:xfrm>
            <a:off x="6492240" y="342900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05</a:t>
            </a:r>
            <a:endParaRPr lang="en-US" sz="3000" dirty="0"/>
          </a:p>
        </p:txBody>
      </p:sp>
      <p:sp>
        <p:nvSpPr>
          <p:cNvPr id="22" name="Text 20"/>
          <p:cNvSpPr txBox="1"/>
          <p:nvPr/>
        </p:nvSpPr>
        <p:spPr>
          <a:xfrm>
            <a:off x="7452360" y="338328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Proposed fees</a:t>
            </a:r>
            <a:endParaRPr lang="en-US" sz="1500" dirty="0"/>
          </a:p>
        </p:txBody>
      </p:sp>
      <p:sp>
        <p:nvSpPr>
          <p:cNvPr id="23" name="Text 21"/>
          <p:cNvSpPr txBox="1"/>
          <p:nvPr/>
        </p:nvSpPr>
        <p:spPr>
          <a:xfrm>
            <a:off x="7452360" y="374904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Hourly rates, billing terms and how we manage the budget</a:t>
            </a:r>
            <a:endParaRPr lang="en-US" sz="1150" dirty="0"/>
          </a:p>
        </p:txBody>
      </p:sp>
      <p:sp>
        <p:nvSpPr>
          <p:cNvPr id="24" name="contents 06"/>
          <p:cNvSpPr/>
          <p:nvPr/>
        </p:nvSpPr>
        <p:spPr>
          <a:xfrm>
            <a:off x="6263640" y="4572000"/>
            <a:ext cx="5349240" cy="1188720"/>
          </a:xfrm>
          <a:prstGeom prst="rect">
            <a:avLst/>
          </a:prstGeom>
          <a:solidFill>
            <a:schemeClr val="accent5"/>
          </a:solidFill>
          <a:ln w="9525">
            <a:solidFill>
              <a:srgbClr val="D5D9E0"/>
            </a:solidFill>
            <a:prstDash val="solid"/>
          </a:ln>
        </p:spPr>
        <p:txBody>
          <a:bodyPr/>
          <a:lstStyle/>
          <a:p>
            <a:endParaRPr lang="en-US"/>
          </a:p>
        </p:txBody>
      </p:sp>
      <p:sp>
        <p:nvSpPr>
          <p:cNvPr id="25" name="Text 23"/>
          <p:cNvSpPr txBox="1"/>
          <p:nvPr/>
        </p:nvSpPr>
        <p:spPr>
          <a:xfrm>
            <a:off x="6492240" y="484632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06</a:t>
            </a:r>
            <a:endParaRPr lang="en-US" sz="3000" dirty="0"/>
          </a:p>
        </p:txBody>
      </p:sp>
      <p:sp>
        <p:nvSpPr>
          <p:cNvPr id="26" name="Text 24"/>
          <p:cNvSpPr txBox="1"/>
          <p:nvPr/>
        </p:nvSpPr>
        <p:spPr>
          <a:xfrm>
            <a:off x="7452360" y="480060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Why ONYX and next steps</a:t>
            </a:r>
            <a:endParaRPr lang="en-US" sz="1500" dirty="0"/>
          </a:p>
        </p:txBody>
      </p:sp>
      <p:sp>
        <p:nvSpPr>
          <p:cNvPr id="27" name="Text 25"/>
          <p:cNvSpPr txBox="1"/>
          <p:nvPr/>
        </p:nvSpPr>
        <p:spPr>
          <a:xfrm>
            <a:off x="7452360" y="516636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What a team gives you that a single hire cannot, and how we start</a:t>
            </a:r>
            <a:endParaRPr lang="en-US" sz="1150" dirty="0"/>
          </a:p>
        </p:txBody>
      </p:sp>
      <p:sp>
        <p:nvSpPr>
          <p:cNvPr id="28"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01  WHO WE ARE</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Onyx Accounting Group</a:t>
            </a:r>
            <a:endParaRPr lang="en-US" sz="2800" dirty="0"/>
          </a:p>
        </p:txBody>
      </p:sp>
      <p:sp>
        <p:nvSpPr>
          <p:cNvPr id="4" name="Text 2"/>
          <p:cNvSpPr txBox="1"/>
          <p:nvPr/>
        </p:nvSpPr>
        <p:spPr>
          <a:xfrm>
            <a:off x="548640" y="1600200"/>
            <a:ext cx="5486400" cy="1554480"/>
          </a:xfrm>
          <a:prstGeom prst="rect">
            <a:avLst/>
          </a:prstGeom>
          <a:noFill/>
          <a:ln/>
        </p:spPr>
        <p:txBody>
          <a:bodyPr wrap="square" lIns="0" tIns="0" rIns="0" bIns="0" rtlCol="0" anchor="t"/>
          <a:lstStyle/>
          <a:p>
            <a:pPr marL="0" indent="0">
              <a:lnSpc>
                <a:spcPct val="112000"/>
              </a:lnSpc>
              <a:buNone/>
            </a:pPr>
            <a:r>
              <a:rPr lang="en-US" sz="1250" dirty="0">
                <a:solidFill>
                  <a:schemeClr val="tx1"/>
                </a:solidFill>
              </a:rPr>
              <a:t>Onyx Accounting Group is a Scottsdale, Arizona accounting firm that provides bookkeeping, controller and CFO services to privately held companies. We work inside our clients' own systems, including Sage Intacct and QuickBooks, as an extension of their finance team, and we are built to cover the full range from transaction detail to the owner's table.</a:t>
            </a:r>
            <a:endParaRPr lang="en-US" sz="1250" dirty="0"/>
          </a:p>
        </p:txBody>
      </p:sp>
      <p:sp>
        <p:nvSpPr>
          <p:cNvPr id="5" name="dot Big-firm background"/>
          <p:cNvSpPr/>
          <p:nvPr/>
        </p:nvSpPr>
        <p:spPr>
          <a:xfrm>
            <a:off x="548640" y="3383280"/>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6" name="Text 4"/>
          <p:cNvSpPr txBox="1"/>
          <p:nvPr/>
        </p:nvSpPr>
        <p:spPr>
          <a:xfrm>
            <a:off x="548640" y="338328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7" name="Text 5"/>
          <p:cNvSpPr txBox="1"/>
          <p:nvPr/>
        </p:nvSpPr>
        <p:spPr>
          <a:xfrm>
            <a:off x="1097280" y="3337560"/>
            <a:ext cx="4937760" cy="27432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Big-firm background</a:t>
            </a:r>
            <a:endParaRPr lang="en-US" sz="1300" dirty="0"/>
          </a:p>
        </p:txBody>
      </p:sp>
      <p:sp>
        <p:nvSpPr>
          <p:cNvPr id="8" name="Text 6"/>
          <p:cNvSpPr txBox="1"/>
          <p:nvPr/>
        </p:nvSpPr>
        <p:spPr>
          <a:xfrm>
            <a:off x="1097280" y="3611880"/>
            <a:ext cx="4937760" cy="640080"/>
          </a:xfrm>
          <a:prstGeom prst="rect">
            <a:avLst/>
          </a:prstGeom>
          <a:noFill/>
          <a:ln/>
        </p:spPr>
        <p:txBody>
          <a:bodyPr wrap="square" lIns="0" tIns="0" rIns="0" bIns="0" rtlCol="0" anchor="t"/>
          <a:lstStyle/>
          <a:p>
            <a:pPr marL="0" indent="0">
              <a:buNone/>
            </a:pPr>
            <a:r>
              <a:rPr lang="en-US" sz="1150" dirty="0">
                <a:solidFill>
                  <a:schemeClr val="tx1"/>
                </a:solidFill>
              </a:rPr>
              <a:t>Our leadership held Director and Manager roles at top 10 national accounting firms and brings that standard of review and documentation to privately held companies.</a:t>
            </a:r>
            <a:endParaRPr lang="en-US" sz="1150" dirty="0"/>
          </a:p>
        </p:txBody>
      </p:sp>
      <p:sp>
        <p:nvSpPr>
          <p:cNvPr id="9" name="dot Industry experience"/>
          <p:cNvSpPr/>
          <p:nvPr/>
        </p:nvSpPr>
        <p:spPr>
          <a:xfrm>
            <a:off x="548640" y="4297680"/>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0" name="Text 8"/>
          <p:cNvSpPr txBox="1"/>
          <p:nvPr/>
        </p:nvSpPr>
        <p:spPr>
          <a:xfrm>
            <a:off x="548640" y="429768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Text 9"/>
          <p:cNvSpPr txBox="1"/>
          <p:nvPr/>
        </p:nvSpPr>
        <p:spPr>
          <a:xfrm>
            <a:off x="1097280" y="4251960"/>
            <a:ext cx="4937760" cy="27432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Industry experience</a:t>
            </a:r>
            <a:endParaRPr lang="en-US" sz="1300" dirty="0"/>
          </a:p>
        </p:txBody>
      </p:sp>
      <p:sp>
        <p:nvSpPr>
          <p:cNvPr id="12" name="Text 10"/>
          <p:cNvSpPr txBox="1"/>
          <p:nvPr/>
        </p:nvSpPr>
        <p:spPr>
          <a:xfrm>
            <a:off x="1097280" y="4526280"/>
            <a:ext cx="4937760" cy="640080"/>
          </a:xfrm>
          <a:prstGeom prst="rect">
            <a:avLst/>
          </a:prstGeom>
          <a:noFill/>
          <a:ln/>
        </p:spPr>
        <p:txBody>
          <a:bodyPr wrap="square" lIns="0" tIns="0" rIns="0" bIns="0" rtlCol="0" anchor="t"/>
          <a:lstStyle/>
          <a:p>
            <a:pPr marL="0" indent="0">
              <a:buNone/>
            </a:pPr>
            <a:r>
              <a:rPr lang="en-US" sz="1150" dirty="0">
                <a:solidFill>
                  <a:schemeClr val="tx1"/>
                </a:solidFill>
              </a:rPr>
              <a:t>Construction and the trades, real estate and property management, professional services, distribution and retail, and hospitality.</a:t>
            </a:r>
            <a:endParaRPr lang="en-US" sz="1150" dirty="0"/>
          </a:p>
        </p:txBody>
      </p:sp>
      <p:sp>
        <p:nvSpPr>
          <p:cNvPr id="13" name="dot Ownership structures"/>
          <p:cNvSpPr/>
          <p:nvPr/>
        </p:nvSpPr>
        <p:spPr>
          <a:xfrm>
            <a:off x="548640" y="5212080"/>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4" name="Text 12"/>
          <p:cNvSpPr txBox="1"/>
          <p:nvPr/>
        </p:nvSpPr>
        <p:spPr>
          <a:xfrm>
            <a:off x="548640" y="521208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5" name="Text 13"/>
          <p:cNvSpPr txBox="1"/>
          <p:nvPr/>
        </p:nvSpPr>
        <p:spPr>
          <a:xfrm>
            <a:off x="1097280" y="5166360"/>
            <a:ext cx="4937760" cy="27432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Ownership structures</a:t>
            </a:r>
            <a:endParaRPr lang="en-US" sz="1300" dirty="0"/>
          </a:p>
        </p:txBody>
      </p:sp>
      <p:sp>
        <p:nvSpPr>
          <p:cNvPr id="16" name="Text 14"/>
          <p:cNvSpPr txBox="1"/>
          <p:nvPr/>
        </p:nvSpPr>
        <p:spPr>
          <a:xfrm>
            <a:off x="1097280" y="5440680"/>
            <a:ext cx="4937760" cy="640080"/>
          </a:xfrm>
          <a:prstGeom prst="rect">
            <a:avLst/>
          </a:prstGeom>
          <a:noFill/>
          <a:ln/>
        </p:spPr>
        <p:txBody>
          <a:bodyPr wrap="square" lIns="0" tIns="0" rIns="0" bIns="0" rtlCol="0" anchor="t"/>
          <a:lstStyle/>
          <a:p>
            <a:pPr marL="0" indent="0">
              <a:buNone/>
            </a:pPr>
            <a:r>
              <a:rPr lang="en-US" sz="1150" dirty="0">
                <a:solidFill>
                  <a:schemeClr val="tx1"/>
                </a:solidFill>
              </a:rPr>
              <a:t>Owner-led, private equity backed and family office companies, including lender, investor and audit reporting.</a:t>
            </a:r>
            <a:endParaRPr lang="en-US" sz="1150" dirty="0"/>
          </a:p>
        </p:txBody>
      </p:sp>
      <p:sp>
        <p:nvSpPr>
          <p:cNvPr id="17" name="staffing panel"/>
          <p:cNvSpPr/>
          <p:nvPr/>
        </p:nvSpPr>
        <p:spPr>
          <a:xfrm>
            <a:off x="6583680" y="1600200"/>
            <a:ext cx="5059375" cy="4526280"/>
          </a:xfrm>
          <a:prstGeom prst="rect">
            <a:avLst/>
          </a:prstGeom>
          <a:solidFill>
            <a:schemeClr val="accent5"/>
          </a:solidFill>
          <a:ln w="9525">
            <a:solidFill>
              <a:srgbClr val="D5D9E0"/>
            </a:solidFill>
            <a:prstDash val="solid"/>
          </a:ln>
        </p:spPr>
        <p:txBody>
          <a:bodyPr/>
          <a:lstStyle/>
          <a:p>
            <a:endParaRPr lang="en-US"/>
          </a:p>
        </p:txBody>
      </p:sp>
      <p:sp>
        <p:nvSpPr>
          <p:cNvPr id="18" name="Text 16"/>
          <p:cNvSpPr txBox="1"/>
          <p:nvPr/>
        </p:nvSpPr>
        <p:spPr>
          <a:xfrm>
            <a:off x="6858000" y="1783080"/>
            <a:ext cx="4510735" cy="365760"/>
          </a:xfrm>
          <a:prstGeom prst="rect">
            <a:avLst/>
          </a:prstGeom>
          <a:noFill/>
          <a:ln/>
        </p:spPr>
        <p:txBody>
          <a:bodyPr wrap="square" lIns="0" tIns="0" rIns="0" bIns="0" rtlCol="0" anchor="t"/>
          <a:lstStyle/>
          <a:p>
            <a:pPr marL="0" indent="0">
              <a:buNone/>
            </a:pPr>
            <a:r>
              <a:rPr lang="en-US" sz="1400" b="1" dirty="0">
                <a:solidFill>
                  <a:schemeClr val="tx2"/>
                </a:solidFill>
                <a:latin typeface="Cambria" pitchFamily="34" charset="0"/>
                <a:ea typeface="Cambria" pitchFamily="34" charset="-122"/>
                <a:cs typeface="Cambria" pitchFamily="34" charset="-120"/>
              </a:rPr>
              <a:t>How we staff an engagement</a:t>
            </a:r>
            <a:endParaRPr lang="en-US" sz="1400" dirty="0"/>
          </a:p>
        </p:txBody>
      </p:sp>
      <p:sp>
        <p:nvSpPr>
          <p:cNvPr id="19" name="Text 17"/>
          <p:cNvSpPr txBox="1"/>
          <p:nvPr/>
        </p:nvSpPr>
        <p:spPr>
          <a:xfrm>
            <a:off x="6858000" y="2240280"/>
            <a:ext cx="4510735" cy="274320"/>
          </a:xfrm>
          <a:prstGeom prst="rect">
            <a:avLst/>
          </a:prstGeom>
          <a:noFill/>
          <a:ln/>
        </p:spPr>
        <p:txBody>
          <a:bodyPr wrap="square" lIns="0" tIns="0" rIns="0" bIns="0" rtlCol="0" anchor="t"/>
          <a:lstStyle/>
          <a:p>
            <a:pPr marL="0" indent="0">
              <a:buNone/>
            </a:pPr>
            <a:r>
              <a:rPr lang="en-US" sz="1250" b="1" dirty="0">
                <a:solidFill>
                  <a:schemeClr val="tx1"/>
                </a:solidFill>
              </a:rPr>
              <a:t>Scottsdale team</a:t>
            </a:r>
            <a:endParaRPr lang="en-US" sz="1250" dirty="0"/>
          </a:p>
        </p:txBody>
      </p:sp>
      <p:sp>
        <p:nvSpPr>
          <p:cNvPr id="20" name="Text 18"/>
          <p:cNvSpPr txBox="1"/>
          <p:nvPr/>
        </p:nvSpPr>
        <p:spPr>
          <a:xfrm>
            <a:off x="6858000" y="2514600"/>
            <a:ext cx="4510735" cy="658368"/>
          </a:xfrm>
          <a:prstGeom prst="rect">
            <a:avLst/>
          </a:prstGeom>
          <a:noFill/>
          <a:ln/>
        </p:spPr>
        <p:txBody>
          <a:bodyPr wrap="square" lIns="0" tIns="0" rIns="0" bIns="0" rtlCol="0" anchor="t"/>
          <a:lstStyle/>
          <a:p>
            <a:pPr marL="0" indent="0">
              <a:buNone/>
            </a:pPr>
            <a:r>
              <a:rPr lang="en-US" sz="1150" dirty="0">
                <a:solidFill>
                  <a:schemeClr val="tx1"/>
                </a:solidFill>
              </a:rPr>
              <a:t>Engagement leadership, the controller and CFO roles, every judgment call, and on-site time in Phoenix for onboarding and training.</a:t>
            </a:r>
            <a:endParaRPr lang="en-US" sz="1150" dirty="0"/>
          </a:p>
        </p:txBody>
      </p:sp>
      <p:sp>
        <p:nvSpPr>
          <p:cNvPr id="21" name="Text 19"/>
          <p:cNvSpPr txBox="1"/>
          <p:nvPr/>
        </p:nvSpPr>
        <p:spPr>
          <a:xfrm>
            <a:off x="6858000" y="3200400"/>
            <a:ext cx="4510735" cy="274320"/>
          </a:xfrm>
          <a:prstGeom prst="rect">
            <a:avLst/>
          </a:prstGeom>
          <a:noFill/>
          <a:ln/>
        </p:spPr>
        <p:txBody>
          <a:bodyPr wrap="square" lIns="0" tIns="0" rIns="0" bIns="0" rtlCol="0" anchor="t"/>
          <a:lstStyle/>
          <a:p>
            <a:pPr marL="0" indent="0">
              <a:buNone/>
            </a:pPr>
            <a:r>
              <a:rPr lang="en-US" sz="1250" b="1" dirty="0">
                <a:solidFill>
                  <a:schemeClr val="tx1"/>
                </a:solidFill>
              </a:rPr>
              <a:t>Supporting staff</a:t>
            </a:r>
            <a:endParaRPr lang="en-US" sz="1250" dirty="0"/>
          </a:p>
        </p:txBody>
      </p:sp>
      <p:sp>
        <p:nvSpPr>
          <p:cNvPr id="22" name="Text 20"/>
          <p:cNvSpPr txBox="1"/>
          <p:nvPr/>
        </p:nvSpPr>
        <p:spPr>
          <a:xfrm>
            <a:off x="6858000" y="3474720"/>
            <a:ext cx="4510735" cy="658368"/>
          </a:xfrm>
          <a:prstGeom prst="rect">
            <a:avLst/>
          </a:prstGeom>
          <a:noFill/>
          <a:ln/>
        </p:spPr>
        <p:txBody>
          <a:bodyPr wrap="square" lIns="0" tIns="0" rIns="0" bIns="0" rtlCol="0" anchor="t"/>
          <a:lstStyle/>
          <a:p>
            <a:pPr marL="0" indent="0">
              <a:buNone/>
            </a:pPr>
            <a:r>
              <a:rPr lang="en-US" sz="1150" dirty="0">
                <a:solidFill>
                  <a:schemeClr val="tx1"/>
                </a:solidFill>
              </a:rPr>
              <a:t>Reconciliations, schedules and transaction support prepared on our systems by accountants with ten or more years of experience, and reviewed in Scottsdale.</a:t>
            </a:r>
            <a:endParaRPr lang="en-US" sz="1150" dirty="0"/>
          </a:p>
        </p:txBody>
      </p:sp>
      <p:sp>
        <p:nvSpPr>
          <p:cNvPr id="23" name="Text 21"/>
          <p:cNvSpPr txBox="1"/>
          <p:nvPr/>
        </p:nvSpPr>
        <p:spPr>
          <a:xfrm>
            <a:off x="6858000" y="4160520"/>
            <a:ext cx="4510735" cy="274320"/>
          </a:xfrm>
          <a:prstGeom prst="rect">
            <a:avLst/>
          </a:prstGeom>
          <a:noFill/>
          <a:ln/>
        </p:spPr>
        <p:txBody>
          <a:bodyPr wrap="square" lIns="0" tIns="0" rIns="0" bIns="0" rtlCol="0" anchor="t"/>
          <a:lstStyle/>
          <a:p>
            <a:pPr marL="0" indent="0">
              <a:buNone/>
            </a:pPr>
            <a:r>
              <a:rPr lang="en-US" sz="1250" b="1" dirty="0">
                <a:solidFill>
                  <a:schemeClr val="tx1"/>
                </a:solidFill>
              </a:rPr>
              <a:t>Perform and review</a:t>
            </a:r>
            <a:endParaRPr lang="en-US" sz="1250" dirty="0"/>
          </a:p>
        </p:txBody>
      </p:sp>
      <p:sp>
        <p:nvSpPr>
          <p:cNvPr id="24" name="Text 22"/>
          <p:cNvSpPr txBox="1"/>
          <p:nvPr/>
        </p:nvSpPr>
        <p:spPr>
          <a:xfrm>
            <a:off x="6858000" y="4434840"/>
            <a:ext cx="4510735" cy="658368"/>
          </a:xfrm>
          <a:prstGeom prst="rect">
            <a:avLst/>
          </a:prstGeom>
          <a:noFill/>
          <a:ln/>
        </p:spPr>
        <p:txBody>
          <a:bodyPr wrap="square" lIns="0" tIns="0" rIns="0" bIns="0" rtlCol="0" anchor="t"/>
          <a:lstStyle/>
          <a:p>
            <a:pPr marL="0" indent="0">
              <a:buNone/>
            </a:pPr>
            <a:r>
              <a:rPr lang="en-US" sz="1150" dirty="0">
                <a:solidFill>
                  <a:schemeClr val="tx1"/>
                </a:solidFill>
              </a:rPr>
              <a:t>The person who prepares a number is never the person who approves it. Every reconciliation, journal entry and report is reviewed by a second accountant before it reaches you.</a:t>
            </a:r>
            <a:endParaRPr lang="en-US" sz="1150" dirty="0"/>
          </a:p>
        </p:txBody>
      </p:sp>
      <p:sp>
        <p:nvSpPr>
          <p:cNvPr id="25" name="Text 23"/>
          <p:cNvSpPr txBox="1"/>
          <p:nvPr/>
        </p:nvSpPr>
        <p:spPr>
          <a:xfrm>
            <a:off x="6858000" y="5120640"/>
            <a:ext cx="4510735" cy="274320"/>
          </a:xfrm>
          <a:prstGeom prst="rect">
            <a:avLst/>
          </a:prstGeom>
          <a:noFill/>
          <a:ln/>
        </p:spPr>
        <p:txBody>
          <a:bodyPr wrap="square" lIns="0" tIns="0" rIns="0" bIns="0" rtlCol="0" anchor="t"/>
          <a:lstStyle/>
          <a:p>
            <a:pPr marL="0" indent="0">
              <a:buNone/>
            </a:pPr>
            <a:r>
              <a:rPr lang="en-US" sz="1250" b="1" dirty="0">
                <a:solidFill>
                  <a:schemeClr val="tx1"/>
                </a:solidFill>
              </a:rPr>
              <a:t>One file, not one person</a:t>
            </a:r>
            <a:endParaRPr lang="en-US" sz="1250" dirty="0"/>
          </a:p>
        </p:txBody>
      </p:sp>
      <p:sp>
        <p:nvSpPr>
          <p:cNvPr id="26" name="Text 24"/>
          <p:cNvSpPr txBox="1"/>
          <p:nvPr/>
        </p:nvSpPr>
        <p:spPr>
          <a:xfrm>
            <a:off x="6858000" y="5394960"/>
            <a:ext cx="4510735" cy="658368"/>
          </a:xfrm>
          <a:prstGeom prst="rect">
            <a:avLst/>
          </a:prstGeom>
          <a:noFill/>
          <a:ln/>
        </p:spPr>
        <p:txBody>
          <a:bodyPr wrap="square" lIns="0" tIns="0" rIns="0" bIns="0" rtlCol="0" anchor="t"/>
          <a:lstStyle/>
          <a:p>
            <a:pPr marL="0" indent="0">
              <a:buNone/>
            </a:pPr>
            <a:r>
              <a:rPr lang="en-US" sz="1150" dirty="0">
                <a:solidFill>
                  <a:schemeClr val="tx1"/>
                </a:solidFill>
              </a:rPr>
              <a:t>Procedures, the close checklist and the open-items list live in a shared file your team can see, so nothing depends on a single individual.</a:t>
            </a:r>
            <a:endParaRPr lang="en-US" sz="115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01  WHO WE ARE</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Your engagement team</a:t>
            </a:r>
            <a:endParaRPr lang="en-US" sz="2800" dirty="0"/>
          </a:p>
        </p:txBody>
      </p:sp>
      <p:sp>
        <p:nvSpPr>
          <p:cNvPr id="4" name="Text 2"/>
          <p:cNvSpPr txBox="1"/>
          <p:nvPr/>
        </p:nvSpPr>
        <p:spPr>
          <a:xfrm>
            <a:off x="548640" y="1554480"/>
            <a:ext cx="10972800" cy="457200"/>
          </a:xfrm>
          <a:prstGeom prst="rect">
            <a:avLst/>
          </a:prstGeom>
          <a:noFill/>
          <a:ln/>
        </p:spPr>
        <p:txBody>
          <a:bodyPr wrap="square" lIns="0" tIns="0" rIns="0" bIns="0" rtlCol="0" anchor="t"/>
          <a:lstStyle/>
          <a:p>
            <a:pPr marL="0" indent="0">
              <a:buNone/>
            </a:pPr>
            <a:r>
              <a:rPr lang="en-US" sz="1250" dirty="0">
                <a:solidFill>
                  <a:schemeClr val="accent3"/>
                </a:solidFill>
              </a:rPr>
              <a:t>The principal leads the engagement and stays on it. Jessica Bumphus, who joined us at the October 2 meeting, leads the controller work. Staff support is assigned at kickoff, and the mix is adjusted with you as the work settles.</a:t>
            </a:r>
            <a:endParaRPr lang="en-US" sz="1250" dirty="0"/>
          </a:p>
        </p:txBody>
      </p:sp>
      <p:graphicFrame>
        <p:nvGraphicFramePr>
          <p:cNvPr id="6" name="team table"/>
          <p:cNvGraphicFramePr>
            <a:graphicFrameLocks noGrp="1"/>
          </p:cNvGraphicFramePr>
          <p:nvPr>
            <p:extLst>
              <p:ext uri="{D42A27DB-BD31-4B8C-83A1-F6EECF244321}">
                <p14:modId xmlns:p14="http://schemas.microsoft.com/office/powerpoint/2010/main" val="1913832357"/>
              </p:ext>
            </p:extLst>
          </p:nvPr>
        </p:nvGraphicFramePr>
        <p:xfrm>
          <a:off x="548640" y="2148840"/>
          <a:ext cx="11091672" cy="3474720"/>
        </p:xfrm>
        <a:graphic>
          <a:graphicData uri="http://schemas.openxmlformats.org/drawingml/2006/table">
            <a:tbl>
              <a:tblPr/>
              <a:tblGrid>
                <a:gridCol w="23774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Team member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 on this engagement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Responsibilities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Involvement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extLst>
                  <a:ext uri="{0D108BD9-81ED-4DB2-BD59-A6C34878D82A}">
                    <a16:rowId xmlns:a16="http://schemas.microsoft.com/office/drawing/2014/main" val="10000"/>
                  </a:ext>
                </a:extLst>
              </a:tr>
              <a:tr h="86868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Steven Nikolov</a:t>
                      </a:r>
                      <a:endParaRPr lang="en-US" sz="1100" dirty="0">
                        <a:latin typeface="Calibri" charset="0"/>
                        <a:ea typeface="Calibri" charset="0"/>
                        <a:cs typeface="Calibri" charset="0"/>
                      </a:endParaRPr>
                    </a:p>
                    <a:p>
                      <a:pPr marL="0" indent="0">
                        <a:buNone/>
                      </a:pPr>
                      <a:r>
                        <a:rPr lang="en-US" sz="1100" b="1" dirty="0">
                          <a:solidFill>
                            <a:srgbClr val="16181D"/>
                          </a:solidFill>
                          <a:latin typeface="Calibri" pitchFamily="34" charset="0"/>
                          <a:ea typeface="Calibri" pitchFamily="34" charset="-122"/>
                          <a:cs typeface="Calibri" pitchFamily="34" charset="-120"/>
                        </a:rPr>
                        <a:t>Principal &amp; 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Engagement lead and 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Overall direction and quality. CFO-level work: close design, Bell Bank and management reporting, budgeting and forecasting, banking and covenant matters, S corporation conversion planning, direction to the finance team.</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On site for kickoff. Weekly during the first 90 days, then at the monthly review and as needed.</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Josephine Mack</a:t>
                      </a:r>
                      <a:endParaRPr lang="en-US" sz="1100" dirty="0">
                        <a:latin typeface="Calibri" charset="0"/>
                        <a:ea typeface="Calibri" charset="0"/>
                        <a:cs typeface="Calibri" charset="0"/>
                      </a:endParaRPr>
                    </a:p>
                    <a:p>
                      <a:pPr marL="0" indent="0">
                        <a:buNone/>
                      </a:pPr>
                      <a:r>
                        <a:rPr lang="en-US" sz="1100" b="1" dirty="0">
                          <a:solidFill>
                            <a:srgbClr val="16181D"/>
                          </a:solidFill>
                          <a:latin typeface="Calibri" pitchFamily="34" charset="0"/>
                          <a:ea typeface="Calibri" pitchFamily="34" charset="-122"/>
                          <a:cs typeface="Calibri" pitchFamily="34" charset="-120"/>
                        </a:rPr>
                        <a:t>Chief of Staff &amp; Client Relations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Client relations and staffing</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Scheduling, staffing and client service. Your contact for anything about the engagement itself: scope changes, invoices, access and timing.</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Throughout the engagement.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Jessica Bumphus</a:t>
                      </a:r>
                      <a:endParaRPr lang="en-US" sz="1100" dirty="0">
                        <a:latin typeface="Calibri" charset="0"/>
                        <a:ea typeface="Calibri" charset="0"/>
                        <a:cs typeface="Calibri" charset="0"/>
                      </a:endParaRPr>
                    </a:p>
                    <a:p>
                      <a:pPr marL="0" indent="0">
                        <a:buNone/>
                      </a:pPr>
                      <a:r>
                        <a:rPr lang="en-US" sz="1100" b="1"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ONYX 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Leads the monthly close, reviews Ian's work and the reconciliations, prepares the Bell Bank quarterly package and management reporting, and drives the AP and systems improvements.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Weekly. On site in Phoenix for onboarding and training, remote otherwise.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ONYX Staff Accountant(s)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Staff support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Reconciliations, supporting schedules, depreciation, job-costing and inventory entries, audit request lists and data work, all under controller review.</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As needed or requested.</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3"/>
          <p:cNvSpPr txBox="1"/>
          <p:nvPr/>
        </p:nvSpPr>
        <p:spPr>
          <a:xfrm>
            <a:off x="548640" y="5897880"/>
            <a:ext cx="10972800" cy="457200"/>
          </a:xfrm>
          <a:prstGeom prst="rect">
            <a:avLst/>
          </a:prstGeom>
          <a:noFill/>
          <a:ln/>
        </p:spPr>
        <p:txBody>
          <a:bodyPr wrap="square" lIns="0" tIns="0" rIns="0" bIns="0" rtlCol="0" anchor="t"/>
          <a:lstStyle/>
          <a:p>
            <a:pPr marL="0" indent="0">
              <a:buNone/>
            </a:pPr>
            <a:r>
              <a:rPr lang="en-US" sz="1100" dirty="0">
                <a:solidFill>
                  <a:schemeClr val="accent3"/>
                </a:solidFill>
              </a:rPr>
              <a:t>Your team keeps approval authority over payments, vendors, customers and payroll. ONYX works from view access to bank and loan accounts and from the access you grant in Sage Intacct, ServiceTitan, QStock and payroll.</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02  WHAT WE CAN HELP WITH</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Our understanding of George Brazil</a:t>
            </a:r>
            <a:endParaRPr lang="en-US" sz="2800" dirty="0"/>
          </a:p>
        </p:txBody>
      </p:sp>
      <p:sp>
        <p:nvSpPr>
          <p:cNvPr id="4" name="snapshot"/>
          <p:cNvSpPr/>
          <p:nvPr/>
        </p:nvSpPr>
        <p:spPr>
          <a:xfrm>
            <a:off x="548640" y="1600200"/>
            <a:ext cx="3515258" cy="4526280"/>
          </a:xfrm>
          <a:prstGeom prst="rect">
            <a:avLst/>
          </a:prstGeom>
          <a:solidFill>
            <a:schemeClr val="accent5"/>
          </a:solidFill>
          <a:ln w="9525">
            <a:solidFill>
              <a:srgbClr val="D5D9E0"/>
            </a:solidFill>
            <a:prstDash val="solid"/>
          </a:ln>
        </p:spPr>
        <p:txBody>
          <a:bodyPr/>
          <a:lstStyle/>
          <a:p>
            <a:endParaRPr lang="en-US"/>
          </a:p>
        </p:txBody>
      </p:sp>
      <p:sp>
        <p:nvSpPr>
          <p:cNvPr id="5" name="Text 3"/>
          <p:cNvSpPr txBox="1"/>
          <p:nvPr/>
        </p:nvSpPr>
        <p:spPr>
          <a:xfrm>
            <a:off x="777240" y="1783080"/>
            <a:ext cx="3058058"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The company</a:t>
            </a:r>
            <a:endParaRPr lang="en-US" sz="1300" dirty="0"/>
          </a:p>
        </p:txBody>
      </p:sp>
      <p:sp>
        <p:nvSpPr>
          <p:cNvPr id="6" name="Text 4"/>
          <p:cNvSpPr txBox="1"/>
          <p:nvPr/>
        </p:nvSpPr>
        <p:spPr>
          <a:xfrm>
            <a:off x="777240" y="2148840"/>
            <a:ext cx="3058058" cy="3840480"/>
          </a:xfrm>
          <a:prstGeom prst="rect">
            <a:avLst/>
          </a:prstGeom>
          <a:noFill/>
          <a:ln/>
        </p:spPr>
        <p:txBody>
          <a:bodyPr wrap="square" lIns="0" tIns="0" rIns="0" bIns="0" rtlCol="0" anchor="t"/>
          <a:lstStyle/>
          <a:p>
            <a:pPr marL="0" indent="0">
              <a:lnSpc>
                <a:spcPct val="108000"/>
              </a:lnSpc>
              <a:buNone/>
            </a:pPr>
            <a:r>
              <a:rPr lang="en-US" sz="1150" b="1" dirty="0">
                <a:solidFill>
                  <a:schemeClr val="tx1"/>
                </a:solidFill>
              </a:rPr>
              <a:t>AJAC, Inc. dba George Brazil Plumbing &amp; Electrical, Phoenix. </a:t>
            </a:r>
            <a:r>
              <a:rPr lang="en-US" sz="1150" dirty="0">
                <a:solidFill>
                  <a:schemeClr val="tx1"/>
                </a:solidFill>
              </a:rPr>
              <a:t>Residential plumbing and electrical service, in Arizona since 1990 and part of a name in home services that dates to 1955. Employee-owned through an ESOP.</a:t>
            </a:r>
            <a:endParaRPr lang="en-US" sz="1150" dirty="0"/>
          </a:p>
          <a:p>
            <a:pPr marL="0" indent="0">
              <a:lnSpc>
                <a:spcPct val="108000"/>
              </a:lnSpc>
              <a:buNone/>
            </a:pPr>
            <a:r>
              <a:rPr lang="en-US" sz="600" dirty="0">
                <a:solidFill>
                  <a:schemeClr val="tx1"/>
                </a:solidFill>
              </a:rPr>
              <a:t> </a:t>
            </a:r>
            <a:endParaRPr lang="en-US" sz="1150" dirty="0"/>
          </a:p>
          <a:p>
            <a:pPr marL="0" indent="0">
              <a:lnSpc>
                <a:spcPct val="108000"/>
              </a:lnSpc>
              <a:buNone/>
            </a:pPr>
            <a:r>
              <a:rPr lang="en-US" sz="1150" b="1" dirty="0">
                <a:solidFill>
                  <a:schemeClr val="tx1"/>
                </a:solidFill>
              </a:rPr>
              <a:t>Finance team. </a:t>
            </a:r>
            <a:r>
              <a:rPr lang="en-US" sz="1150" dirty="0">
                <a:solidFill>
                  <a:schemeClr val="tx1"/>
                </a:solidFill>
              </a:rPr>
              <a:t>Marc Erpenbeck, President. Ian, in-house accountant, runs the day-to-day. The CFO departed on October 2.</a:t>
            </a:r>
            <a:endParaRPr lang="en-US" sz="1150" dirty="0"/>
          </a:p>
          <a:p>
            <a:pPr marL="0" indent="0">
              <a:lnSpc>
                <a:spcPct val="108000"/>
              </a:lnSpc>
              <a:buNone/>
            </a:pPr>
            <a:r>
              <a:rPr lang="en-US" sz="600" dirty="0">
                <a:solidFill>
                  <a:schemeClr val="tx1"/>
                </a:solidFill>
              </a:rPr>
              <a:t> </a:t>
            </a:r>
            <a:endParaRPr lang="en-US" sz="1150" dirty="0"/>
          </a:p>
          <a:p>
            <a:pPr marL="0" indent="0">
              <a:lnSpc>
                <a:spcPct val="108000"/>
              </a:lnSpc>
              <a:buNone/>
            </a:pPr>
            <a:r>
              <a:rPr lang="en-US" sz="1150" b="1" dirty="0">
                <a:solidFill>
                  <a:schemeClr val="tx1"/>
                </a:solidFill>
              </a:rPr>
              <a:t>Systems. </a:t>
            </a:r>
            <a:r>
              <a:rPr lang="en-US" sz="1150" dirty="0">
                <a:solidFill>
                  <a:schemeClr val="tx1"/>
                </a:solidFill>
              </a:rPr>
              <a:t>Sage Intacct (general ledger), ServiceTitan (field service and point of sale), QStock (inventory), BambooHR and TRAX (HR and weekly payroll), Bill.com under evaluation for AP.</a:t>
            </a:r>
            <a:endParaRPr lang="en-US" sz="1150" dirty="0"/>
          </a:p>
          <a:p>
            <a:pPr marL="0" indent="0">
              <a:lnSpc>
                <a:spcPct val="108000"/>
              </a:lnSpc>
              <a:buNone/>
            </a:pPr>
            <a:r>
              <a:rPr lang="en-US" sz="600" dirty="0">
                <a:solidFill>
                  <a:schemeClr val="tx1"/>
                </a:solidFill>
              </a:rPr>
              <a:t> </a:t>
            </a:r>
            <a:endParaRPr lang="en-US" sz="1150" dirty="0"/>
          </a:p>
          <a:p>
            <a:pPr marL="0" indent="0">
              <a:lnSpc>
                <a:spcPct val="108000"/>
              </a:lnSpc>
              <a:buNone/>
            </a:pPr>
            <a:r>
              <a:rPr lang="en-US" sz="1150" b="1" dirty="0">
                <a:solidFill>
                  <a:schemeClr val="tx1"/>
                </a:solidFill>
              </a:rPr>
              <a:t>Banking and structure. </a:t>
            </a:r>
            <a:r>
              <a:rPr lang="en-US" sz="1150" dirty="0">
                <a:solidFill>
                  <a:schemeClr val="tx1"/>
                </a:solidFill>
              </a:rPr>
              <a:t>Bell Bank, with quarterly reporting. C corporation today, with a planned conversion back to an S corporation in 2028. Annual financial audit and a 401(k) plan audit.</a:t>
            </a:r>
            <a:endParaRPr lang="en-US" sz="1150" dirty="0"/>
          </a:p>
        </p:txBody>
      </p:sp>
      <p:sp>
        <p:nvSpPr>
          <p:cNvPr id="7" name="Text 5"/>
          <p:cNvSpPr txBox="1"/>
          <p:nvPr/>
        </p:nvSpPr>
        <p:spPr>
          <a:xfrm>
            <a:off x="4338218" y="1783080"/>
            <a:ext cx="3515258"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What you asked for</a:t>
            </a:r>
            <a:endParaRPr lang="en-US" sz="1300" dirty="0"/>
          </a:p>
        </p:txBody>
      </p:sp>
      <p:sp>
        <p:nvSpPr>
          <p:cNvPr id="8" name="need 1"/>
          <p:cNvSpPr/>
          <p:nvPr/>
        </p:nvSpPr>
        <p:spPr>
          <a:xfrm>
            <a:off x="4338218" y="222199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9" name="Text 7"/>
          <p:cNvSpPr txBox="1"/>
          <p:nvPr/>
        </p:nvSpPr>
        <p:spPr>
          <a:xfrm>
            <a:off x="4338218" y="222199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0" name="Text 8"/>
          <p:cNvSpPr txBox="1"/>
          <p:nvPr/>
        </p:nvSpPr>
        <p:spPr>
          <a:xfrm>
            <a:off x="4795418" y="2194560"/>
            <a:ext cx="3058058" cy="731520"/>
          </a:xfrm>
          <a:prstGeom prst="rect">
            <a:avLst/>
          </a:prstGeom>
          <a:noFill/>
          <a:ln/>
        </p:spPr>
        <p:txBody>
          <a:bodyPr wrap="square" lIns="0" tIns="0" rIns="0" bIns="0" rtlCol="0" anchor="t"/>
          <a:lstStyle/>
          <a:p>
            <a:pPr marL="0" indent="0">
              <a:buNone/>
            </a:pPr>
            <a:r>
              <a:rPr lang="en-US" sz="1150" dirty="0">
                <a:solidFill>
                  <a:schemeClr val="tx1"/>
                </a:solidFill>
              </a:rPr>
              <a:t>Continuity of the finance function now, without waiting for a hire to ramp up.</a:t>
            </a:r>
            <a:endParaRPr lang="en-US" sz="1150" dirty="0"/>
          </a:p>
        </p:txBody>
      </p:sp>
      <p:sp>
        <p:nvSpPr>
          <p:cNvPr id="11" name="need 2"/>
          <p:cNvSpPr/>
          <p:nvPr/>
        </p:nvSpPr>
        <p:spPr>
          <a:xfrm>
            <a:off x="4338218" y="299923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12" name="Text 10"/>
          <p:cNvSpPr txBox="1"/>
          <p:nvPr/>
        </p:nvSpPr>
        <p:spPr>
          <a:xfrm>
            <a:off x="4338218" y="299923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3" name="Text 11"/>
          <p:cNvSpPr txBox="1"/>
          <p:nvPr/>
        </p:nvSpPr>
        <p:spPr>
          <a:xfrm>
            <a:off x="4795418" y="2971800"/>
            <a:ext cx="3058058" cy="731520"/>
          </a:xfrm>
          <a:prstGeom prst="rect">
            <a:avLst/>
          </a:prstGeom>
          <a:noFill/>
          <a:ln/>
        </p:spPr>
        <p:txBody>
          <a:bodyPr wrap="square" lIns="0" tIns="0" rIns="0" bIns="0" rtlCol="0" anchor="t"/>
          <a:lstStyle/>
          <a:p>
            <a:pPr marL="0" indent="0">
              <a:buNone/>
            </a:pPr>
            <a:r>
              <a:rPr lang="en-US" sz="1150" dirty="0">
                <a:solidFill>
                  <a:schemeClr val="tx1"/>
                </a:solidFill>
              </a:rPr>
              <a:t>Controller leadership of the monthly close, with review of the day-to-day work and training for Ian.</a:t>
            </a:r>
            <a:endParaRPr lang="en-US" sz="1150" dirty="0"/>
          </a:p>
        </p:txBody>
      </p:sp>
      <p:sp>
        <p:nvSpPr>
          <p:cNvPr id="14" name="need 3"/>
          <p:cNvSpPr/>
          <p:nvPr/>
        </p:nvSpPr>
        <p:spPr>
          <a:xfrm>
            <a:off x="4338218" y="377647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15" name="Text 13"/>
          <p:cNvSpPr txBox="1"/>
          <p:nvPr/>
        </p:nvSpPr>
        <p:spPr>
          <a:xfrm>
            <a:off x="4338218" y="377647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6" name="Text 14"/>
          <p:cNvSpPr txBox="1"/>
          <p:nvPr/>
        </p:nvSpPr>
        <p:spPr>
          <a:xfrm>
            <a:off x="4795418" y="3749040"/>
            <a:ext cx="3058058" cy="731520"/>
          </a:xfrm>
          <a:prstGeom prst="rect">
            <a:avLst/>
          </a:prstGeom>
          <a:noFill/>
          <a:ln/>
        </p:spPr>
        <p:txBody>
          <a:bodyPr wrap="square" lIns="0" tIns="0" rIns="0" bIns="0" rtlCol="0" anchor="t"/>
          <a:lstStyle/>
          <a:p>
            <a:pPr marL="0" indent="0">
              <a:buNone/>
            </a:pPr>
            <a:r>
              <a:rPr lang="en-US" sz="1150" dirty="0">
                <a:solidFill>
                  <a:schemeClr val="tx1"/>
                </a:solidFill>
              </a:rPr>
              <a:t>Management and Bell Bank reporting that is accurate and on time.</a:t>
            </a:r>
            <a:endParaRPr lang="en-US" sz="1150" dirty="0"/>
          </a:p>
        </p:txBody>
      </p:sp>
      <p:sp>
        <p:nvSpPr>
          <p:cNvPr id="17" name="need 4"/>
          <p:cNvSpPr/>
          <p:nvPr/>
        </p:nvSpPr>
        <p:spPr>
          <a:xfrm>
            <a:off x="4338218" y="455371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18" name="Text 16"/>
          <p:cNvSpPr txBox="1"/>
          <p:nvPr/>
        </p:nvSpPr>
        <p:spPr>
          <a:xfrm>
            <a:off x="4338218" y="455371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9" name="Text 17"/>
          <p:cNvSpPr txBox="1"/>
          <p:nvPr/>
        </p:nvSpPr>
        <p:spPr>
          <a:xfrm>
            <a:off x="4795418" y="4526280"/>
            <a:ext cx="3058058" cy="731520"/>
          </a:xfrm>
          <a:prstGeom prst="rect">
            <a:avLst/>
          </a:prstGeom>
          <a:noFill/>
          <a:ln/>
        </p:spPr>
        <p:txBody>
          <a:bodyPr wrap="square" lIns="0" tIns="0" rIns="0" bIns="0" rtlCol="0" anchor="t"/>
          <a:lstStyle/>
          <a:p>
            <a:pPr marL="0" indent="0">
              <a:buNone/>
            </a:pPr>
            <a:r>
              <a:rPr lang="en-US" sz="1150" dirty="0">
                <a:solidFill>
                  <a:schemeClr val="tx1"/>
                </a:solidFill>
              </a:rPr>
              <a:t>Less manual work between ServiceTitan, QStock and Sage Intacct, and a smoother accounts payable process.</a:t>
            </a:r>
            <a:endParaRPr lang="en-US" sz="1150" dirty="0"/>
          </a:p>
        </p:txBody>
      </p:sp>
      <p:sp>
        <p:nvSpPr>
          <p:cNvPr id="20" name="need 5"/>
          <p:cNvSpPr/>
          <p:nvPr/>
        </p:nvSpPr>
        <p:spPr>
          <a:xfrm>
            <a:off x="4338218" y="533095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21" name="Text 19"/>
          <p:cNvSpPr txBox="1"/>
          <p:nvPr/>
        </p:nvSpPr>
        <p:spPr>
          <a:xfrm>
            <a:off x="4338218" y="533095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22" name="Text 20"/>
          <p:cNvSpPr txBox="1"/>
          <p:nvPr/>
        </p:nvSpPr>
        <p:spPr>
          <a:xfrm>
            <a:off x="4795418" y="5303520"/>
            <a:ext cx="3058058" cy="731520"/>
          </a:xfrm>
          <a:prstGeom prst="rect">
            <a:avLst/>
          </a:prstGeom>
          <a:noFill/>
          <a:ln/>
        </p:spPr>
        <p:txBody>
          <a:bodyPr wrap="square" lIns="0" tIns="0" rIns="0" bIns="0" rtlCol="0" anchor="t"/>
          <a:lstStyle/>
          <a:p>
            <a:pPr marL="0" indent="0">
              <a:buNone/>
            </a:pPr>
            <a:r>
              <a:rPr lang="en-US" sz="1150" dirty="0">
                <a:solidFill>
                  <a:schemeClr val="tx1"/>
                </a:solidFill>
              </a:rPr>
              <a:t>CFO guidance on budgeting, forecasting, the audits and the 2028 S corporation conversion.</a:t>
            </a:r>
            <a:endParaRPr lang="en-US" sz="1150" dirty="0"/>
          </a:p>
        </p:txBody>
      </p:sp>
      <p:sp>
        <p:nvSpPr>
          <p:cNvPr id="23" name="Text 21"/>
          <p:cNvSpPr txBox="1"/>
          <p:nvPr/>
        </p:nvSpPr>
        <p:spPr>
          <a:xfrm>
            <a:off x="8127797" y="1783080"/>
            <a:ext cx="3515258"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Dates that do not wait</a:t>
            </a:r>
            <a:endParaRPr lang="en-US" sz="1300" dirty="0"/>
          </a:p>
        </p:txBody>
      </p:sp>
      <p:sp>
        <p:nvSpPr>
          <p:cNvPr id="24" name="date Oct 15"/>
          <p:cNvSpPr/>
          <p:nvPr/>
        </p:nvSpPr>
        <p:spPr>
          <a:xfrm>
            <a:off x="8127797" y="2194560"/>
            <a:ext cx="960120" cy="457200"/>
          </a:xfrm>
          <a:prstGeom prst="rect">
            <a:avLst/>
          </a:prstGeom>
          <a:solidFill>
            <a:schemeClr val="accent2"/>
          </a:solidFill>
          <a:ln w="12700">
            <a:solidFill>
              <a:srgbClr val="AF1F29"/>
            </a:solidFill>
            <a:prstDash val="solid"/>
          </a:ln>
        </p:spPr>
        <p:txBody>
          <a:bodyPr/>
          <a:lstStyle/>
          <a:p>
            <a:endParaRPr lang="en-US"/>
          </a:p>
        </p:txBody>
      </p:sp>
      <p:sp>
        <p:nvSpPr>
          <p:cNvPr id="25" name="Text 23"/>
          <p:cNvSpPr txBox="1"/>
          <p:nvPr/>
        </p:nvSpPr>
        <p:spPr>
          <a:xfrm>
            <a:off x="8127797" y="219456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Oct 15</a:t>
            </a:r>
            <a:endParaRPr lang="en-US" sz="1150" dirty="0"/>
          </a:p>
        </p:txBody>
      </p:sp>
      <p:sp>
        <p:nvSpPr>
          <p:cNvPr id="26" name="Text 24"/>
          <p:cNvSpPr txBox="1"/>
          <p:nvPr/>
        </p:nvSpPr>
        <p:spPr>
          <a:xfrm>
            <a:off x="9225077" y="2194560"/>
            <a:ext cx="2417978" cy="731520"/>
          </a:xfrm>
          <a:prstGeom prst="rect">
            <a:avLst/>
          </a:prstGeom>
          <a:noFill/>
          <a:ln/>
        </p:spPr>
        <p:txBody>
          <a:bodyPr wrap="square" lIns="0" tIns="0" rIns="0" bIns="0" rtlCol="0" anchor="t"/>
          <a:lstStyle/>
          <a:p>
            <a:pPr marL="0" indent="0">
              <a:buNone/>
            </a:pPr>
            <a:r>
              <a:rPr lang="en-US" sz="1150" dirty="0">
                <a:solidFill>
                  <a:schemeClr val="tx1"/>
                </a:solidFill>
              </a:rPr>
              <a:t>401(k) plan audit deadline</a:t>
            </a:r>
            <a:endParaRPr lang="en-US" sz="1150" dirty="0"/>
          </a:p>
        </p:txBody>
      </p:sp>
      <p:sp>
        <p:nvSpPr>
          <p:cNvPr id="27" name="date Nov 14"/>
          <p:cNvSpPr/>
          <p:nvPr/>
        </p:nvSpPr>
        <p:spPr>
          <a:xfrm>
            <a:off x="8127797" y="2971800"/>
            <a:ext cx="960120" cy="457200"/>
          </a:xfrm>
          <a:prstGeom prst="rect">
            <a:avLst/>
          </a:prstGeom>
          <a:solidFill>
            <a:schemeClr val="accent2"/>
          </a:solidFill>
          <a:ln w="12700">
            <a:solidFill>
              <a:srgbClr val="AF1F29"/>
            </a:solidFill>
            <a:prstDash val="solid"/>
          </a:ln>
        </p:spPr>
        <p:txBody>
          <a:bodyPr/>
          <a:lstStyle/>
          <a:p>
            <a:endParaRPr lang="en-US"/>
          </a:p>
        </p:txBody>
      </p:sp>
      <p:sp>
        <p:nvSpPr>
          <p:cNvPr id="28" name="Text 26"/>
          <p:cNvSpPr txBox="1"/>
          <p:nvPr/>
        </p:nvSpPr>
        <p:spPr>
          <a:xfrm>
            <a:off x="8127797" y="297180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Nov 14</a:t>
            </a:r>
            <a:endParaRPr lang="en-US" sz="1150" dirty="0"/>
          </a:p>
        </p:txBody>
      </p:sp>
      <p:sp>
        <p:nvSpPr>
          <p:cNvPr id="29" name="Text 27"/>
          <p:cNvSpPr txBox="1"/>
          <p:nvPr/>
        </p:nvSpPr>
        <p:spPr>
          <a:xfrm>
            <a:off x="9225077" y="2971800"/>
            <a:ext cx="2417978" cy="731520"/>
          </a:xfrm>
          <a:prstGeom prst="rect">
            <a:avLst/>
          </a:prstGeom>
          <a:noFill/>
          <a:ln/>
        </p:spPr>
        <p:txBody>
          <a:bodyPr wrap="square" lIns="0" tIns="0" rIns="0" bIns="0" rtlCol="0" anchor="t"/>
          <a:lstStyle/>
          <a:p>
            <a:pPr marL="0" indent="0">
              <a:buNone/>
            </a:pPr>
            <a:r>
              <a:rPr lang="en-US" sz="1150" dirty="0">
                <a:solidFill>
                  <a:schemeClr val="tx1"/>
                </a:solidFill>
              </a:rPr>
              <a:t>Bell Bank third-quarter reporting</a:t>
            </a:r>
            <a:endParaRPr lang="en-US" sz="1150" dirty="0"/>
          </a:p>
        </p:txBody>
      </p:sp>
      <p:sp>
        <p:nvSpPr>
          <p:cNvPr id="30" name="date Now"/>
          <p:cNvSpPr/>
          <p:nvPr/>
        </p:nvSpPr>
        <p:spPr>
          <a:xfrm>
            <a:off x="8127797" y="3749040"/>
            <a:ext cx="960120" cy="457200"/>
          </a:xfrm>
          <a:prstGeom prst="rect">
            <a:avLst/>
          </a:prstGeom>
          <a:solidFill>
            <a:schemeClr val="accent2"/>
          </a:solidFill>
          <a:ln w="12700">
            <a:solidFill>
              <a:srgbClr val="AF1F29"/>
            </a:solidFill>
            <a:prstDash val="solid"/>
          </a:ln>
        </p:spPr>
        <p:txBody>
          <a:bodyPr/>
          <a:lstStyle/>
          <a:p>
            <a:endParaRPr lang="en-US"/>
          </a:p>
        </p:txBody>
      </p:sp>
      <p:sp>
        <p:nvSpPr>
          <p:cNvPr id="31" name="Text 29"/>
          <p:cNvSpPr txBox="1"/>
          <p:nvPr/>
        </p:nvSpPr>
        <p:spPr>
          <a:xfrm>
            <a:off x="8127797" y="374904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Now</a:t>
            </a:r>
            <a:endParaRPr lang="en-US" sz="1150" dirty="0"/>
          </a:p>
        </p:txBody>
      </p:sp>
      <p:sp>
        <p:nvSpPr>
          <p:cNvPr id="32" name="Text 30"/>
          <p:cNvSpPr txBox="1"/>
          <p:nvPr/>
        </p:nvSpPr>
        <p:spPr>
          <a:xfrm>
            <a:off x="9225077" y="3749040"/>
            <a:ext cx="2417978" cy="731520"/>
          </a:xfrm>
          <a:prstGeom prst="rect">
            <a:avLst/>
          </a:prstGeom>
          <a:noFill/>
          <a:ln/>
        </p:spPr>
        <p:txBody>
          <a:bodyPr wrap="square" lIns="0" tIns="0" rIns="0" bIns="0" rtlCol="0" anchor="t"/>
          <a:lstStyle/>
          <a:p>
            <a:pPr marL="0" indent="0">
              <a:buNone/>
            </a:pPr>
            <a:r>
              <a:rPr lang="en-US" sz="1150" dirty="0">
                <a:solidFill>
                  <a:schemeClr val="tx1"/>
                </a:solidFill>
              </a:rPr>
              <a:t>Completed tax return to your preparer for filing</a:t>
            </a:r>
            <a:endParaRPr lang="en-US" sz="1150" dirty="0"/>
          </a:p>
        </p:txBody>
      </p:sp>
      <p:sp>
        <p:nvSpPr>
          <p:cNvPr id="33" name="date Monthly"/>
          <p:cNvSpPr/>
          <p:nvPr/>
        </p:nvSpPr>
        <p:spPr>
          <a:xfrm>
            <a:off x="8127797" y="4526280"/>
            <a:ext cx="960120" cy="457200"/>
          </a:xfrm>
          <a:prstGeom prst="rect">
            <a:avLst/>
          </a:prstGeom>
          <a:solidFill>
            <a:schemeClr val="accent2"/>
          </a:solidFill>
          <a:ln w="12700">
            <a:solidFill>
              <a:srgbClr val="AF1F29"/>
            </a:solidFill>
            <a:prstDash val="solid"/>
          </a:ln>
        </p:spPr>
        <p:txBody>
          <a:bodyPr/>
          <a:lstStyle/>
          <a:p>
            <a:endParaRPr lang="en-US"/>
          </a:p>
        </p:txBody>
      </p:sp>
      <p:sp>
        <p:nvSpPr>
          <p:cNvPr id="34" name="Text 32"/>
          <p:cNvSpPr txBox="1"/>
          <p:nvPr/>
        </p:nvSpPr>
        <p:spPr>
          <a:xfrm>
            <a:off x="8127797" y="452628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Monthly</a:t>
            </a:r>
            <a:endParaRPr lang="en-US" sz="1150" dirty="0"/>
          </a:p>
        </p:txBody>
      </p:sp>
      <p:sp>
        <p:nvSpPr>
          <p:cNvPr id="35" name="Text 33"/>
          <p:cNvSpPr txBox="1"/>
          <p:nvPr/>
        </p:nvSpPr>
        <p:spPr>
          <a:xfrm>
            <a:off x="9225077" y="4526280"/>
            <a:ext cx="2417978" cy="731520"/>
          </a:xfrm>
          <a:prstGeom prst="rect">
            <a:avLst/>
          </a:prstGeom>
          <a:noFill/>
          <a:ln/>
        </p:spPr>
        <p:txBody>
          <a:bodyPr wrap="square" lIns="0" tIns="0" rIns="0" bIns="0" rtlCol="0" anchor="t"/>
          <a:lstStyle/>
          <a:p>
            <a:pPr marL="0" indent="0">
              <a:buNone/>
            </a:pPr>
            <a:r>
              <a:rPr lang="en-US" sz="1150" dirty="0">
                <a:solidFill>
                  <a:schemeClr val="tx1"/>
                </a:solidFill>
              </a:rPr>
              <a:t>Close, management reporting and weekly payroll and benefit submissions continue uninterrupted</a:t>
            </a:r>
            <a:endParaRPr lang="en-US" sz="1150" dirty="0"/>
          </a:p>
        </p:txBody>
      </p:sp>
      <p:sp>
        <p:nvSpPr>
          <p:cNvPr id="36" name="date Dec 31"/>
          <p:cNvSpPr/>
          <p:nvPr/>
        </p:nvSpPr>
        <p:spPr>
          <a:xfrm>
            <a:off x="8127797" y="5303520"/>
            <a:ext cx="960120" cy="457200"/>
          </a:xfrm>
          <a:prstGeom prst="rect">
            <a:avLst/>
          </a:prstGeom>
          <a:solidFill>
            <a:schemeClr val="accent2"/>
          </a:solidFill>
          <a:ln w="12700">
            <a:solidFill>
              <a:srgbClr val="AF1F29"/>
            </a:solidFill>
            <a:prstDash val="solid"/>
          </a:ln>
        </p:spPr>
        <p:txBody>
          <a:bodyPr/>
          <a:lstStyle/>
          <a:p>
            <a:endParaRPr lang="en-US"/>
          </a:p>
        </p:txBody>
      </p:sp>
      <p:sp>
        <p:nvSpPr>
          <p:cNvPr id="37" name="Text 35"/>
          <p:cNvSpPr txBox="1"/>
          <p:nvPr/>
        </p:nvSpPr>
        <p:spPr>
          <a:xfrm>
            <a:off x="8127797" y="530352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Dec 31</a:t>
            </a:r>
            <a:endParaRPr lang="en-US" sz="1150" dirty="0"/>
          </a:p>
        </p:txBody>
      </p:sp>
      <p:sp>
        <p:nvSpPr>
          <p:cNvPr id="38" name="Text 36"/>
          <p:cNvSpPr txBox="1"/>
          <p:nvPr/>
        </p:nvSpPr>
        <p:spPr>
          <a:xfrm>
            <a:off x="9225077" y="5303520"/>
            <a:ext cx="2417978" cy="731520"/>
          </a:xfrm>
          <a:prstGeom prst="rect">
            <a:avLst/>
          </a:prstGeom>
          <a:noFill/>
          <a:ln/>
        </p:spPr>
        <p:txBody>
          <a:bodyPr wrap="square" lIns="0" tIns="0" rIns="0" bIns="0" rtlCol="0" anchor="t"/>
          <a:lstStyle/>
          <a:p>
            <a:pPr marL="0" indent="0">
              <a:buNone/>
            </a:pPr>
            <a:r>
              <a:rPr lang="en-US" sz="1150" dirty="0">
                <a:solidFill>
                  <a:schemeClr val="tx1"/>
                </a:solidFill>
              </a:rPr>
              <a:t>Year-end close, then the financial audit</a:t>
            </a:r>
            <a:endParaRPr lang="en-US" sz="1150" dirty="0"/>
          </a:p>
        </p:txBody>
      </p:sp>
      <p:sp>
        <p:nvSpPr>
          <p:cNvPr id="39" name="Text 37"/>
          <p:cNvSpPr txBox="1"/>
          <p:nvPr/>
        </p:nvSpPr>
        <p:spPr>
          <a:xfrm>
            <a:off x="548640" y="6263640"/>
            <a:ext cx="10972800" cy="274320"/>
          </a:xfrm>
          <a:prstGeom prst="rect">
            <a:avLst/>
          </a:prstGeom>
          <a:noFill/>
          <a:ln/>
        </p:spPr>
        <p:txBody>
          <a:bodyPr wrap="square" lIns="0" tIns="0" rIns="0" bIns="0" rtlCol="0" anchor="t"/>
          <a:lstStyle/>
          <a:p>
            <a:pPr marL="0" indent="0">
              <a:buNone/>
            </a:pPr>
            <a:r>
              <a:rPr lang="en-US" sz="950" dirty="0">
                <a:solidFill>
                  <a:schemeClr val="accent3"/>
                </a:solidFill>
              </a:rPr>
              <a:t>Based on our October 2 meeting with Marc, Shawne, Josh and Ian and the materials provided afterward. Details are confirmed during onboarding.</a:t>
            </a:r>
            <a:endParaRPr lang="en-US" sz="950" dirty="0"/>
          </a:p>
        </p:txBody>
      </p:sp>
      <p:sp>
        <p:nvSpPr>
          <p:cNvPr id="4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02  WHAT WE CAN HELP WITH</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Services proposed for George Brazil</a:t>
            </a:r>
            <a:endParaRPr lang="en-US" sz="2800" dirty="0"/>
          </a:p>
        </p:txBody>
      </p:sp>
      <p:sp>
        <p:nvSpPr>
          <p:cNvPr id="4" name="card Controller services"/>
          <p:cNvSpPr/>
          <p:nvPr/>
        </p:nvSpPr>
        <p:spPr>
          <a:xfrm>
            <a:off x="548640" y="1463040"/>
            <a:ext cx="3545738" cy="2560320"/>
          </a:xfrm>
          <a:prstGeom prst="rect">
            <a:avLst/>
          </a:prstGeom>
          <a:solidFill>
            <a:schemeClr val="accent5"/>
          </a:solidFill>
          <a:ln w="9525">
            <a:solidFill>
              <a:srgbClr val="D5D9E0"/>
            </a:solidFill>
            <a:prstDash val="solid"/>
          </a:ln>
        </p:spPr>
        <p:txBody>
          <a:bodyPr/>
          <a:lstStyle/>
          <a:p>
            <a:endParaRPr lang="en-US"/>
          </a:p>
        </p:txBody>
      </p:sp>
      <p:sp>
        <p:nvSpPr>
          <p:cNvPr id="5" name="Text 3"/>
          <p:cNvSpPr txBox="1"/>
          <p:nvPr/>
        </p:nvSpPr>
        <p:spPr>
          <a:xfrm>
            <a:off x="731520" y="162763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Controller services</a:t>
            </a:r>
            <a:endParaRPr lang="en-US" sz="1300" dirty="0"/>
          </a:p>
        </p:txBody>
      </p:sp>
      <p:sp>
        <p:nvSpPr>
          <p:cNvPr id="6" name="Text 4"/>
          <p:cNvSpPr txBox="1"/>
          <p:nvPr/>
        </p:nvSpPr>
        <p:spPr>
          <a:xfrm>
            <a:off x="731520" y="2029968"/>
            <a:ext cx="3179978" cy="1874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Lead the monthly close on an agreed calendar</a:t>
            </a:r>
            <a:endParaRPr lang="en-US" sz="1150" dirty="0"/>
          </a:p>
          <a:p>
            <a:pPr marL="152400" indent="-152400">
              <a:spcAft>
                <a:spcPts val="400"/>
              </a:spcAft>
              <a:buSzPct val="100000"/>
              <a:buChar char="•"/>
            </a:pPr>
            <a:r>
              <a:rPr lang="en-US" sz="1150" dirty="0">
                <a:solidFill>
                  <a:schemeClr val="tx1"/>
                </a:solidFill>
              </a:rPr>
              <a:t>Review bank, credit card and loan reconciliations and journal entries</a:t>
            </a:r>
            <a:endParaRPr lang="en-US" sz="1150" dirty="0"/>
          </a:p>
          <a:p>
            <a:pPr marL="152400" indent="-152400">
              <a:spcAft>
                <a:spcPts val="400"/>
              </a:spcAft>
              <a:buSzPct val="100000"/>
              <a:buChar char="•"/>
            </a:pPr>
            <a:r>
              <a:rPr lang="en-US" sz="1150" dirty="0">
                <a:solidFill>
                  <a:schemeClr val="tx1"/>
                </a:solidFill>
              </a:rPr>
              <a:t>Review accounts payable (check run, positive pay) and accounts receivable, collections and deposits</a:t>
            </a:r>
            <a:endParaRPr lang="en-US" sz="1150" dirty="0"/>
          </a:p>
          <a:p>
            <a:pPr marL="152400" indent="-152400">
              <a:spcAft>
                <a:spcPts val="400"/>
              </a:spcAft>
              <a:buSzPct val="100000"/>
              <a:buChar char="•"/>
            </a:pPr>
            <a:r>
              <a:rPr lang="en-US" sz="1150" dirty="0">
                <a:solidFill>
                  <a:schemeClr val="tx1"/>
                </a:solidFill>
              </a:rPr>
              <a:t>Maintain depreciation schedules</a:t>
            </a:r>
            <a:endParaRPr lang="en-US" sz="1150" dirty="0"/>
          </a:p>
          <a:p>
            <a:pPr marL="152400" indent="-152400">
              <a:spcAft>
                <a:spcPts val="400"/>
              </a:spcAft>
              <a:buSzPct val="100000"/>
              <a:buChar char="•"/>
            </a:pPr>
            <a:r>
              <a:rPr lang="en-US" sz="1150" dirty="0">
                <a:solidFill>
                  <a:schemeClr val="tx1"/>
                </a:solidFill>
              </a:rPr>
              <a:t>Support job-costing and inventory entries at month end</a:t>
            </a:r>
            <a:endParaRPr lang="en-US" sz="1150" dirty="0"/>
          </a:p>
          <a:p>
            <a:pPr marL="152400" indent="-152400">
              <a:spcAft>
                <a:spcPts val="400"/>
              </a:spcAft>
              <a:buSzPct val="100000"/>
              <a:buChar char="•"/>
            </a:pPr>
            <a:r>
              <a:rPr lang="en-US" sz="1150" dirty="0">
                <a:solidFill>
                  <a:schemeClr val="tx1"/>
                </a:solidFill>
              </a:rPr>
              <a:t>Document procedures and simplify the chart of accounts</a:t>
            </a:r>
            <a:endParaRPr lang="en-US" sz="1150" dirty="0"/>
          </a:p>
        </p:txBody>
      </p:sp>
      <p:sp>
        <p:nvSpPr>
          <p:cNvPr id="7" name="card Management and bank reporting"/>
          <p:cNvSpPr/>
          <p:nvPr/>
        </p:nvSpPr>
        <p:spPr>
          <a:xfrm>
            <a:off x="4322978" y="1463040"/>
            <a:ext cx="3545738" cy="2560320"/>
          </a:xfrm>
          <a:prstGeom prst="rect">
            <a:avLst/>
          </a:prstGeom>
          <a:solidFill>
            <a:schemeClr val="accent5"/>
          </a:solidFill>
          <a:ln w="9525">
            <a:solidFill>
              <a:srgbClr val="D5D9E0"/>
            </a:solidFill>
            <a:prstDash val="solid"/>
          </a:ln>
        </p:spPr>
        <p:txBody>
          <a:bodyPr/>
          <a:lstStyle/>
          <a:p>
            <a:endParaRPr lang="en-US"/>
          </a:p>
        </p:txBody>
      </p:sp>
      <p:sp>
        <p:nvSpPr>
          <p:cNvPr id="8" name="Text 6"/>
          <p:cNvSpPr txBox="1"/>
          <p:nvPr/>
        </p:nvSpPr>
        <p:spPr>
          <a:xfrm>
            <a:off x="4505858" y="162763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Management and bank reporting</a:t>
            </a:r>
            <a:endParaRPr lang="en-US" sz="1300" dirty="0"/>
          </a:p>
        </p:txBody>
      </p:sp>
      <p:sp>
        <p:nvSpPr>
          <p:cNvPr id="9" name="Text 7"/>
          <p:cNvSpPr txBox="1"/>
          <p:nvPr/>
        </p:nvSpPr>
        <p:spPr>
          <a:xfrm>
            <a:off x="4505858" y="2029968"/>
            <a:ext cx="3179978" cy="1874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Monthly management and departmental reporting in the format you use today</a:t>
            </a:r>
            <a:endParaRPr lang="en-US" sz="1150" dirty="0"/>
          </a:p>
          <a:p>
            <a:pPr marL="152400" indent="-152400">
              <a:spcAft>
                <a:spcPts val="400"/>
              </a:spcAft>
              <a:buSzPct val="100000"/>
              <a:buChar char="•"/>
            </a:pPr>
            <a:r>
              <a:rPr lang="en-US" sz="1150" dirty="0">
                <a:solidFill>
                  <a:schemeClr val="tx1"/>
                </a:solidFill>
              </a:rPr>
              <a:t>Bell Bank quarterly package and routine bank requests</a:t>
            </a:r>
            <a:endParaRPr lang="en-US" sz="1150" dirty="0"/>
          </a:p>
          <a:p>
            <a:pPr marL="152400" indent="-152400">
              <a:spcAft>
                <a:spcPts val="400"/>
              </a:spcAft>
              <a:buSzPct val="100000"/>
              <a:buChar char="•"/>
            </a:pPr>
            <a:r>
              <a:rPr lang="en-US" sz="1150" dirty="0">
                <a:solidFill>
                  <a:schemeClr val="tx1"/>
                </a:solidFill>
              </a:rPr>
              <a:t>Key business metrics reviewed with management each month</a:t>
            </a:r>
            <a:endParaRPr lang="en-US" sz="1150" dirty="0"/>
          </a:p>
          <a:p>
            <a:pPr marL="152400" indent="-152400">
              <a:spcAft>
                <a:spcPts val="400"/>
              </a:spcAft>
              <a:buSzPct val="100000"/>
              <a:buChar char="•"/>
            </a:pPr>
            <a:r>
              <a:rPr lang="en-US" sz="1150" dirty="0">
                <a:solidFill>
                  <a:schemeClr val="tx1"/>
                </a:solidFill>
              </a:rPr>
              <a:t>Cash flow monitoring so you know what is coming in and going out</a:t>
            </a:r>
            <a:endParaRPr lang="en-US" sz="1150" dirty="0"/>
          </a:p>
        </p:txBody>
      </p:sp>
      <p:sp>
        <p:nvSpPr>
          <p:cNvPr id="10" name="card CFO advisory"/>
          <p:cNvSpPr/>
          <p:nvPr/>
        </p:nvSpPr>
        <p:spPr>
          <a:xfrm>
            <a:off x="8097317" y="1463040"/>
            <a:ext cx="3545738" cy="2560320"/>
          </a:xfrm>
          <a:prstGeom prst="rect">
            <a:avLst/>
          </a:prstGeom>
          <a:solidFill>
            <a:schemeClr val="accent5"/>
          </a:solidFill>
          <a:ln w="9525">
            <a:solidFill>
              <a:srgbClr val="D5D9E0"/>
            </a:solidFill>
            <a:prstDash val="solid"/>
          </a:ln>
        </p:spPr>
        <p:txBody>
          <a:bodyPr/>
          <a:lstStyle/>
          <a:p>
            <a:endParaRPr lang="en-US"/>
          </a:p>
        </p:txBody>
      </p:sp>
      <p:sp>
        <p:nvSpPr>
          <p:cNvPr id="11" name="Text 9"/>
          <p:cNvSpPr txBox="1"/>
          <p:nvPr/>
        </p:nvSpPr>
        <p:spPr>
          <a:xfrm>
            <a:off x="8280197" y="162763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CFO advisory</a:t>
            </a:r>
            <a:endParaRPr lang="en-US" sz="1300" dirty="0"/>
          </a:p>
        </p:txBody>
      </p:sp>
      <p:sp>
        <p:nvSpPr>
          <p:cNvPr id="12" name="Text 10"/>
          <p:cNvSpPr txBox="1"/>
          <p:nvPr/>
        </p:nvSpPr>
        <p:spPr>
          <a:xfrm>
            <a:off x="8280197" y="2029968"/>
            <a:ext cx="3179978" cy="1874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Budgeting, forecasting and scenario planning</a:t>
            </a:r>
            <a:endParaRPr lang="en-US" sz="1150" dirty="0"/>
          </a:p>
          <a:p>
            <a:pPr marL="152400" indent="-152400">
              <a:spcAft>
                <a:spcPts val="400"/>
              </a:spcAft>
              <a:buSzPct val="100000"/>
              <a:buChar char="•"/>
            </a:pPr>
            <a:r>
              <a:rPr lang="en-US" sz="1150" dirty="0">
                <a:solidFill>
                  <a:schemeClr val="tx1"/>
                </a:solidFill>
              </a:rPr>
              <a:t>Banking, lender and covenant reporting and negotiations</a:t>
            </a:r>
            <a:endParaRPr lang="en-US" sz="1150" dirty="0"/>
          </a:p>
          <a:p>
            <a:pPr marL="152400" indent="-152400">
              <a:spcAft>
                <a:spcPts val="400"/>
              </a:spcAft>
              <a:buSzPct val="100000"/>
              <a:buChar char="•"/>
            </a:pPr>
            <a:r>
              <a:rPr lang="en-US" sz="1150" dirty="0">
                <a:solidFill>
                  <a:schemeClr val="tx1"/>
                </a:solidFill>
              </a:rPr>
              <a:t>Accounting policy and reporting structure</a:t>
            </a:r>
            <a:endParaRPr lang="en-US" sz="1150" dirty="0"/>
          </a:p>
          <a:p>
            <a:pPr marL="152400" indent="-152400">
              <a:spcAft>
                <a:spcPts val="400"/>
              </a:spcAft>
              <a:buSzPct val="100000"/>
              <a:buChar char="•"/>
            </a:pPr>
            <a:r>
              <a:rPr lang="en-US" sz="1150" dirty="0">
                <a:solidFill>
                  <a:schemeClr val="tx1"/>
                </a:solidFill>
              </a:rPr>
              <a:t>Direction to the finance team as it is rebuilt</a:t>
            </a:r>
            <a:endParaRPr lang="en-US" sz="1150" dirty="0"/>
          </a:p>
          <a:p>
            <a:pPr marL="152400" indent="-152400">
              <a:spcAft>
                <a:spcPts val="400"/>
              </a:spcAft>
              <a:buSzPct val="100000"/>
              <a:buChar char="•"/>
            </a:pPr>
            <a:r>
              <a:rPr lang="en-US" sz="1150" dirty="0">
                <a:solidFill>
                  <a:schemeClr val="tx1"/>
                </a:solidFill>
              </a:rPr>
              <a:t>Planning and support for the 2028 S corporation conversion</a:t>
            </a:r>
            <a:endParaRPr lang="en-US" sz="1150" dirty="0"/>
          </a:p>
        </p:txBody>
      </p:sp>
      <p:sp>
        <p:nvSpPr>
          <p:cNvPr id="13" name="card Systems and process"/>
          <p:cNvSpPr/>
          <p:nvPr/>
        </p:nvSpPr>
        <p:spPr>
          <a:xfrm>
            <a:off x="548640" y="4251960"/>
            <a:ext cx="5432908" cy="1874520"/>
          </a:xfrm>
          <a:prstGeom prst="rect">
            <a:avLst/>
          </a:prstGeom>
          <a:solidFill>
            <a:schemeClr val="accent5"/>
          </a:solidFill>
          <a:ln w="9525">
            <a:solidFill>
              <a:srgbClr val="D5D9E0"/>
            </a:solidFill>
            <a:prstDash val="solid"/>
          </a:ln>
        </p:spPr>
        <p:txBody>
          <a:bodyPr/>
          <a:lstStyle/>
          <a:p>
            <a:endParaRPr lang="en-US"/>
          </a:p>
        </p:txBody>
      </p:sp>
      <p:sp>
        <p:nvSpPr>
          <p:cNvPr id="14" name="Text 12"/>
          <p:cNvSpPr txBox="1"/>
          <p:nvPr/>
        </p:nvSpPr>
        <p:spPr>
          <a:xfrm>
            <a:off x="731520" y="4416552"/>
            <a:ext cx="506714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Systems and process</a:t>
            </a:r>
            <a:endParaRPr lang="en-US" sz="1300" dirty="0"/>
          </a:p>
        </p:txBody>
      </p:sp>
      <p:sp>
        <p:nvSpPr>
          <p:cNvPr id="15" name="Text 13"/>
          <p:cNvSpPr txBox="1"/>
          <p:nvPr/>
        </p:nvSpPr>
        <p:spPr>
          <a:xfrm>
            <a:off x="731520" y="4818888"/>
            <a:ext cx="5067148" cy="11887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Streamline accounts payable, in Bill.com or within Sage Intacct</a:t>
            </a:r>
            <a:endParaRPr lang="en-US" sz="1150" dirty="0"/>
          </a:p>
          <a:p>
            <a:pPr marL="152400" indent="-152400">
              <a:spcAft>
                <a:spcPts val="400"/>
              </a:spcAft>
              <a:buSzPct val="100000"/>
              <a:buChar char="•"/>
            </a:pPr>
            <a:r>
              <a:rPr lang="en-US" sz="1150" dirty="0">
                <a:solidFill>
                  <a:schemeClr val="tx1"/>
                </a:solidFill>
              </a:rPr>
              <a:t>Reduce manual steps and bottlenecks between ServiceTitan, QStock and Sage Intacct</a:t>
            </a:r>
            <a:endParaRPr lang="en-US" sz="1150" dirty="0"/>
          </a:p>
          <a:p>
            <a:pPr marL="152400" indent="-152400">
              <a:spcAft>
                <a:spcPts val="400"/>
              </a:spcAft>
              <a:buSzPct val="100000"/>
              <a:buChar char="•"/>
            </a:pPr>
            <a:r>
              <a:rPr lang="en-US" sz="1150" dirty="0">
                <a:solidFill>
                  <a:schemeClr val="tx1"/>
                </a:solidFill>
              </a:rPr>
              <a:t>Support your inventory project and the QStock integration; your team leads the project</a:t>
            </a:r>
            <a:endParaRPr lang="en-US" sz="1150" dirty="0"/>
          </a:p>
          <a:p>
            <a:pPr marL="152400" indent="-152400">
              <a:spcAft>
                <a:spcPts val="400"/>
              </a:spcAft>
              <a:buSzPct val="100000"/>
              <a:buChar char="•"/>
            </a:pPr>
            <a:r>
              <a:rPr lang="en-US" sz="1150" dirty="0">
                <a:solidFill>
                  <a:schemeClr val="tx1"/>
                </a:solidFill>
              </a:rPr>
              <a:t>Build review controls into the new workflows</a:t>
            </a:r>
            <a:endParaRPr lang="en-US" sz="1150" dirty="0"/>
          </a:p>
        </p:txBody>
      </p:sp>
      <p:sp>
        <p:nvSpPr>
          <p:cNvPr id="16" name="card Audit, tax and payroll support"/>
          <p:cNvSpPr/>
          <p:nvPr/>
        </p:nvSpPr>
        <p:spPr>
          <a:xfrm>
            <a:off x="6210148" y="4251960"/>
            <a:ext cx="5432908" cy="1874520"/>
          </a:xfrm>
          <a:prstGeom prst="rect">
            <a:avLst/>
          </a:prstGeom>
          <a:solidFill>
            <a:schemeClr val="accent5"/>
          </a:solidFill>
          <a:ln w="9525">
            <a:solidFill>
              <a:srgbClr val="D5D9E0"/>
            </a:solidFill>
            <a:prstDash val="solid"/>
          </a:ln>
        </p:spPr>
        <p:txBody>
          <a:bodyPr/>
          <a:lstStyle/>
          <a:p>
            <a:endParaRPr lang="en-US"/>
          </a:p>
        </p:txBody>
      </p:sp>
      <p:sp>
        <p:nvSpPr>
          <p:cNvPr id="17" name="Text 15"/>
          <p:cNvSpPr txBox="1"/>
          <p:nvPr/>
        </p:nvSpPr>
        <p:spPr>
          <a:xfrm>
            <a:off x="6393028" y="4416552"/>
            <a:ext cx="506714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Audit, tax and payroll support</a:t>
            </a:r>
            <a:endParaRPr lang="en-US" sz="1300" dirty="0"/>
          </a:p>
        </p:txBody>
      </p:sp>
      <p:sp>
        <p:nvSpPr>
          <p:cNvPr id="18" name="Text 16"/>
          <p:cNvSpPr txBox="1"/>
          <p:nvPr/>
        </p:nvSpPr>
        <p:spPr>
          <a:xfrm>
            <a:off x="6393028" y="4818888"/>
            <a:ext cx="5067148" cy="11887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Prepare schedules and answer requests for the 401(k) plan audit and the financial audit</a:t>
            </a:r>
            <a:endParaRPr lang="en-US" sz="1150" dirty="0"/>
          </a:p>
          <a:p>
            <a:pPr marL="152400" indent="-152400">
              <a:spcAft>
                <a:spcPts val="400"/>
              </a:spcAft>
              <a:buSzPct val="100000"/>
              <a:buChar char="•"/>
            </a:pPr>
            <a:r>
              <a:rPr lang="en-US" sz="1150" dirty="0">
                <a:solidFill>
                  <a:schemeClr val="tx1"/>
                </a:solidFill>
              </a:rPr>
              <a:t>Organize everything your tax preparer needs; ONYX does not prepare or file tax returns</a:t>
            </a:r>
            <a:endParaRPr lang="en-US" sz="1150" dirty="0"/>
          </a:p>
          <a:p>
            <a:pPr marL="152400" indent="-152400">
              <a:spcAft>
                <a:spcPts val="400"/>
              </a:spcAft>
              <a:buSzPct val="100000"/>
              <a:buChar char="•"/>
            </a:pPr>
            <a:r>
              <a:rPr lang="en-US" sz="1150" dirty="0">
                <a:solidFill>
                  <a:schemeClr val="tx1"/>
                </a:solidFill>
              </a:rPr>
              <a:t>Support weekly payroll and benefit submissions as needed</a:t>
            </a:r>
            <a:endParaRPr lang="en-US" sz="1150" dirty="0"/>
          </a:p>
        </p:txBody>
      </p:sp>
      <p:sp>
        <p:nvSpPr>
          <p:cNvPr id="19" name="Text 17"/>
          <p:cNvSpPr txBox="1"/>
          <p:nvPr/>
        </p:nvSpPr>
        <p:spPr>
          <a:xfrm>
            <a:off x="548640" y="6291072"/>
            <a:ext cx="10972800" cy="274320"/>
          </a:xfrm>
          <a:prstGeom prst="rect">
            <a:avLst/>
          </a:prstGeom>
          <a:noFill/>
          <a:ln/>
        </p:spPr>
        <p:txBody>
          <a:bodyPr wrap="square" lIns="0" tIns="0" rIns="0" bIns="0" rtlCol="0" anchor="t"/>
          <a:lstStyle/>
          <a:p>
            <a:pPr marL="0" indent="0">
              <a:buNone/>
            </a:pPr>
            <a:r>
              <a:rPr lang="en-US" sz="950" dirty="0">
                <a:solidFill>
                  <a:schemeClr val="accent3"/>
                </a:solidFill>
              </a:rPr>
              <a:t>The scope mirrors Section 1 of the engagement letter dated October 5, 2026. Services can be added, reduced or paused by email.</a:t>
            </a:r>
            <a:endParaRPr lang="en-US" sz="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02  WHAT WE CAN HELP WITH</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How we will work together</a:t>
            </a:r>
            <a:endParaRPr lang="en-US" sz="2800" dirty="0"/>
          </a:p>
        </p:txBody>
      </p:sp>
      <p:sp>
        <p:nvSpPr>
          <p:cNvPr id="4" name="card How ONYX operates"/>
          <p:cNvSpPr/>
          <p:nvPr/>
        </p:nvSpPr>
        <p:spPr>
          <a:xfrm>
            <a:off x="548640" y="1508760"/>
            <a:ext cx="3545738" cy="3703320"/>
          </a:xfrm>
          <a:prstGeom prst="rect">
            <a:avLst/>
          </a:prstGeom>
          <a:solidFill>
            <a:schemeClr val="accent5"/>
          </a:solidFill>
          <a:ln w="9525">
            <a:solidFill>
              <a:srgbClr val="D5D9E0"/>
            </a:solidFill>
            <a:prstDash val="solid"/>
          </a:ln>
        </p:spPr>
        <p:txBody>
          <a:bodyPr/>
          <a:lstStyle/>
          <a:p>
            <a:endParaRPr lang="en-US"/>
          </a:p>
        </p:txBody>
      </p:sp>
      <p:sp>
        <p:nvSpPr>
          <p:cNvPr id="5" name="Text 3"/>
          <p:cNvSpPr txBox="1"/>
          <p:nvPr/>
        </p:nvSpPr>
        <p:spPr>
          <a:xfrm>
            <a:off x="731520" y="167335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How ONYX operates</a:t>
            </a:r>
            <a:endParaRPr lang="en-US" sz="1300" dirty="0"/>
          </a:p>
        </p:txBody>
      </p:sp>
      <p:sp>
        <p:nvSpPr>
          <p:cNvPr id="6" name="Text 4"/>
          <p:cNvSpPr txBox="1"/>
          <p:nvPr/>
        </p:nvSpPr>
        <p:spPr>
          <a:xfrm>
            <a:off x="731520" y="2075688"/>
            <a:ext cx="3179978" cy="3017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Work inside your Sage Intacct, with view access to bank, credit card and loan accounts</a:t>
            </a:r>
            <a:endParaRPr lang="en-US" sz="1150" dirty="0"/>
          </a:p>
          <a:p>
            <a:pPr marL="152400" indent="-152400">
              <a:spcAft>
                <a:spcPts val="400"/>
              </a:spcAft>
              <a:buSzPct val="100000"/>
              <a:buChar char="•"/>
            </a:pPr>
            <a:r>
              <a:rPr lang="en-US" sz="1150" dirty="0">
                <a:solidFill>
                  <a:schemeClr val="tx1"/>
                </a:solidFill>
              </a:rPr>
              <a:t>Perform and review on every reconciliation, entry and report</a:t>
            </a:r>
            <a:endParaRPr lang="en-US" sz="1150" dirty="0"/>
          </a:p>
          <a:p>
            <a:pPr marL="152400" indent="-152400">
              <a:spcAft>
                <a:spcPts val="400"/>
              </a:spcAft>
              <a:buSzPct val="100000"/>
              <a:buChar char="•"/>
            </a:pPr>
            <a:r>
              <a:rPr lang="en-US" sz="1150" dirty="0">
                <a:solidFill>
                  <a:schemeClr val="tx1"/>
                </a:solidFill>
              </a:rPr>
              <a:t>Weekly progress and budget update during the first 90 days, then a monthly review with Marc</a:t>
            </a:r>
            <a:endParaRPr lang="en-US" sz="1150" dirty="0"/>
          </a:p>
          <a:p>
            <a:pPr marL="152400" indent="-152400">
              <a:spcAft>
                <a:spcPts val="400"/>
              </a:spcAft>
              <a:buSzPct val="100000"/>
              <a:buChar char="•"/>
            </a:pPr>
            <a:r>
              <a:rPr lang="en-US" sz="1150" dirty="0">
                <a:solidFill>
                  <a:schemeClr val="tx1"/>
                </a:solidFill>
              </a:rPr>
              <a:t>On site in Phoenix for onboarding and training; remote for routine work</a:t>
            </a:r>
            <a:endParaRPr lang="en-US" sz="1150" dirty="0"/>
          </a:p>
          <a:p>
            <a:pPr marL="152400" indent="-152400">
              <a:spcAft>
                <a:spcPts val="400"/>
              </a:spcAft>
              <a:buSzPct val="100000"/>
              <a:buChar char="•"/>
            </a:pPr>
            <a:r>
              <a:rPr lang="en-US" sz="1150" dirty="0">
                <a:solidFill>
                  <a:schemeClr val="tx1"/>
                </a:solidFill>
              </a:rPr>
              <a:t>Procedures, close checklist and open items kept in one shared file</a:t>
            </a:r>
            <a:endParaRPr lang="en-US" sz="1150" dirty="0"/>
          </a:p>
          <a:p>
            <a:pPr marL="152400" indent="-152400">
              <a:spcAft>
                <a:spcPts val="400"/>
              </a:spcAft>
              <a:buSzPct val="100000"/>
              <a:buChar char="•"/>
            </a:pPr>
            <a:r>
              <a:rPr lang="en-US" sz="1150" dirty="0">
                <a:solidFill>
                  <a:schemeClr val="tx1"/>
                </a:solidFill>
              </a:rPr>
              <a:t>Automation used where it saves your team time, with human review of every material output</a:t>
            </a:r>
            <a:endParaRPr lang="en-US" sz="1150" dirty="0"/>
          </a:p>
        </p:txBody>
      </p:sp>
      <p:sp>
        <p:nvSpPr>
          <p:cNvPr id="7" name="card What stays with George Brazil"/>
          <p:cNvSpPr/>
          <p:nvPr/>
        </p:nvSpPr>
        <p:spPr>
          <a:xfrm>
            <a:off x="4322978" y="1508760"/>
            <a:ext cx="3545738" cy="3703320"/>
          </a:xfrm>
          <a:prstGeom prst="rect">
            <a:avLst/>
          </a:prstGeom>
          <a:solidFill>
            <a:schemeClr val="accent5"/>
          </a:solidFill>
          <a:ln w="9525">
            <a:solidFill>
              <a:srgbClr val="D5D9E0"/>
            </a:solidFill>
            <a:prstDash val="solid"/>
          </a:ln>
        </p:spPr>
        <p:txBody>
          <a:bodyPr/>
          <a:lstStyle/>
          <a:p>
            <a:endParaRPr lang="en-US"/>
          </a:p>
        </p:txBody>
      </p:sp>
      <p:sp>
        <p:nvSpPr>
          <p:cNvPr id="8" name="Text 6"/>
          <p:cNvSpPr txBox="1"/>
          <p:nvPr/>
        </p:nvSpPr>
        <p:spPr>
          <a:xfrm>
            <a:off x="4505858" y="167335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What stays with George Brazil</a:t>
            </a:r>
            <a:endParaRPr lang="en-US" sz="1300" dirty="0"/>
          </a:p>
        </p:txBody>
      </p:sp>
      <p:sp>
        <p:nvSpPr>
          <p:cNvPr id="9" name="Text 7"/>
          <p:cNvSpPr txBox="1"/>
          <p:nvPr/>
        </p:nvSpPr>
        <p:spPr>
          <a:xfrm>
            <a:off x="4505858" y="2075688"/>
            <a:ext cx="3179978" cy="3017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Approval of every payment, new vendor, new customer and payroll run</a:t>
            </a:r>
            <a:endParaRPr lang="en-US" sz="1150" dirty="0"/>
          </a:p>
          <a:p>
            <a:pPr marL="152400" indent="-152400">
              <a:spcAft>
                <a:spcPts val="400"/>
              </a:spcAft>
              <a:buSzPct val="100000"/>
              <a:buChar char="•"/>
            </a:pPr>
            <a:r>
              <a:rPr lang="en-US" sz="1150" dirty="0">
                <a:solidFill>
                  <a:schemeClr val="tx1"/>
                </a:solidFill>
              </a:rPr>
              <a:t>Signing authority and bank access; ONYX does not move funds</a:t>
            </a:r>
            <a:endParaRPr lang="en-US" sz="1150" dirty="0"/>
          </a:p>
          <a:p>
            <a:pPr marL="152400" indent="-152400">
              <a:spcAft>
                <a:spcPts val="400"/>
              </a:spcAft>
              <a:buSzPct val="100000"/>
              <a:buChar char="•"/>
            </a:pPr>
            <a:r>
              <a:rPr lang="en-US" sz="1150" dirty="0">
                <a:solidFill>
                  <a:schemeClr val="tx1"/>
                </a:solidFill>
              </a:rPr>
              <a:t>Ownership of the financial statements and management decisions</a:t>
            </a:r>
            <a:endParaRPr lang="en-US" sz="1150" dirty="0"/>
          </a:p>
          <a:p>
            <a:pPr marL="152400" indent="-152400">
              <a:spcAft>
                <a:spcPts val="400"/>
              </a:spcAft>
              <a:buSzPct val="100000"/>
              <a:buChar char="•"/>
            </a:pPr>
            <a:r>
              <a:rPr lang="en-US" sz="1150" dirty="0">
                <a:solidFill>
                  <a:schemeClr val="tx1"/>
                </a:solidFill>
              </a:rPr>
              <a:t>Tax filings, through your tax preparer</a:t>
            </a:r>
            <a:endParaRPr lang="en-US" sz="1150" dirty="0"/>
          </a:p>
          <a:p>
            <a:pPr marL="152400" indent="-152400">
              <a:spcAft>
                <a:spcPts val="400"/>
              </a:spcAft>
              <a:buSzPct val="100000"/>
              <a:buChar char="•"/>
            </a:pPr>
            <a:r>
              <a:rPr lang="en-US" sz="1150" dirty="0">
                <a:solidFill>
                  <a:schemeClr val="tx1"/>
                </a:solidFill>
              </a:rPr>
              <a:t>Leadership of the inventory project, with ONYX supporting the accounting and the Sage Intacct integration</a:t>
            </a:r>
            <a:endParaRPr lang="en-US" sz="1150" dirty="0"/>
          </a:p>
          <a:p>
            <a:pPr marL="152400" indent="-152400">
              <a:spcAft>
                <a:spcPts val="400"/>
              </a:spcAft>
              <a:buSzPct val="100000"/>
              <a:buChar char="•"/>
            </a:pPr>
            <a:r>
              <a:rPr lang="en-US" sz="1150" dirty="0">
                <a:solidFill>
                  <a:schemeClr val="tx1"/>
                </a:solidFill>
              </a:rPr>
              <a:t>A named internal owner for the engagement and timely answers from the team</a:t>
            </a:r>
            <a:endParaRPr lang="en-US" sz="1150" dirty="0"/>
          </a:p>
        </p:txBody>
      </p:sp>
      <p:sp>
        <p:nvSpPr>
          <p:cNvPr id="10" name="card Outside this proposal"/>
          <p:cNvSpPr/>
          <p:nvPr/>
        </p:nvSpPr>
        <p:spPr>
          <a:xfrm>
            <a:off x="8097317" y="1508760"/>
            <a:ext cx="3545738" cy="3703320"/>
          </a:xfrm>
          <a:prstGeom prst="rect">
            <a:avLst/>
          </a:prstGeom>
          <a:solidFill>
            <a:srgbClr val="FFFFFF"/>
          </a:solidFill>
          <a:ln w="9525">
            <a:solidFill>
              <a:srgbClr val="D5D9E0"/>
            </a:solidFill>
            <a:prstDash val="solid"/>
          </a:ln>
        </p:spPr>
        <p:txBody>
          <a:bodyPr/>
          <a:lstStyle/>
          <a:p>
            <a:endParaRPr lang="en-US"/>
          </a:p>
        </p:txBody>
      </p:sp>
      <p:sp>
        <p:nvSpPr>
          <p:cNvPr id="11" name="Text 9"/>
          <p:cNvSpPr txBox="1"/>
          <p:nvPr/>
        </p:nvSpPr>
        <p:spPr>
          <a:xfrm>
            <a:off x="8280197" y="167335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Outside this proposal</a:t>
            </a:r>
            <a:endParaRPr lang="en-US" sz="1300" dirty="0"/>
          </a:p>
        </p:txBody>
      </p:sp>
      <p:sp>
        <p:nvSpPr>
          <p:cNvPr id="12" name="Text 10"/>
          <p:cNvSpPr txBox="1"/>
          <p:nvPr/>
        </p:nvSpPr>
        <p:spPr>
          <a:xfrm>
            <a:off x="8280197" y="2075688"/>
            <a:ext cx="3179978" cy="3017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Preparing or filing tax returns</a:t>
            </a:r>
            <a:endParaRPr lang="en-US" sz="1150" dirty="0"/>
          </a:p>
          <a:p>
            <a:pPr marL="152400" indent="-152400">
              <a:spcAft>
                <a:spcPts val="400"/>
              </a:spcAft>
              <a:buSzPct val="100000"/>
              <a:buChar char="•"/>
            </a:pPr>
            <a:r>
              <a:rPr lang="en-US" sz="1150" dirty="0">
                <a:solidFill>
                  <a:schemeClr val="tx1"/>
                </a:solidFill>
              </a:rPr>
              <a:t>Performing the financial or 401(k) audits; we support them and give no opinion or assurance</a:t>
            </a:r>
            <a:endParaRPr lang="en-US" sz="1150" dirty="0"/>
          </a:p>
          <a:p>
            <a:pPr marL="152400" indent="-152400">
              <a:spcAft>
                <a:spcPts val="400"/>
              </a:spcAft>
              <a:buSzPct val="100000"/>
              <a:buChar char="•"/>
            </a:pPr>
            <a:r>
              <a:rPr lang="en-US" sz="1150" dirty="0">
                <a:solidFill>
                  <a:schemeClr val="tx1"/>
                </a:solidFill>
              </a:rPr>
              <a:t>Forensic or fraud investigation; anything irregular is escalated to you in writing and handled as a separate engagement</a:t>
            </a:r>
            <a:endParaRPr lang="en-US" sz="1150" dirty="0"/>
          </a:p>
          <a:p>
            <a:pPr marL="152400" indent="-152400">
              <a:spcAft>
                <a:spcPts val="400"/>
              </a:spcAft>
              <a:buSzPct val="100000"/>
              <a:buChar char="•"/>
            </a:pPr>
            <a:r>
              <a:rPr lang="en-US" sz="1150" dirty="0">
                <a:solidFill>
                  <a:schemeClr val="tx1"/>
                </a:solidFill>
              </a:rPr>
              <a:t>Holding signing authority or moving money</a:t>
            </a:r>
            <a:endParaRPr lang="en-US" sz="1150" dirty="0"/>
          </a:p>
        </p:txBody>
      </p:sp>
      <p:sp>
        <p:nvSpPr>
          <p:cNvPr id="13" name="cadence strip"/>
          <p:cNvSpPr/>
          <p:nvPr/>
        </p:nvSpPr>
        <p:spPr>
          <a:xfrm>
            <a:off x="548640" y="5440680"/>
            <a:ext cx="11094415" cy="685800"/>
          </a:xfrm>
          <a:prstGeom prst="rect">
            <a:avLst/>
          </a:prstGeom>
          <a:solidFill>
            <a:schemeClr val="bg1"/>
          </a:solidFill>
          <a:ln w="9525">
            <a:solidFill>
              <a:srgbClr val="D5D9E0"/>
            </a:solidFill>
            <a:prstDash val="solid"/>
          </a:ln>
        </p:spPr>
        <p:txBody>
          <a:bodyPr/>
          <a:lstStyle/>
          <a:p>
            <a:endParaRPr lang="en-US"/>
          </a:p>
        </p:txBody>
      </p:sp>
      <p:sp>
        <p:nvSpPr>
          <p:cNvPr id="14" name="Text 12"/>
          <p:cNvSpPr txBox="1"/>
          <p:nvPr/>
        </p:nvSpPr>
        <p:spPr>
          <a:xfrm>
            <a:off x="777240" y="5440680"/>
            <a:ext cx="10637215" cy="685800"/>
          </a:xfrm>
          <a:prstGeom prst="rect">
            <a:avLst/>
          </a:prstGeom>
          <a:noFill/>
          <a:ln/>
        </p:spPr>
        <p:txBody>
          <a:bodyPr wrap="square" lIns="0" tIns="0" rIns="0" bIns="0" rtlCol="0" anchor="ctr"/>
          <a:lstStyle/>
          <a:p>
            <a:pPr marL="0" indent="0">
              <a:buNone/>
            </a:pPr>
            <a:r>
              <a:rPr lang="en-US" sz="1150" b="1" dirty="0">
                <a:solidFill>
                  <a:srgbClr val="1B2A49"/>
                </a:solidFill>
              </a:rPr>
              <a:t>Communication.  </a:t>
            </a:r>
            <a:r>
              <a:rPr lang="en-US" sz="1150" dirty="0">
                <a:solidFill>
                  <a:schemeClr val="tx1"/>
                </a:solidFill>
              </a:rPr>
              <a:t>Weekly progress and budget update during the first 90 days. Monthly review of results with Marc. Quarterly review of scope, staffing mix and fees. Annual planning session before the budget year.</a:t>
            </a:r>
            <a:endParaRPr lang="en-US" sz="1150" dirty="0"/>
          </a:p>
        </p:txBody>
      </p:sp>
      <p:sp>
        <p:nvSpPr>
          <p:cNvPr id="15" name="Text 13"/>
          <p:cNvSpPr txBox="1"/>
          <p:nvPr/>
        </p:nvSpPr>
        <p:spPr>
          <a:xfrm>
            <a:off x="548640" y="6291072"/>
            <a:ext cx="10972800" cy="274320"/>
          </a:xfrm>
          <a:prstGeom prst="rect">
            <a:avLst/>
          </a:prstGeom>
          <a:noFill/>
          <a:ln/>
        </p:spPr>
        <p:txBody>
          <a:bodyPr wrap="square" lIns="0" tIns="0" rIns="0" bIns="0" rtlCol="0" anchor="t"/>
          <a:lstStyle/>
          <a:p>
            <a:pPr marL="0" indent="0">
              <a:buNone/>
            </a:pPr>
            <a:r>
              <a:rPr lang="en-US" sz="950" dirty="0">
                <a:solidFill>
                  <a:schemeClr val="accent3"/>
                </a:solidFill>
              </a:rPr>
              <a:t>These responsibilities match the "How we'll work together" section of the engagement letter.</a:t>
            </a:r>
            <a:endParaRPr lang="en-US" sz="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03  ENGAGEMENT TIMELINE</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October 2026 through March 2027</a:t>
            </a:r>
            <a:endParaRPr lang="en-US" sz="2800" dirty="0"/>
          </a:p>
        </p:txBody>
      </p:sp>
      <p:sp>
        <p:nvSpPr>
          <p:cNvPr id="4" name="month Oct 2026"/>
          <p:cNvSpPr/>
          <p:nvPr/>
        </p:nvSpPr>
        <p:spPr>
          <a:xfrm>
            <a:off x="4114800" y="1508760"/>
            <a:ext cx="1254709" cy="310896"/>
          </a:xfrm>
          <a:prstGeom prst="rect">
            <a:avLst/>
          </a:prstGeom>
          <a:solidFill>
            <a:schemeClr val="bg1"/>
          </a:solidFill>
          <a:ln w="6350">
            <a:solidFill>
              <a:srgbClr val="D5D9E0"/>
            </a:solidFill>
            <a:prstDash val="solid"/>
          </a:ln>
        </p:spPr>
        <p:txBody>
          <a:bodyPr/>
          <a:lstStyle/>
          <a:p>
            <a:endParaRPr lang="en-US"/>
          </a:p>
        </p:txBody>
      </p:sp>
      <p:sp>
        <p:nvSpPr>
          <p:cNvPr id="5" name="Text 3"/>
          <p:cNvSpPr txBox="1"/>
          <p:nvPr/>
        </p:nvSpPr>
        <p:spPr>
          <a:xfrm>
            <a:off x="4114800"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Oct 2026</a:t>
            </a:r>
            <a:endParaRPr lang="en-US" sz="1100" dirty="0"/>
          </a:p>
        </p:txBody>
      </p:sp>
      <p:sp>
        <p:nvSpPr>
          <p:cNvPr id="6" name="month Nov"/>
          <p:cNvSpPr/>
          <p:nvPr/>
        </p:nvSpPr>
        <p:spPr>
          <a:xfrm>
            <a:off x="5369509" y="1508760"/>
            <a:ext cx="1254709" cy="310896"/>
          </a:xfrm>
          <a:prstGeom prst="rect">
            <a:avLst/>
          </a:prstGeom>
          <a:solidFill>
            <a:schemeClr val="accent5"/>
          </a:solidFill>
          <a:ln w="6350">
            <a:solidFill>
              <a:srgbClr val="D5D9E0"/>
            </a:solidFill>
            <a:prstDash val="solid"/>
          </a:ln>
        </p:spPr>
        <p:txBody>
          <a:bodyPr/>
          <a:lstStyle/>
          <a:p>
            <a:endParaRPr lang="en-US"/>
          </a:p>
        </p:txBody>
      </p:sp>
      <p:sp>
        <p:nvSpPr>
          <p:cNvPr id="7" name="Text 5"/>
          <p:cNvSpPr txBox="1"/>
          <p:nvPr/>
        </p:nvSpPr>
        <p:spPr>
          <a:xfrm>
            <a:off x="5369509"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Nov</a:t>
            </a:r>
            <a:endParaRPr lang="en-US" sz="1100" dirty="0"/>
          </a:p>
        </p:txBody>
      </p:sp>
      <p:sp>
        <p:nvSpPr>
          <p:cNvPr id="8" name="month Dec"/>
          <p:cNvSpPr/>
          <p:nvPr/>
        </p:nvSpPr>
        <p:spPr>
          <a:xfrm>
            <a:off x="6624218" y="1508760"/>
            <a:ext cx="1254709" cy="310896"/>
          </a:xfrm>
          <a:prstGeom prst="rect">
            <a:avLst/>
          </a:prstGeom>
          <a:solidFill>
            <a:schemeClr val="bg1"/>
          </a:solidFill>
          <a:ln w="6350">
            <a:solidFill>
              <a:srgbClr val="D5D9E0"/>
            </a:solidFill>
            <a:prstDash val="solid"/>
          </a:ln>
        </p:spPr>
        <p:txBody>
          <a:bodyPr/>
          <a:lstStyle/>
          <a:p>
            <a:endParaRPr lang="en-US"/>
          </a:p>
        </p:txBody>
      </p:sp>
      <p:sp>
        <p:nvSpPr>
          <p:cNvPr id="9" name="Text 7"/>
          <p:cNvSpPr txBox="1"/>
          <p:nvPr/>
        </p:nvSpPr>
        <p:spPr>
          <a:xfrm>
            <a:off x="6624218"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Dec</a:t>
            </a:r>
            <a:endParaRPr lang="en-US" sz="1100" dirty="0"/>
          </a:p>
        </p:txBody>
      </p:sp>
      <p:sp>
        <p:nvSpPr>
          <p:cNvPr id="10" name="month Jan 2027"/>
          <p:cNvSpPr/>
          <p:nvPr/>
        </p:nvSpPr>
        <p:spPr>
          <a:xfrm>
            <a:off x="7878928" y="1508760"/>
            <a:ext cx="1254709" cy="310896"/>
          </a:xfrm>
          <a:prstGeom prst="rect">
            <a:avLst/>
          </a:prstGeom>
          <a:solidFill>
            <a:schemeClr val="accent5"/>
          </a:solidFill>
          <a:ln w="6350">
            <a:solidFill>
              <a:srgbClr val="D5D9E0"/>
            </a:solidFill>
            <a:prstDash val="solid"/>
          </a:ln>
        </p:spPr>
        <p:txBody>
          <a:bodyPr/>
          <a:lstStyle/>
          <a:p>
            <a:endParaRPr lang="en-US"/>
          </a:p>
        </p:txBody>
      </p:sp>
      <p:sp>
        <p:nvSpPr>
          <p:cNvPr id="11" name="Text 9"/>
          <p:cNvSpPr txBox="1"/>
          <p:nvPr/>
        </p:nvSpPr>
        <p:spPr>
          <a:xfrm>
            <a:off x="7878928"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Jan 2027</a:t>
            </a:r>
            <a:endParaRPr lang="en-US" sz="1100" dirty="0"/>
          </a:p>
        </p:txBody>
      </p:sp>
      <p:sp>
        <p:nvSpPr>
          <p:cNvPr id="12" name="month Feb"/>
          <p:cNvSpPr/>
          <p:nvPr/>
        </p:nvSpPr>
        <p:spPr>
          <a:xfrm>
            <a:off x="9133637" y="1508760"/>
            <a:ext cx="1254709" cy="310896"/>
          </a:xfrm>
          <a:prstGeom prst="rect">
            <a:avLst/>
          </a:prstGeom>
          <a:solidFill>
            <a:schemeClr val="bg1"/>
          </a:solidFill>
          <a:ln w="6350">
            <a:solidFill>
              <a:srgbClr val="D5D9E0"/>
            </a:solidFill>
            <a:prstDash val="solid"/>
          </a:ln>
        </p:spPr>
        <p:txBody>
          <a:bodyPr/>
          <a:lstStyle/>
          <a:p>
            <a:endParaRPr lang="en-US"/>
          </a:p>
        </p:txBody>
      </p:sp>
      <p:sp>
        <p:nvSpPr>
          <p:cNvPr id="13" name="Text 11"/>
          <p:cNvSpPr txBox="1"/>
          <p:nvPr/>
        </p:nvSpPr>
        <p:spPr>
          <a:xfrm>
            <a:off x="9133637"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Feb</a:t>
            </a:r>
            <a:endParaRPr lang="en-US" sz="1100" dirty="0"/>
          </a:p>
        </p:txBody>
      </p:sp>
      <p:sp>
        <p:nvSpPr>
          <p:cNvPr id="14" name="month Mar"/>
          <p:cNvSpPr/>
          <p:nvPr/>
        </p:nvSpPr>
        <p:spPr>
          <a:xfrm>
            <a:off x="10388346" y="1508760"/>
            <a:ext cx="1254709" cy="310896"/>
          </a:xfrm>
          <a:prstGeom prst="rect">
            <a:avLst/>
          </a:prstGeom>
          <a:solidFill>
            <a:schemeClr val="accent5"/>
          </a:solidFill>
          <a:ln w="6350">
            <a:solidFill>
              <a:srgbClr val="D5D9E0"/>
            </a:solidFill>
            <a:prstDash val="solid"/>
          </a:ln>
        </p:spPr>
        <p:txBody>
          <a:bodyPr/>
          <a:lstStyle/>
          <a:p>
            <a:endParaRPr lang="en-US"/>
          </a:p>
        </p:txBody>
      </p:sp>
      <p:sp>
        <p:nvSpPr>
          <p:cNvPr id="15" name="Text 13"/>
          <p:cNvSpPr txBox="1"/>
          <p:nvPr/>
        </p:nvSpPr>
        <p:spPr>
          <a:xfrm>
            <a:off x="10388346"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Mar</a:t>
            </a:r>
            <a:endParaRPr lang="en-US" sz="1100" dirty="0"/>
          </a:p>
        </p:txBody>
      </p:sp>
      <p:sp>
        <p:nvSpPr>
          <p:cNvPr id="16" name="band 0"/>
          <p:cNvSpPr/>
          <p:nvPr/>
        </p:nvSpPr>
        <p:spPr>
          <a:xfrm>
            <a:off x="548640" y="1892808"/>
            <a:ext cx="11094415" cy="338328"/>
          </a:xfrm>
          <a:prstGeom prst="rect">
            <a:avLst/>
          </a:prstGeom>
          <a:solidFill>
            <a:schemeClr val="accent5"/>
          </a:solidFill>
          <a:ln w="12700">
            <a:solidFill>
              <a:srgbClr val="E9EDF4"/>
            </a:solidFill>
            <a:prstDash val="solid"/>
          </a:ln>
        </p:spPr>
        <p:txBody>
          <a:bodyPr/>
          <a:lstStyle/>
          <a:p>
            <a:endParaRPr lang="en-US"/>
          </a:p>
        </p:txBody>
      </p:sp>
      <p:sp>
        <p:nvSpPr>
          <p:cNvPr id="17" name="Text 15"/>
          <p:cNvSpPr txBox="1"/>
          <p:nvPr/>
        </p:nvSpPr>
        <p:spPr>
          <a:xfrm>
            <a:off x="640080" y="1892808"/>
            <a:ext cx="3383280" cy="338328"/>
          </a:xfrm>
          <a:prstGeom prst="rect">
            <a:avLst/>
          </a:prstGeom>
          <a:noFill/>
          <a:ln/>
        </p:spPr>
        <p:txBody>
          <a:bodyPr wrap="square" lIns="0" tIns="0" rIns="0" bIns="0" rtlCol="0" anchor="ctr"/>
          <a:lstStyle/>
          <a:p>
            <a:pPr marL="0" indent="0">
              <a:buNone/>
            </a:pPr>
            <a:r>
              <a:rPr lang="en-US" sz="1050" dirty="0">
                <a:solidFill>
                  <a:schemeClr val="tx1"/>
                </a:solidFill>
              </a:rPr>
              <a:t>Kickoff, access and knowledge capture</a:t>
            </a:r>
            <a:endParaRPr lang="en-US" sz="1050" dirty="0"/>
          </a:p>
        </p:txBody>
      </p:sp>
      <p:sp>
        <p:nvSpPr>
          <p:cNvPr id="18" name="bar 0"/>
          <p:cNvSpPr/>
          <p:nvPr/>
        </p:nvSpPr>
        <p:spPr>
          <a:xfrm>
            <a:off x="4553948" y="1965960"/>
            <a:ext cx="815561" cy="192024"/>
          </a:xfrm>
          <a:prstGeom prst="roundRect">
            <a:avLst>
              <a:gd name="adj" fmla="val 23810"/>
            </a:avLst>
          </a:prstGeom>
          <a:solidFill>
            <a:schemeClr val="accent2"/>
          </a:solidFill>
          <a:ln w="12700">
            <a:solidFill>
              <a:srgbClr val="1B2A49"/>
            </a:solidFill>
            <a:prstDash val="solid"/>
          </a:ln>
        </p:spPr>
        <p:txBody>
          <a:bodyPr/>
          <a:lstStyle/>
          <a:p>
            <a:endParaRPr lang="en-US"/>
          </a:p>
        </p:txBody>
      </p:sp>
      <p:sp>
        <p:nvSpPr>
          <p:cNvPr id="19" name="Text 17"/>
          <p:cNvSpPr txBox="1"/>
          <p:nvPr/>
        </p:nvSpPr>
        <p:spPr>
          <a:xfrm>
            <a:off x="640080" y="2231136"/>
            <a:ext cx="3383280" cy="338328"/>
          </a:xfrm>
          <a:prstGeom prst="rect">
            <a:avLst/>
          </a:prstGeom>
          <a:noFill/>
          <a:ln/>
        </p:spPr>
        <p:txBody>
          <a:bodyPr wrap="square" lIns="0" tIns="0" rIns="0" bIns="0" rtlCol="0" anchor="ctr"/>
          <a:lstStyle/>
          <a:p>
            <a:pPr marL="0" indent="0">
              <a:buNone/>
            </a:pPr>
            <a:r>
              <a:rPr lang="en-US" sz="1050" dirty="0">
                <a:solidFill>
                  <a:schemeClr val="tx1"/>
                </a:solidFill>
              </a:rPr>
              <a:t>401(k) plan audit support (Oct 15)</a:t>
            </a:r>
            <a:endParaRPr lang="en-US" sz="1050" dirty="0"/>
          </a:p>
        </p:txBody>
      </p:sp>
      <p:sp>
        <p:nvSpPr>
          <p:cNvPr id="20" name="bar 1"/>
          <p:cNvSpPr/>
          <p:nvPr/>
        </p:nvSpPr>
        <p:spPr>
          <a:xfrm>
            <a:off x="4553948" y="2304288"/>
            <a:ext cx="250942" cy="192024"/>
          </a:xfrm>
          <a:prstGeom prst="roundRect">
            <a:avLst>
              <a:gd name="adj" fmla="val 23810"/>
            </a:avLst>
          </a:prstGeom>
          <a:solidFill>
            <a:schemeClr val="accent2"/>
          </a:solidFill>
          <a:ln w="12700">
            <a:solidFill>
              <a:srgbClr val="1B2A49"/>
            </a:solidFill>
            <a:prstDash val="solid"/>
          </a:ln>
        </p:spPr>
        <p:txBody>
          <a:bodyPr/>
          <a:lstStyle/>
          <a:p>
            <a:endParaRPr lang="en-US"/>
          </a:p>
        </p:txBody>
      </p:sp>
      <p:sp>
        <p:nvSpPr>
          <p:cNvPr id="21" name="band 2"/>
          <p:cNvSpPr/>
          <p:nvPr/>
        </p:nvSpPr>
        <p:spPr>
          <a:xfrm>
            <a:off x="548640" y="2569464"/>
            <a:ext cx="11094415" cy="338328"/>
          </a:xfrm>
          <a:prstGeom prst="rect">
            <a:avLst/>
          </a:prstGeom>
          <a:solidFill>
            <a:schemeClr val="accent5"/>
          </a:solidFill>
          <a:ln w="12700">
            <a:solidFill>
              <a:srgbClr val="E9EDF4"/>
            </a:solidFill>
            <a:prstDash val="solid"/>
          </a:ln>
        </p:spPr>
        <p:txBody>
          <a:bodyPr/>
          <a:lstStyle/>
          <a:p>
            <a:endParaRPr lang="en-US"/>
          </a:p>
        </p:txBody>
      </p:sp>
      <p:sp>
        <p:nvSpPr>
          <p:cNvPr id="22" name="Text 20"/>
          <p:cNvSpPr txBox="1"/>
          <p:nvPr/>
        </p:nvSpPr>
        <p:spPr>
          <a:xfrm>
            <a:off x="640080" y="2569464"/>
            <a:ext cx="3383280" cy="338328"/>
          </a:xfrm>
          <a:prstGeom prst="rect">
            <a:avLst/>
          </a:prstGeom>
          <a:noFill/>
          <a:ln/>
        </p:spPr>
        <p:txBody>
          <a:bodyPr wrap="square" lIns="0" tIns="0" rIns="0" bIns="0" rtlCol="0" anchor="ctr"/>
          <a:lstStyle/>
          <a:p>
            <a:pPr marL="0" indent="0">
              <a:buNone/>
            </a:pPr>
            <a:r>
              <a:rPr lang="en-US" sz="1050" dirty="0">
                <a:solidFill>
                  <a:schemeClr val="tx1"/>
                </a:solidFill>
              </a:rPr>
              <a:t>Monthly close led and reviewed by ONYX</a:t>
            </a:r>
            <a:endParaRPr lang="en-US" sz="1050" dirty="0"/>
          </a:p>
        </p:txBody>
      </p:sp>
      <p:sp>
        <p:nvSpPr>
          <p:cNvPr id="23" name="bar 2"/>
          <p:cNvSpPr/>
          <p:nvPr/>
        </p:nvSpPr>
        <p:spPr>
          <a:xfrm>
            <a:off x="4867626" y="2642616"/>
            <a:ext cx="6775430" cy="192024"/>
          </a:xfrm>
          <a:prstGeom prst="roundRect">
            <a:avLst>
              <a:gd name="adj" fmla="val 23810"/>
            </a:avLst>
          </a:prstGeom>
          <a:solidFill>
            <a:schemeClr val="accent1"/>
          </a:solidFill>
          <a:ln w="12700">
            <a:solidFill>
              <a:srgbClr val="1B2A49"/>
            </a:solidFill>
            <a:prstDash val="solid"/>
          </a:ln>
        </p:spPr>
        <p:txBody>
          <a:bodyPr/>
          <a:lstStyle/>
          <a:p>
            <a:endParaRPr lang="en-US"/>
          </a:p>
        </p:txBody>
      </p:sp>
      <p:sp>
        <p:nvSpPr>
          <p:cNvPr id="24" name="Text 22"/>
          <p:cNvSpPr txBox="1"/>
          <p:nvPr/>
        </p:nvSpPr>
        <p:spPr>
          <a:xfrm>
            <a:off x="640080" y="2907792"/>
            <a:ext cx="3383280" cy="338328"/>
          </a:xfrm>
          <a:prstGeom prst="rect">
            <a:avLst/>
          </a:prstGeom>
          <a:noFill/>
          <a:ln/>
        </p:spPr>
        <p:txBody>
          <a:bodyPr wrap="square" lIns="0" tIns="0" rIns="0" bIns="0" rtlCol="0" anchor="ctr"/>
          <a:lstStyle/>
          <a:p>
            <a:pPr marL="0" indent="0">
              <a:buNone/>
            </a:pPr>
            <a:r>
              <a:rPr lang="en-US" sz="1050" dirty="0">
                <a:solidFill>
                  <a:schemeClr val="tx1"/>
                </a:solidFill>
              </a:rPr>
              <a:t>Bell Bank Q3 package (Nov 14)</a:t>
            </a:r>
            <a:endParaRPr lang="en-US" sz="1050" dirty="0"/>
          </a:p>
        </p:txBody>
      </p:sp>
      <p:sp>
        <p:nvSpPr>
          <p:cNvPr id="25" name="bar 3"/>
          <p:cNvSpPr/>
          <p:nvPr/>
        </p:nvSpPr>
        <p:spPr>
          <a:xfrm>
            <a:off x="5369509" y="2980944"/>
            <a:ext cx="627355" cy="192024"/>
          </a:xfrm>
          <a:prstGeom prst="roundRect">
            <a:avLst>
              <a:gd name="adj" fmla="val 23810"/>
            </a:avLst>
          </a:prstGeom>
          <a:solidFill>
            <a:schemeClr val="accent2"/>
          </a:solidFill>
          <a:ln w="12700">
            <a:solidFill>
              <a:srgbClr val="1B2A49"/>
            </a:solidFill>
            <a:prstDash val="solid"/>
          </a:ln>
        </p:spPr>
        <p:txBody>
          <a:bodyPr/>
          <a:lstStyle/>
          <a:p>
            <a:endParaRPr lang="en-US"/>
          </a:p>
        </p:txBody>
      </p:sp>
      <p:sp>
        <p:nvSpPr>
          <p:cNvPr id="26" name="band 4"/>
          <p:cNvSpPr/>
          <p:nvPr/>
        </p:nvSpPr>
        <p:spPr>
          <a:xfrm>
            <a:off x="548640" y="3246120"/>
            <a:ext cx="11094415" cy="338328"/>
          </a:xfrm>
          <a:prstGeom prst="rect">
            <a:avLst/>
          </a:prstGeom>
          <a:solidFill>
            <a:schemeClr val="accent5"/>
          </a:solidFill>
          <a:ln w="12700">
            <a:solidFill>
              <a:srgbClr val="E9EDF4"/>
            </a:solidFill>
            <a:prstDash val="solid"/>
          </a:ln>
        </p:spPr>
        <p:txBody>
          <a:bodyPr/>
          <a:lstStyle/>
          <a:p>
            <a:endParaRPr lang="en-US"/>
          </a:p>
        </p:txBody>
      </p:sp>
      <p:sp>
        <p:nvSpPr>
          <p:cNvPr id="27" name="Text 25"/>
          <p:cNvSpPr txBox="1"/>
          <p:nvPr/>
        </p:nvSpPr>
        <p:spPr>
          <a:xfrm>
            <a:off x="640080" y="3246120"/>
            <a:ext cx="3383280" cy="338328"/>
          </a:xfrm>
          <a:prstGeom prst="rect">
            <a:avLst/>
          </a:prstGeom>
          <a:noFill/>
          <a:ln/>
        </p:spPr>
        <p:txBody>
          <a:bodyPr wrap="square" lIns="0" tIns="0" rIns="0" bIns="0" rtlCol="0" anchor="ctr"/>
          <a:lstStyle/>
          <a:p>
            <a:pPr marL="0" indent="0">
              <a:buNone/>
            </a:pPr>
            <a:r>
              <a:rPr lang="en-US" sz="1050" dirty="0">
                <a:solidFill>
                  <a:schemeClr val="tx1"/>
                </a:solidFill>
              </a:rPr>
              <a:t>Training and review of day-to-day work</a:t>
            </a:r>
            <a:endParaRPr lang="en-US" sz="1050" dirty="0"/>
          </a:p>
        </p:txBody>
      </p:sp>
      <p:sp>
        <p:nvSpPr>
          <p:cNvPr id="28" name="bar 4"/>
          <p:cNvSpPr/>
          <p:nvPr/>
        </p:nvSpPr>
        <p:spPr>
          <a:xfrm>
            <a:off x="4553948" y="3319272"/>
            <a:ext cx="3952334" cy="192024"/>
          </a:xfrm>
          <a:prstGeom prst="roundRect">
            <a:avLst>
              <a:gd name="adj" fmla="val 23810"/>
            </a:avLst>
          </a:prstGeom>
          <a:solidFill>
            <a:schemeClr val="accent1"/>
          </a:solidFill>
          <a:ln w="12700">
            <a:solidFill>
              <a:srgbClr val="1B2A49"/>
            </a:solidFill>
            <a:prstDash val="solid"/>
          </a:ln>
        </p:spPr>
        <p:txBody>
          <a:bodyPr/>
          <a:lstStyle/>
          <a:p>
            <a:endParaRPr lang="en-US"/>
          </a:p>
        </p:txBody>
      </p:sp>
      <p:sp>
        <p:nvSpPr>
          <p:cNvPr id="29" name="Text 27"/>
          <p:cNvSpPr txBox="1"/>
          <p:nvPr/>
        </p:nvSpPr>
        <p:spPr>
          <a:xfrm>
            <a:off x="640080" y="3584448"/>
            <a:ext cx="3383280" cy="338328"/>
          </a:xfrm>
          <a:prstGeom prst="rect">
            <a:avLst/>
          </a:prstGeom>
          <a:noFill/>
          <a:ln/>
        </p:spPr>
        <p:txBody>
          <a:bodyPr wrap="square" lIns="0" tIns="0" rIns="0" bIns="0" rtlCol="0" anchor="ctr"/>
          <a:lstStyle/>
          <a:p>
            <a:pPr marL="0" indent="0">
              <a:buNone/>
            </a:pPr>
            <a:r>
              <a:rPr lang="en-US" sz="1050" dirty="0">
                <a:solidFill>
                  <a:schemeClr val="tx1"/>
                </a:solidFill>
              </a:rPr>
              <a:t>AP streamlining and chart of accounts cleanup</a:t>
            </a:r>
            <a:endParaRPr lang="en-US" sz="1050" dirty="0"/>
          </a:p>
        </p:txBody>
      </p:sp>
      <p:sp>
        <p:nvSpPr>
          <p:cNvPr id="30" name="bar 5"/>
          <p:cNvSpPr/>
          <p:nvPr/>
        </p:nvSpPr>
        <p:spPr>
          <a:xfrm>
            <a:off x="5745922" y="3657600"/>
            <a:ext cx="2760360" cy="192024"/>
          </a:xfrm>
          <a:prstGeom prst="roundRect">
            <a:avLst>
              <a:gd name="adj" fmla="val 23810"/>
            </a:avLst>
          </a:prstGeom>
          <a:solidFill>
            <a:schemeClr val="accent1"/>
          </a:solidFill>
          <a:ln w="12700">
            <a:solidFill>
              <a:srgbClr val="1B2A49"/>
            </a:solidFill>
            <a:prstDash val="solid"/>
          </a:ln>
        </p:spPr>
        <p:txBody>
          <a:bodyPr/>
          <a:lstStyle/>
          <a:p>
            <a:endParaRPr lang="en-US"/>
          </a:p>
        </p:txBody>
      </p:sp>
      <p:sp>
        <p:nvSpPr>
          <p:cNvPr id="31" name="band 6"/>
          <p:cNvSpPr/>
          <p:nvPr/>
        </p:nvSpPr>
        <p:spPr>
          <a:xfrm>
            <a:off x="548640" y="3922776"/>
            <a:ext cx="11094415" cy="338328"/>
          </a:xfrm>
          <a:prstGeom prst="rect">
            <a:avLst/>
          </a:prstGeom>
          <a:solidFill>
            <a:schemeClr val="accent5"/>
          </a:solidFill>
          <a:ln w="12700">
            <a:solidFill>
              <a:srgbClr val="E9EDF4"/>
            </a:solidFill>
            <a:prstDash val="solid"/>
          </a:ln>
        </p:spPr>
        <p:txBody>
          <a:bodyPr/>
          <a:lstStyle/>
          <a:p>
            <a:endParaRPr lang="en-US"/>
          </a:p>
        </p:txBody>
      </p:sp>
      <p:sp>
        <p:nvSpPr>
          <p:cNvPr id="32" name="Text 30"/>
          <p:cNvSpPr txBox="1"/>
          <p:nvPr/>
        </p:nvSpPr>
        <p:spPr>
          <a:xfrm>
            <a:off x="640080" y="3922776"/>
            <a:ext cx="3383280" cy="338328"/>
          </a:xfrm>
          <a:prstGeom prst="rect">
            <a:avLst/>
          </a:prstGeom>
          <a:noFill/>
          <a:ln/>
        </p:spPr>
        <p:txBody>
          <a:bodyPr wrap="square" lIns="0" tIns="0" rIns="0" bIns="0" rtlCol="0" anchor="ctr"/>
          <a:lstStyle/>
          <a:p>
            <a:pPr marL="0" indent="0">
              <a:buNone/>
            </a:pPr>
            <a:r>
              <a:rPr lang="en-US" sz="1050" dirty="0">
                <a:solidFill>
                  <a:schemeClr val="tx1"/>
                </a:solidFill>
              </a:rPr>
              <a:t>ServiceTitan, QStock and Intacct workflow mapping</a:t>
            </a:r>
            <a:endParaRPr lang="en-US" sz="1050" dirty="0"/>
          </a:p>
        </p:txBody>
      </p:sp>
      <p:sp>
        <p:nvSpPr>
          <p:cNvPr id="33" name="bar 6"/>
          <p:cNvSpPr/>
          <p:nvPr/>
        </p:nvSpPr>
        <p:spPr>
          <a:xfrm>
            <a:off x="6624218" y="3995928"/>
            <a:ext cx="3136773" cy="192024"/>
          </a:xfrm>
          <a:prstGeom prst="roundRect">
            <a:avLst>
              <a:gd name="adj" fmla="val 23810"/>
            </a:avLst>
          </a:prstGeom>
          <a:solidFill>
            <a:schemeClr val="accent1"/>
          </a:solidFill>
          <a:ln w="12700">
            <a:solidFill>
              <a:srgbClr val="1B2A49"/>
            </a:solidFill>
            <a:prstDash val="solid"/>
          </a:ln>
        </p:spPr>
        <p:txBody>
          <a:bodyPr/>
          <a:lstStyle/>
          <a:p>
            <a:endParaRPr lang="en-US"/>
          </a:p>
        </p:txBody>
      </p:sp>
      <p:sp>
        <p:nvSpPr>
          <p:cNvPr id="34" name="Text 32"/>
          <p:cNvSpPr txBox="1"/>
          <p:nvPr/>
        </p:nvSpPr>
        <p:spPr>
          <a:xfrm>
            <a:off x="640080" y="4261104"/>
            <a:ext cx="3383280" cy="338328"/>
          </a:xfrm>
          <a:prstGeom prst="rect">
            <a:avLst/>
          </a:prstGeom>
          <a:noFill/>
          <a:ln/>
        </p:spPr>
        <p:txBody>
          <a:bodyPr wrap="square" lIns="0" tIns="0" rIns="0" bIns="0" rtlCol="0" anchor="ctr"/>
          <a:lstStyle/>
          <a:p>
            <a:pPr marL="0" indent="0">
              <a:buNone/>
            </a:pPr>
            <a:r>
              <a:rPr lang="en-US" sz="1050" dirty="0">
                <a:solidFill>
                  <a:schemeClr val="tx1"/>
                </a:solidFill>
              </a:rPr>
              <a:t>2027 budget and forecast framework</a:t>
            </a:r>
            <a:endParaRPr lang="en-US" sz="1050" dirty="0"/>
          </a:p>
        </p:txBody>
      </p:sp>
      <p:sp>
        <p:nvSpPr>
          <p:cNvPr id="35" name="bar 7"/>
          <p:cNvSpPr/>
          <p:nvPr/>
        </p:nvSpPr>
        <p:spPr>
          <a:xfrm>
            <a:off x="7000631" y="4334256"/>
            <a:ext cx="1631122" cy="192024"/>
          </a:xfrm>
          <a:prstGeom prst="roundRect">
            <a:avLst>
              <a:gd name="adj" fmla="val 23810"/>
            </a:avLst>
          </a:prstGeom>
          <a:solidFill>
            <a:schemeClr val="accent1"/>
          </a:solidFill>
          <a:ln w="12700">
            <a:solidFill>
              <a:srgbClr val="1B2A49"/>
            </a:solidFill>
            <a:prstDash val="solid"/>
          </a:ln>
        </p:spPr>
        <p:txBody>
          <a:bodyPr/>
          <a:lstStyle/>
          <a:p>
            <a:endParaRPr lang="en-US"/>
          </a:p>
        </p:txBody>
      </p:sp>
      <p:sp>
        <p:nvSpPr>
          <p:cNvPr id="36" name="band 8"/>
          <p:cNvSpPr/>
          <p:nvPr/>
        </p:nvSpPr>
        <p:spPr>
          <a:xfrm>
            <a:off x="548640" y="4599432"/>
            <a:ext cx="11094415" cy="338328"/>
          </a:xfrm>
          <a:prstGeom prst="rect">
            <a:avLst/>
          </a:prstGeom>
          <a:solidFill>
            <a:schemeClr val="accent5"/>
          </a:solidFill>
          <a:ln w="12700">
            <a:solidFill>
              <a:srgbClr val="E9EDF4"/>
            </a:solidFill>
            <a:prstDash val="solid"/>
          </a:ln>
        </p:spPr>
        <p:txBody>
          <a:bodyPr/>
          <a:lstStyle/>
          <a:p>
            <a:endParaRPr lang="en-US"/>
          </a:p>
        </p:txBody>
      </p:sp>
      <p:sp>
        <p:nvSpPr>
          <p:cNvPr id="37" name="Text 35"/>
          <p:cNvSpPr txBox="1"/>
          <p:nvPr/>
        </p:nvSpPr>
        <p:spPr>
          <a:xfrm>
            <a:off x="640080" y="4599432"/>
            <a:ext cx="3383280" cy="338328"/>
          </a:xfrm>
          <a:prstGeom prst="rect">
            <a:avLst/>
          </a:prstGeom>
          <a:noFill/>
          <a:ln/>
        </p:spPr>
        <p:txBody>
          <a:bodyPr wrap="square" lIns="0" tIns="0" rIns="0" bIns="0" rtlCol="0" anchor="ctr"/>
          <a:lstStyle/>
          <a:p>
            <a:pPr marL="0" indent="0">
              <a:buNone/>
            </a:pPr>
            <a:r>
              <a:rPr lang="en-US" sz="1050" dirty="0">
                <a:solidFill>
                  <a:schemeClr val="tx1"/>
                </a:solidFill>
              </a:rPr>
              <a:t>Year-end close and financial audit support</a:t>
            </a:r>
            <a:endParaRPr lang="en-US" sz="1050" dirty="0"/>
          </a:p>
        </p:txBody>
      </p:sp>
      <p:sp>
        <p:nvSpPr>
          <p:cNvPr id="38" name="bar 8"/>
          <p:cNvSpPr/>
          <p:nvPr/>
        </p:nvSpPr>
        <p:spPr>
          <a:xfrm>
            <a:off x="7878928" y="4672584"/>
            <a:ext cx="3764128" cy="192024"/>
          </a:xfrm>
          <a:prstGeom prst="roundRect">
            <a:avLst>
              <a:gd name="adj" fmla="val 23810"/>
            </a:avLst>
          </a:prstGeom>
          <a:solidFill>
            <a:schemeClr val="accent1"/>
          </a:solidFill>
          <a:ln w="12700">
            <a:solidFill>
              <a:srgbClr val="1B2A49"/>
            </a:solidFill>
            <a:prstDash val="solid"/>
          </a:ln>
        </p:spPr>
        <p:txBody>
          <a:bodyPr/>
          <a:lstStyle/>
          <a:p>
            <a:endParaRPr lang="en-US"/>
          </a:p>
        </p:txBody>
      </p:sp>
      <p:sp>
        <p:nvSpPr>
          <p:cNvPr id="39" name="Text 37"/>
          <p:cNvSpPr txBox="1"/>
          <p:nvPr/>
        </p:nvSpPr>
        <p:spPr>
          <a:xfrm>
            <a:off x="640080" y="4937760"/>
            <a:ext cx="3383280" cy="338328"/>
          </a:xfrm>
          <a:prstGeom prst="rect">
            <a:avLst/>
          </a:prstGeom>
          <a:noFill/>
          <a:ln/>
        </p:spPr>
        <p:txBody>
          <a:bodyPr wrap="square" lIns="0" tIns="0" rIns="0" bIns="0" rtlCol="0" anchor="ctr"/>
          <a:lstStyle/>
          <a:p>
            <a:pPr marL="0" indent="0">
              <a:buNone/>
            </a:pPr>
            <a:r>
              <a:rPr lang="en-US" sz="1050" dirty="0">
                <a:solidFill>
                  <a:schemeClr val="tx1"/>
                </a:solidFill>
              </a:rPr>
              <a:t>CFO reporting rhythm and 2028 S corporation planning</a:t>
            </a:r>
            <a:endParaRPr lang="en-US" sz="1050" dirty="0"/>
          </a:p>
        </p:txBody>
      </p:sp>
      <p:sp>
        <p:nvSpPr>
          <p:cNvPr id="40" name="bar 9"/>
          <p:cNvSpPr/>
          <p:nvPr/>
        </p:nvSpPr>
        <p:spPr>
          <a:xfrm>
            <a:off x="9133637" y="5010912"/>
            <a:ext cx="2509418" cy="192024"/>
          </a:xfrm>
          <a:prstGeom prst="roundRect">
            <a:avLst>
              <a:gd name="adj" fmla="val 23810"/>
            </a:avLst>
          </a:prstGeom>
          <a:solidFill>
            <a:schemeClr val="accent1"/>
          </a:solidFill>
          <a:ln w="12700">
            <a:solidFill>
              <a:srgbClr val="1B2A49"/>
            </a:solidFill>
            <a:prstDash val="solid"/>
          </a:ln>
        </p:spPr>
        <p:txBody>
          <a:bodyPr/>
          <a:lstStyle/>
          <a:p>
            <a:endParaRPr lang="en-US"/>
          </a:p>
        </p:txBody>
      </p:sp>
      <p:sp>
        <p:nvSpPr>
          <p:cNvPr id="41" name="grid 1"/>
          <p:cNvSpPr/>
          <p:nvPr/>
        </p:nvSpPr>
        <p:spPr>
          <a:xfrm>
            <a:off x="5369509" y="1892808"/>
            <a:ext cx="0" cy="3383280"/>
          </a:xfrm>
          <a:prstGeom prst="line">
            <a:avLst/>
          </a:prstGeom>
          <a:noFill/>
          <a:ln w="6350">
            <a:solidFill>
              <a:srgbClr val="D5D9E0"/>
            </a:solidFill>
            <a:prstDash val="solid"/>
          </a:ln>
        </p:spPr>
        <p:txBody>
          <a:bodyPr/>
          <a:lstStyle/>
          <a:p>
            <a:endParaRPr lang="en-US"/>
          </a:p>
        </p:txBody>
      </p:sp>
      <p:sp>
        <p:nvSpPr>
          <p:cNvPr id="42" name="grid 2"/>
          <p:cNvSpPr/>
          <p:nvPr/>
        </p:nvSpPr>
        <p:spPr>
          <a:xfrm>
            <a:off x="6624218" y="1892808"/>
            <a:ext cx="0" cy="3383280"/>
          </a:xfrm>
          <a:prstGeom prst="line">
            <a:avLst/>
          </a:prstGeom>
          <a:noFill/>
          <a:ln w="6350">
            <a:solidFill>
              <a:srgbClr val="D5D9E0"/>
            </a:solidFill>
            <a:prstDash val="solid"/>
          </a:ln>
        </p:spPr>
        <p:txBody>
          <a:bodyPr/>
          <a:lstStyle/>
          <a:p>
            <a:endParaRPr lang="en-US"/>
          </a:p>
        </p:txBody>
      </p:sp>
      <p:sp>
        <p:nvSpPr>
          <p:cNvPr id="43" name="grid 3"/>
          <p:cNvSpPr/>
          <p:nvPr/>
        </p:nvSpPr>
        <p:spPr>
          <a:xfrm>
            <a:off x="7878928" y="1892808"/>
            <a:ext cx="0" cy="3383280"/>
          </a:xfrm>
          <a:prstGeom prst="line">
            <a:avLst/>
          </a:prstGeom>
          <a:noFill/>
          <a:ln w="6350">
            <a:solidFill>
              <a:srgbClr val="D5D9E0"/>
            </a:solidFill>
            <a:prstDash val="solid"/>
          </a:ln>
        </p:spPr>
        <p:txBody>
          <a:bodyPr/>
          <a:lstStyle/>
          <a:p>
            <a:endParaRPr lang="en-US"/>
          </a:p>
        </p:txBody>
      </p:sp>
      <p:sp>
        <p:nvSpPr>
          <p:cNvPr id="44" name="grid 4"/>
          <p:cNvSpPr/>
          <p:nvPr/>
        </p:nvSpPr>
        <p:spPr>
          <a:xfrm>
            <a:off x="9133637" y="1892808"/>
            <a:ext cx="0" cy="3383280"/>
          </a:xfrm>
          <a:prstGeom prst="line">
            <a:avLst/>
          </a:prstGeom>
          <a:noFill/>
          <a:ln w="6350">
            <a:solidFill>
              <a:srgbClr val="D5D9E0"/>
            </a:solidFill>
            <a:prstDash val="solid"/>
          </a:ln>
        </p:spPr>
        <p:txBody>
          <a:bodyPr/>
          <a:lstStyle/>
          <a:p>
            <a:endParaRPr lang="en-US"/>
          </a:p>
        </p:txBody>
      </p:sp>
      <p:sp>
        <p:nvSpPr>
          <p:cNvPr id="45" name="grid 5"/>
          <p:cNvSpPr/>
          <p:nvPr/>
        </p:nvSpPr>
        <p:spPr>
          <a:xfrm>
            <a:off x="10388346" y="1892808"/>
            <a:ext cx="0" cy="3383280"/>
          </a:xfrm>
          <a:prstGeom prst="line">
            <a:avLst/>
          </a:prstGeom>
          <a:noFill/>
          <a:ln w="6350">
            <a:solidFill>
              <a:srgbClr val="D5D9E0"/>
            </a:solidFill>
            <a:prstDash val="solid"/>
          </a:ln>
        </p:spPr>
        <p:txBody>
          <a:bodyPr/>
          <a:lstStyle/>
          <a:p>
            <a:endParaRPr lang="en-US"/>
          </a:p>
        </p:txBody>
      </p:sp>
      <p:sp>
        <p:nvSpPr>
          <p:cNvPr id="46" name="cp line"/>
          <p:cNvSpPr/>
          <p:nvPr/>
        </p:nvSpPr>
        <p:spPr>
          <a:xfrm>
            <a:off x="4114800" y="5660136"/>
            <a:ext cx="7528255" cy="0"/>
          </a:xfrm>
          <a:prstGeom prst="line">
            <a:avLst/>
          </a:prstGeom>
          <a:noFill/>
          <a:ln w="12700">
            <a:solidFill>
              <a:srgbClr val="D5D9E0"/>
            </a:solidFill>
            <a:prstDash val="solid"/>
          </a:ln>
        </p:spPr>
        <p:txBody>
          <a:bodyPr/>
          <a:lstStyle/>
          <a:p>
            <a:endParaRPr lang="en-US"/>
          </a:p>
        </p:txBody>
      </p:sp>
      <p:sp>
        <p:nvSpPr>
          <p:cNvPr id="47" name="cp Kickoff"/>
          <p:cNvSpPr/>
          <p:nvPr/>
        </p:nvSpPr>
        <p:spPr>
          <a:xfrm>
            <a:off x="4453364"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48" name="Text 46"/>
          <p:cNvSpPr txBox="1"/>
          <p:nvPr/>
        </p:nvSpPr>
        <p:spPr>
          <a:xfrm>
            <a:off x="3913868"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Kickoff</a:t>
            </a:r>
            <a:endParaRPr lang="en-US" sz="1000" dirty="0"/>
          </a:p>
        </p:txBody>
      </p:sp>
      <p:sp>
        <p:nvSpPr>
          <p:cNvPr id="49" name="cp Day 30 review"/>
          <p:cNvSpPr/>
          <p:nvPr/>
        </p:nvSpPr>
        <p:spPr>
          <a:xfrm>
            <a:off x="5896280"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50" name="Text 48"/>
          <p:cNvSpPr txBox="1"/>
          <p:nvPr/>
        </p:nvSpPr>
        <p:spPr>
          <a:xfrm>
            <a:off x="5356784"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Day 30 review</a:t>
            </a:r>
            <a:endParaRPr lang="en-US" sz="1000" dirty="0"/>
          </a:p>
        </p:txBody>
      </p:sp>
      <p:sp>
        <p:nvSpPr>
          <p:cNvPr id="51" name="cp Day 60 review"/>
          <p:cNvSpPr/>
          <p:nvPr/>
        </p:nvSpPr>
        <p:spPr>
          <a:xfrm>
            <a:off x="7150989"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52" name="Text 50"/>
          <p:cNvSpPr txBox="1"/>
          <p:nvPr/>
        </p:nvSpPr>
        <p:spPr>
          <a:xfrm>
            <a:off x="6611493"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Day 60 review</a:t>
            </a:r>
            <a:endParaRPr lang="en-US" sz="1000" dirty="0"/>
          </a:p>
        </p:txBody>
      </p:sp>
      <p:sp>
        <p:nvSpPr>
          <p:cNvPr id="53" name="cp Day 90 review"/>
          <p:cNvSpPr/>
          <p:nvPr/>
        </p:nvSpPr>
        <p:spPr>
          <a:xfrm>
            <a:off x="8405698"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54" name="Text 52"/>
          <p:cNvSpPr txBox="1"/>
          <p:nvPr/>
        </p:nvSpPr>
        <p:spPr>
          <a:xfrm>
            <a:off x="7866202"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Day 90 review</a:t>
            </a:r>
            <a:endParaRPr lang="en-US" sz="1000" dirty="0"/>
          </a:p>
        </p:txBody>
      </p:sp>
      <p:sp>
        <p:nvSpPr>
          <p:cNvPr id="55" name="cp Steady state"/>
          <p:cNvSpPr/>
          <p:nvPr/>
        </p:nvSpPr>
        <p:spPr>
          <a:xfrm>
            <a:off x="11354265"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56" name="Text 54"/>
          <p:cNvSpPr txBox="1"/>
          <p:nvPr/>
        </p:nvSpPr>
        <p:spPr>
          <a:xfrm>
            <a:off x="10814769"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Steady state</a:t>
            </a:r>
            <a:endParaRPr lang="en-US" sz="1000" dirty="0"/>
          </a:p>
        </p:txBody>
      </p:sp>
      <p:sp>
        <p:nvSpPr>
          <p:cNvPr id="57" name="Text 55"/>
          <p:cNvSpPr txBox="1"/>
          <p:nvPr/>
        </p:nvSpPr>
        <p:spPr>
          <a:xfrm>
            <a:off x="640080" y="5532120"/>
            <a:ext cx="3566160" cy="274320"/>
          </a:xfrm>
          <a:prstGeom prst="rect">
            <a:avLst/>
          </a:prstGeom>
          <a:noFill/>
          <a:ln/>
        </p:spPr>
        <p:txBody>
          <a:bodyPr wrap="square" lIns="0" tIns="0" rIns="0" bIns="0" rtlCol="0" anchor="t"/>
          <a:lstStyle/>
          <a:p>
            <a:pPr marL="0" indent="0">
              <a:buNone/>
            </a:pPr>
            <a:r>
              <a:rPr lang="en-US" sz="1100" b="1" dirty="0">
                <a:solidFill>
                  <a:schemeClr val="tx2"/>
                </a:solidFill>
              </a:rPr>
              <a:t>Checkpoints</a:t>
            </a:r>
            <a:endParaRPr lang="en-US" sz="1100" dirty="0"/>
          </a:p>
        </p:txBody>
      </p:sp>
      <p:sp>
        <p:nvSpPr>
          <p:cNvPr id="58" name="Text 56"/>
          <p:cNvSpPr txBox="1"/>
          <p:nvPr/>
        </p:nvSpPr>
        <p:spPr>
          <a:xfrm>
            <a:off x="548640" y="6291072"/>
            <a:ext cx="10972800" cy="274320"/>
          </a:xfrm>
          <a:prstGeom prst="rect">
            <a:avLst/>
          </a:prstGeom>
          <a:noFill/>
          <a:ln/>
        </p:spPr>
        <p:txBody>
          <a:bodyPr wrap="square" lIns="0" tIns="0" rIns="0" bIns="0" rtlCol="0" anchor="t"/>
          <a:lstStyle/>
          <a:p>
            <a:pPr marL="0" indent="0">
              <a:buNone/>
            </a:pPr>
            <a:r>
              <a:rPr lang="en-US" sz="950" dirty="0">
                <a:solidFill>
                  <a:schemeClr val="accent3"/>
                </a:solidFill>
              </a:rPr>
              <a:t>Assumes a start the week of October 12, 2026 with system access from day one. Red bars are fixed external deadlines. Dates are confirmed with Marc in the first week.</a:t>
            </a:r>
            <a:endParaRPr lang="en-US" sz="950" dirty="0"/>
          </a:p>
        </p:txBody>
      </p:sp>
      <p:sp>
        <p:nvSpPr>
          <p:cNvPr id="5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04  30/60/90-DAY PLAN</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The first 90 days</a:t>
            </a:r>
            <a:endParaRPr lang="en-US" sz="2800" dirty="0"/>
          </a:p>
        </p:txBody>
      </p:sp>
      <p:sp>
        <p:nvSpPr>
          <p:cNvPr id="4" name="phase Days 1 to 30"/>
          <p:cNvSpPr/>
          <p:nvPr/>
        </p:nvSpPr>
        <p:spPr>
          <a:xfrm>
            <a:off x="548640" y="1554480"/>
            <a:ext cx="3545738" cy="3977640"/>
          </a:xfrm>
          <a:prstGeom prst="rect">
            <a:avLst/>
          </a:prstGeom>
          <a:solidFill>
            <a:schemeClr val="accent5"/>
          </a:solidFill>
          <a:ln w="9525">
            <a:solidFill>
              <a:srgbClr val="D5D9E0"/>
            </a:solidFill>
            <a:prstDash val="solid"/>
          </a:ln>
        </p:spPr>
        <p:txBody>
          <a:bodyPr/>
          <a:lstStyle/>
          <a:p>
            <a:endParaRPr lang="en-US"/>
          </a:p>
        </p:txBody>
      </p:sp>
      <p:sp>
        <p:nvSpPr>
          <p:cNvPr id="5" name="phase head Days 1 to 30"/>
          <p:cNvSpPr/>
          <p:nvPr/>
        </p:nvSpPr>
        <p:spPr>
          <a:xfrm>
            <a:off x="548640" y="1554480"/>
            <a:ext cx="3545738" cy="685800"/>
          </a:xfrm>
          <a:prstGeom prst="rect">
            <a:avLst/>
          </a:prstGeom>
          <a:solidFill>
            <a:schemeClr val="accent1"/>
          </a:solidFill>
          <a:ln w="12700">
            <a:solidFill>
              <a:srgbClr val="1B2A49"/>
            </a:solidFill>
            <a:prstDash val="solid"/>
          </a:ln>
        </p:spPr>
        <p:txBody>
          <a:bodyPr/>
          <a:lstStyle/>
          <a:p>
            <a:endParaRPr lang="en-US"/>
          </a:p>
        </p:txBody>
      </p:sp>
      <p:sp>
        <p:nvSpPr>
          <p:cNvPr id="6" name="Text 4"/>
          <p:cNvSpPr txBox="1"/>
          <p:nvPr/>
        </p:nvSpPr>
        <p:spPr>
          <a:xfrm>
            <a:off x="777240" y="1645920"/>
            <a:ext cx="3088538" cy="274320"/>
          </a:xfrm>
          <a:prstGeom prst="rect">
            <a:avLst/>
          </a:prstGeom>
          <a:noFill/>
          <a:ln/>
        </p:spPr>
        <p:txBody>
          <a:bodyPr wrap="square" lIns="0" tIns="0" rIns="0" bIns="0" rtlCol="0" anchor="t"/>
          <a:lstStyle/>
          <a:p>
            <a:pPr marL="0" indent="0">
              <a:buNone/>
            </a:pPr>
            <a:r>
              <a:rPr lang="en-US" sz="1100" b="1" kern="0" spc="100" dirty="0">
                <a:solidFill>
                  <a:schemeClr val="bg1"/>
                </a:solidFill>
              </a:rPr>
              <a:t>Days 1 to 30</a:t>
            </a:r>
            <a:endParaRPr lang="en-US" sz="1100" dirty="0"/>
          </a:p>
        </p:txBody>
      </p:sp>
      <p:sp>
        <p:nvSpPr>
          <p:cNvPr id="7" name="Text 5"/>
          <p:cNvSpPr txBox="1"/>
          <p:nvPr/>
        </p:nvSpPr>
        <p:spPr>
          <a:xfrm>
            <a:off x="777240" y="1883664"/>
            <a:ext cx="3088538" cy="32004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Stabilize</a:t>
            </a:r>
            <a:endParaRPr lang="en-US" sz="1600" dirty="0"/>
          </a:p>
        </p:txBody>
      </p:sp>
      <p:sp>
        <p:nvSpPr>
          <p:cNvPr id="8" name="Text 6"/>
          <p:cNvSpPr txBox="1"/>
          <p:nvPr/>
        </p:nvSpPr>
        <p:spPr>
          <a:xfrm>
            <a:off x="777240" y="2377440"/>
            <a:ext cx="3088538" cy="274320"/>
          </a:xfrm>
          <a:prstGeom prst="rect">
            <a:avLst/>
          </a:prstGeom>
          <a:noFill/>
          <a:ln/>
        </p:spPr>
        <p:txBody>
          <a:bodyPr wrap="square" lIns="0" tIns="0" rIns="0" bIns="0" rtlCol="0" anchor="t"/>
          <a:lstStyle/>
          <a:p>
            <a:pPr marL="0" indent="0">
              <a:buNone/>
            </a:pPr>
            <a:r>
              <a:rPr lang="en-US" sz="1150" b="1" dirty="0">
                <a:solidFill>
                  <a:schemeClr val="tx2"/>
                </a:solidFill>
              </a:rPr>
              <a:t>Activities</a:t>
            </a:r>
            <a:endParaRPr lang="en-US" sz="1150" dirty="0"/>
          </a:p>
        </p:txBody>
      </p:sp>
      <p:sp>
        <p:nvSpPr>
          <p:cNvPr id="9" name="Text 7"/>
          <p:cNvSpPr txBox="1"/>
          <p:nvPr/>
        </p:nvSpPr>
        <p:spPr>
          <a:xfrm>
            <a:off x="777240" y="2651760"/>
            <a:ext cx="308853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Kickoff with Marc and Ian; access to Sage Intacct, ServiceTitan, QStock, payroll and bank view</a:t>
            </a:r>
            <a:endParaRPr lang="en-US" sz="1100" dirty="0"/>
          </a:p>
          <a:p>
            <a:pPr marL="152400" indent="-152400">
              <a:spcAft>
                <a:spcPts val="400"/>
              </a:spcAft>
              <a:buSzPct val="100000"/>
              <a:buChar char="•"/>
            </a:pPr>
            <a:r>
              <a:rPr lang="en-US" sz="1100" dirty="0">
                <a:solidFill>
                  <a:schemeClr val="tx1"/>
                </a:solidFill>
              </a:rPr>
              <a:t>Capture the departed CFO's recurring tasks, files, deadlines and bank contacts</a:t>
            </a:r>
            <a:endParaRPr lang="en-US" sz="1100" dirty="0"/>
          </a:p>
          <a:p>
            <a:pPr marL="152400" indent="-152400">
              <a:spcAft>
                <a:spcPts val="400"/>
              </a:spcAft>
              <a:buSzPct val="100000"/>
              <a:buChar char="•"/>
            </a:pPr>
            <a:r>
              <a:rPr lang="en-US" sz="1100" dirty="0">
                <a:solidFill>
                  <a:schemeClr val="tx1"/>
                </a:solidFill>
              </a:rPr>
              <a:t>Support the 401(k) plan audit and get the completed return to your preparer</a:t>
            </a:r>
            <a:endParaRPr lang="en-US" sz="1100" dirty="0"/>
          </a:p>
          <a:p>
            <a:pPr marL="152400" indent="-152400">
              <a:spcAft>
                <a:spcPts val="400"/>
              </a:spcAft>
              <a:buSzPct val="100000"/>
              <a:buChar char="•"/>
            </a:pPr>
            <a:r>
              <a:rPr lang="en-US" sz="1100" dirty="0">
                <a:solidFill>
                  <a:schemeClr val="tx1"/>
                </a:solidFill>
              </a:rPr>
              <a:t>Begin on-site training with Ian and take over review of the close</a:t>
            </a:r>
            <a:endParaRPr lang="en-US" sz="1100" dirty="0"/>
          </a:p>
        </p:txBody>
      </p:sp>
      <p:sp>
        <p:nvSpPr>
          <p:cNvPr id="10" name="Text 8"/>
          <p:cNvSpPr txBox="1"/>
          <p:nvPr/>
        </p:nvSpPr>
        <p:spPr>
          <a:xfrm>
            <a:off x="777240" y="4389120"/>
            <a:ext cx="3088538" cy="274320"/>
          </a:xfrm>
          <a:prstGeom prst="rect">
            <a:avLst/>
          </a:prstGeom>
          <a:noFill/>
          <a:ln/>
        </p:spPr>
        <p:txBody>
          <a:bodyPr wrap="square" lIns="0" tIns="0" rIns="0" bIns="0" rtlCol="0" anchor="t"/>
          <a:lstStyle/>
          <a:p>
            <a:pPr marL="0" indent="0">
              <a:buNone/>
            </a:pPr>
            <a:r>
              <a:rPr lang="en-US" sz="1150" b="1" dirty="0">
                <a:solidFill>
                  <a:schemeClr val="tx2"/>
                </a:solidFill>
              </a:rPr>
              <a:t>What you have at the checkpoint</a:t>
            </a:r>
            <a:endParaRPr lang="en-US" sz="1150" dirty="0"/>
          </a:p>
        </p:txBody>
      </p:sp>
      <p:sp>
        <p:nvSpPr>
          <p:cNvPr id="11" name="Text 9"/>
          <p:cNvSpPr txBox="1"/>
          <p:nvPr/>
        </p:nvSpPr>
        <p:spPr>
          <a:xfrm>
            <a:off x="777240" y="4663440"/>
            <a:ext cx="3088538" cy="8686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Close calendar and task list documented</a:t>
            </a:r>
            <a:endParaRPr lang="en-US" sz="1100" dirty="0"/>
          </a:p>
          <a:p>
            <a:pPr marL="152400" indent="-152400">
              <a:spcAft>
                <a:spcPts val="400"/>
              </a:spcAft>
              <a:buSzPct val="100000"/>
              <a:buChar char="•"/>
            </a:pPr>
            <a:r>
              <a:rPr lang="en-US" sz="1100" dirty="0">
                <a:solidFill>
                  <a:schemeClr val="tx1"/>
                </a:solidFill>
              </a:rPr>
              <a:t>September close reviewed, October close under way</a:t>
            </a:r>
            <a:endParaRPr lang="en-US" sz="1100" dirty="0"/>
          </a:p>
          <a:p>
            <a:pPr marL="152400" indent="-152400">
              <a:spcAft>
                <a:spcPts val="400"/>
              </a:spcAft>
              <a:buSzPct val="100000"/>
              <a:buChar char="•"/>
            </a:pPr>
            <a:r>
              <a:rPr lang="en-US" sz="1100" dirty="0">
                <a:solidFill>
                  <a:schemeClr val="tx1"/>
                </a:solidFill>
              </a:rPr>
              <a:t>Audit requests answered on time</a:t>
            </a:r>
            <a:endParaRPr lang="en-US" sz="1100" dirty="0"/>
          </a:p>
        </p:txBody>
      </p:sp>
      <p:sp>
        <p:nvSpPr>
          <p:cNvPr id="12" name="phase Days 31 to 60"/>
          <p:cNvSpPr/>
          <p:nvPr/>
        </p:nvSpPr>
        <p:spPr>
          <a:xfrm>
            <a:off x="4322978" y="1554480"/>
            <a:ext cx="3545738" cy="3977640"/>
          </a:xfrm>
          <a:prstGeom prst="rect">
            <a:avLst/>
          </a:prstGeom>
          <a:solidFill>
            <a:schemeClr val="accent5"/>
          </a:solidFill>
          <a:ln w="9525">
            <a:solidFill>
              <a:srgbClr val="D5D9E0"/>
            </a:solidFill>
            <a:prstDash val="solid"/>
          </a:ln>
        </p:spPr>
        <p:txBody>
          <a:bodyPr/>
          <a:lstStyle/>
          <a:p>
            <a:endParaRPr lang="en-US"/>
          </a:p>
        </p:txBody>
      </p:sp>
      <p:sp>
        <p:nvSpPr>
          <p:cNvPr id="13" name="phase head Days 31 to 60"/>
          <p:cNvSpPr/>
          <p:nvPr/>
        </p:nvSpPr>
        <p:spPr>
          <a:xfrm>
            <a:off x="4322978" y="1554480"/>
            <a:ext cx="3545738" cy="685800"/>
          </a:xfrm>
          <a:prstGeom prst="rect">
            <a:avLst/>
          </a:prstGeom>
          <a:solidFill>
            <a:schemeClr val="accent1"/>
          </a:solidFill>
          <a:ln w="12700">
            <a:solidFill>
              <a:srgbClr val="1B2A49"/>
            </a:solidFill>
            <a:prstDash val="solid"/>
          </a:ln>
        </p:spPr>
        <p:txBody>
          <a:bodyPr/>
          <a:lstStyle/>
          <a:p>
            <a:endParaRPr lang="en-US"/>
          </a:p>
        </p:txBody>
      </p:sp>
      <p:sp>
        <p:nvSpPr>
          <p:cNvPr id="14" name="Text 12"/>
          <p:cNvSpPr txBox="1"/>
          <p:nvPr/>
        </p:nvSpPr>
        <p:spPr>
          <a:xfrm>
            <a:off x="4551578" y="1645920"/>
            <a:ext cx="3088538" cy="274320"/>
          </a:xfrm>
          <a:prstGeom prst="rect">
            <a:avLst/>
          </a:prstGeom>
          <a:noFill/>
          <a:ln/>
        </p:spPr>
        <p:txBody>
          <a:bodyPr wrap="square" lIns="0" tIns="0" rIns="0" bIns="0" rtlCol="0" anchor="t"/>
          <a:lstStyle/>
          <a:p>
            <a:pPr marL="0" indent="0">
              <a:buNone/>
            </a:pPr>
            <a:r>
              <a:rPr lang="en-US" sz="1100" b="1" kern="0" spc="100" dirty="0">
                <a:solidFill>
                  <a:schemeClr val="bg1"/>
                </a:solidFill>
              </a:rPr>
              <a:t>Days 31 to 60</a:t>
            </a:r>
            <a:endParaRPr lang="en-US" sz="1100" dirty="0"/>
          </a:p>
        </p:txBody>
      </p:sp>
      <p:sp>
        <p:nvSpPr>
          <p:cNvPr id="15" name="Text 13"/>
          <p:cNvSpPr txBox="1"/>
          <p:nvPr/>
        </p:nvSpPr>
        <p:spPr>
          <a:xfrm>
            <a:off x="4551578" y="1883664"/>
            <a:ext cx="3088538" cy="32004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Standardize</a:t>
            </a:r>
            <a:endParaRPr lang="en-US" sz="1600" dirty="0"/>
          </a:p>
        </p:txBody>
      </p:sp>
      <p:sp>
        <p:nvSpPr>
          <p:cNvPr id="16" name="Text 14"/>
          <p:cNvSpPr txBox="1"/>
          <p:nvPr/>
        </p:nvSpPr>
        <p:spPr>
          <a:xfrm>
            <a:off x="4551578" y="2377440"/>
            <a:ext cx="3088538" cy="274320"/>
          </a:xfrm>
          <a:prstGeom prst="rect">
            <a:avLst/>
          </a:prstGeom>
          <a:noFill/>
          <a:ln/>
        </p:spPr>
        <p:txBody>
          <a:bodyPr wrap="square" lIns="0" tIns="0" rIns="0" bIns="0" rtlCol="0" anchor="t"/>
          <a:lstStyle/>
          <a:p>
            <a:pPr marL="0" indent="0">
              <a:buNone/>
            </a:pPr>
            <a:r>
              <a:rPr lang="en-US" sz="1150" b="1" dirty="0">
                <a:solidFill>
                  <a:schemeClr val="tx2"/>
                </a:solidFill>
              </a:rPr>
              <a:t>Activities</a:t>
            </a:r>
            <a:endParaRPr lang="en-US" sz="1150" dirty="0"/>
          </a:p>
        </p:txBody>
      </p:sp>
      <p:sp>
        <p:nvSpPr>
          <p:cNvPr id="17" name="Text 15"/>
          <p:cNvSpPr txBox="1"/>
          <p:nvPr/>
        </p:nvSpPr>
        <p:spPr>
          <a:xfrm>
            <a:off x="4551578" y="2651760"/>
            <a:ext cx="308853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Lead the October close and deliver management reporting</a:t>
            </a:r>
            <a:endParaRPr lang="en-US" sz="1100" dirty="0"/>
          </a:p>
          <a:p>
            <a:pPr marL="152400" indent="-152400">
              <a:spcAft>
                <a:spcPts val="400"/>
              </a:spcAft>
              <a:buSzPct val="100000"/>
              <a:buChar char="•"/>
            </a:pPr>
            <a:r>
              <a:rPr lang="en-US" sz="1100" dirty="0">
                <a:solidFill>
                  <a:schemeClr val="tx1"/>
                </a:solidFill>
              </a:rPr>
              <a:t>Prepare and deliver the Bell Bank third-quarter package</a:t>
            </a:r>
            <a:endParaRPr lang="en-US" sz="1100" dirty="0"/>
          </a:p>
          <a:p>
            <a:pPr marL="152400" indent="-152400">
              <a:spcAft>
                <a:spcPts val="400"/>
              </a:spcAft>
              <a:buSzPct val="100000"/>
              <a:buChar char="•"/>
            </a:pPr>
            <a:r>
              <a:rPr lang="en-US" sz="1100" dirty="0">
                <a:solidFill>
                  <a:schemeClr val="tx1"/>
                </a:solidFill>
              </a:rPr>
              <a:t>Review AP, positive pay and AR processes; decide Bill.com versus Sage Intacct for AP</a:t>
            </a:r>
            <a:endParaRPr lang="en-US" sz="1100" dirty="0"/>
          </a:p>
          <a:p>
            <a:pPr marL="152400" indent="-152400">
              <a:spcAft>
                <a:spcPts val="400"/>
              </a:spcAft>
              <a:buSzPct val="100000"/>
              <a:buChar char="•"/>
            </a:pPr>
            <a:r>
              <a:rPr lang="en-US" sz="1100" dirty="0">
                <a:solidFill>
                  <a:schemeClr val="tx1"/>
                </a:solidFill>
              </a:rPr>
              <a:t>Map the ServiceTitan, QStock and Sage Intacct flows and log the gaps with owners</a:t>
            </a:r>
            <a:endParaRPr lang="en-US" sz="1100" dirty="0"/>
          </a:p>
        </p:txBody>
      </p:sp>
      <p:sp>
        <p:nvSpPr>
          <p:cNvPr id="18" name="Text 16"/>
          <p:cNvSpPr txBox="1"/>
          <p:nvPr/>
        </p:nvSpPr>
        <p:spPr>
          <a:xfrm>
            <a:off x="4551578" y="4389120"/>
            <a:ext cx="3088538" cy="274320"/>
          </a:xfrm>
          <a:prstGeom prst="rect">
            <a:avLst/>
          </a:prstGeom>
          <a:noFill/>
          <a:ln/>
        </p:spPr>
        <p:txBody>
          <a:bodyPr wrap="square" lIns="0" tIns="0" rIns="0" bIns="0" rtlCol="0" anchor="t"/>
          <a:lstStyle/>
          <a:p>
            <a:pPr marL="0" indent="0">
              <a:buNone/>
            </a:pPr>
            <a:r>
              <a:rPr lang="en-US" sz="1150" b="1" dirty="0">
                <a:solidFill>
                  <a:schemeClr val="tx2"/>
                </a:solidFill>
              </a:rPr>
              <a:t>What you have at the checkpoint</a:t>
            </a:r>
            <a:endParaRPr lang="en-US" sz="1150" dirty="0"/>
          </a:p>
        </p:txBody>
      </p:sp>
      <p:sp>
        <p:nvSpPr>
          <p:cNvPr id="19" name="Text 17"/>
          <p:cNvSpPr txBox="1"/>
          <p:nvPr/>
        </p:nvSpPr>
        <p:spPr>
          <a:xfrm>
            <a:off x="4551578" y="4663440"/>
            <a:ext cx="3088538" cy="8686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First ONYX-reviewed close and reporting pack</a:t>
            </a:r>
            <a:endParaRPr lang="en-US" sz="1100" dirty="0"/>
          </a:p>
          <a:p>
            <a:pPr marL="152400" indent="-152400">
              <a:spcAft>
                <a:spcPts val="400"/>
              </a:spcAft>
              <a:buSzPct val="100000"/>
              <a:buChar char="•"/>
            </a:pPr>
            <a:r>
              <a:rPr lang="en-US" sz="1100" dirty="0">
                <a:solidFill>
                  <a:schemeClr val="tx1"/>
                </a:solidFill>
              </a:rPr>
              <a:t>Bell Bank package submitted</a:t>
            </a:r>
            <a:endParaRPr lang="en-US" sz="1100" dirty="0"/>
          </a:p>
          <a:p>
            <a:pPr marL="152400" indent="-152400">
              <a:spcAft>
                <a:spcPts val="400"/>
              </a:spcAft>
              <a:buSzPct val="100000"/>
              <a:buChar char="•"/>
            </a:pPr>
            <a:r>
              <a:rPr lang="en-US" sz="1100" dirty="0">
                <a:solidFill>
                  <a:schemeClr val="tx1"/>
                </a:solidFill>
              </a:rPr>
              <a:t>Process map with gaps and owners</a:t>
            </a:r>
            <a:endParaRPr lang="en-US" sz="1100" dirty="0"/>
          </a:p>
        </p:txBody>
      </p:sp>
      <p:sp>
        <p:nvSpPr>
          <p:cNvPr id="20" name="phase Days 61 to 90"/>
          <p:cNvSpPr/>
          <p:nvPr/>
        </p:nvSpPr>
        <p:spPr>
          <a:xfrm>
            <a:off x="8097317" y="1554480"/>
            <a:ext cx="3545738" cy="3977640"/>
          </a:xfrm>
          <a:prstGeom prst="rect">
            <a:avLst/>
          </a:prstGeom>
          <a:solidFill>
            <a:schemeClr val="accent5"/>
          </a:solidFill>
          <a:ln w="9525">
            <a:solidFill>
              <a:srgbClr val="D5D9E0"/>
            </a:solidFill>
            <a:prstDash val="solid"/>
          </a:ln>
        </p:spPr>
        <p:txBody>
          <a:bodyPr/>
          <a:lstStyle/>
          <a:p>
            <a:endParaRPr lang="en-US"/>
          </a:p>
        </p:txBody>
      </p:sp>
      <p:sp>
        <p:nvSpPr>
          <p:cNvPr id="21" name="phase head Days 61 to 90"/>
          <p:cNvSpPr/>
          <p:nvPr/>
        </p:nvSpPr>
        <p:spPr>
          <a:xfrm>
            <a:off x="8097317" y="1554480"/>
            <a:ext cx="3545738" cy="685800"/>
          </a:xfrm>
          <a:prstGeom prst="rect">
            <a:avLst/>
          </a:prstGeom>
          <a:solidFill>
            <a:schemeClr val="accent1"/>
          </a:solidFill>
          <a:ln w="12700">
            <a:solidFill>
              <a:srgbClr val="1B2A49"/>
            </a:solidFill>
            <a:prstDash val="solid"/>
          </a:ln>
        </p:spPr>
        <p:txBody>
          <a:bodyPr/>
          <a:lstStyle/>
          <a:p>
            <a:endParaRPr lang="en-US"/>
          </a:p>
        </p:txBody>
      </p:sp>
      <p:sp>
        <p:nvSpPr>
          <p:cNvPr id="22" name="Text 20"/>
          <p:cNvSpPr txBox="1"/>
          <p:nvPr/>
        </p:nvSpPr>
        <p:spPr>
          <a:xfrm>
            <a:off x="8325917" y="1645920"/>
            <a:ext cx="3088538" cy="274320"/>
          </a:xfrm>
          <a:prstGeom prst="rect">
            <a:avLst/>
          </a:prstGeom>
          <a:noFill/>
          <a:ln/>
        </p:spPr>
        <p:txBody>
          <a:bodyPr wrap="square" lIns="0" tIns="0" rIns="0" bIns="0" rtlCol="0" anchor="t"/>
          <a:lstStyle/>
          <a:p>
            <a:pPr marL="0" indent="0">
              <a:buNone/>
            </a:pPr>
            <a:r>
              <a:rPr lang="en-US" sz="1100" b="1" kern="0" spc="100" dirty="0">
                <a:solidFill>
                  <a:schemeClr val="bg1"/>
                </a:solidFill>
              </a:rPr>
              <a:t>Days 61 to 90</a:t>
            </a:r>
            <a:endParaRPr lang="en-US" sz="1100" dirty="0"/>
          </a:p>
        </p:txBody>
      </p:sp>
      <p:sp>
        <p:nvSpPr>
          <p:cNvPr id="23" name="Text 21"/>
          <p:cNvSpPr txBox="1"/>
          <p:nvPr/>
        </p:nvSpPr>
        <p:spPr>
          <a:xfrm>
            <a:off x="8325917" y="1883664"/>
            <a:ext cx="3088538" cy="32004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Improve</a:t>
            </a:r>
            <a:endParaRPr lang="en-US" sz="1600" dirty="0"/>
          </a:p>
        </p:txBody>
      </p:sp>
      <p:sp>
        <p:nvSpPr>
          <p:cNvPr id="24" name="Text 22"/>
          <p:cNvSpPr txBox="1"/>
          <p:nvPr/>
        </p:nvSpPr>
        <p:spPr>
          <a:xfrm>
            <a:off x="8325917" y="2377440"/>
            <a:ext cx="3088538" cy="274320"/>
          </a:xfrm>
          <a:prstGeom prst="rect">
            <a:avLst/>
          </a:prstGeom>
          <a:noFill/>
          <a:ln/>
        </p:spPr>
        <p:txBody>
          <a:bodyPr wrap="square" lIns="0" tIns="0" rIns="0" bIns="0" rtlCol="0" anchor="t"/>
          <a:lstStyle/>
          <a:p>
            <a:pPr marL="0" indent="0">
              <a:buNone/>
            </a:pPr>
            <a:r>
              <a:rPr lang="en-US" sz="1150" b="1" dirty="0">
                <a:solidFill>
                  <a:schemeClr val="tx2"/>
                </a:solidFill>
              </a:rPr>
              <a:t>Activities</a:t>
            </a:r>
            <a:endParaRPr lang="en-US" sz="1150" dirty="0"/>
          </a:p>
        </p:txBody>
      </p:sp>
      <p:sp>
        <p:nvSpPr>
          <p:cNvPr id="25" name="Text 23"/>
          <p:cNvSpPr txBox="1"/>
          <p:nvPr/>
        </p:nvSpPr>
        <p:spPr>
          <a:xfrm>
            <a:off x="8325917" y="2651760"/>
            <a:ext cx="308853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Implement the AP changes and simplify the chart of accounts</a:t>
            </a:r>
            <a:endParaRPr lang="en-US" sz="1100" dirty="0"/>
          </a:p>
          <a:p>
            <a:pPr marL="152400" indent="-152400">
              <a:spcAft>
                <a:spcPts val="400"/>
              </a:spcAft>
              <a:buSzPct val="100000"/>
              <a:buChar char="•"/>
            </a:pPr>
            <a:r>
              <a:rPr lang="en-US" sz="1100" dirty="0">
                <a:solidFill>
                  <a:schemeClr val="tx1"/>
                </a:solidFill>
              </a:rPr>
              <a:t>Year-end close plan and audit request list prepared</a:t>
            </a:r>
            <a:endParaRPr lang="en-US" sz="1100" dirty="0"/>
          </a:p>
          <a:p>
            <a:pPr marL="152400" indent="-152400">
              <a:spcAft>
                <a:spcPts val="400"/>
              </a:spcAft>
              <a:buSzPct val="100000"/>
              <a:buChar char="•"/>
            </a:pPr>
            <a:r>
              <a:rPr lang="en-US" sz="1100" dirty="0">
                <a:solidFill>
                  <a:schemeClr val="tx1"/>
                </a:solidFill>
              </a:rPr>
              <a:t>2027 budget framework and the metrics management will track</a:t>
            </a:r>
            <a:endParaRPr lang="en-US" sz="1100" dirty="0"/>
          </a:p>
          <a:p>
            <a:pPr marL="152400" indent="-152400">
              <a:spcAft>
                <a:spcPts val="400"/>
              </a:spcAft>
              <a:buSzPct val="100000"/>
              <a:buChar char="•"/>
            </a:pPr>
            <a:r>
              <a:rPr lang="en-US" sz="1100" dirty="0">
                <a:solidFill>
                  <a:schemeClr val="tx1"/>
                </a:solidFill>
              </a:rPr>
              <a:t>90-day review with Marc: results, staffing mix and the plan for 2027</a:t>
            </a:r>
            <a:endParaRPr lang="en-US" sz="1100" dirty="0"/>
          </a:p>
        </p:txBody>
      </p:sp>
      <p:sp>
        <p:nvSpPr>
          <p:cNvPr id="26" name="Text 24"/>
          <p:cNvSpPr txBox="1"/>
          <p:nvPr/>
        </p:nvSpPr>
        <p:spPr>
          <a:xfrm>
            <a:off x="8325917" y="4389120"/>
            <a:ext cx="3088538" cy="274320"/>
          </a:xfrm>
          <a:prstGeom prst="rect">
            <a:avLst/>
          </a:prstGeom>
          <a:noFill/>
          <a:ln/>
        </p:spPr>
        <p:txBody>
          <a:bodyPr wrap="square" lIns="0" tIns="0" rIns="0" bIns="0" rtlCol="0" anchor="t"/>
          <a:lstStyle/>
          <a:p>
            <a:pPr marL="0" indent="0">
              <a:buNone/>
            </a:pPr>
            <a:r>
              <a:rPr lang="en-US" sz="1150" b="1" dirty="0">
                <a:solidFill>
                  <a:schemeClr val="tx2"/>
                </a:solidFill>
              </a:rPr>
              <a:t>What you have at the checkpoint</a:t>
            </a:r>
            <a:endParaRPr lang="en-US" sz="1150" dirty="0"/>
          </a:p>
        </p:txBody>
      </p:sp>
      <p:sp>
        <p:nvSpPr>
          <p:cNvPr id="27" name="Text 25"/>
          <p:cNvSpPr txBox="1"/>
          <p:nvPr/>
        </p:nvSpPr>
        <p:spPr>
          <a:xfrm>
            <a:off x="8325917" y="4663440"/>
            <a:ext cx="3088538" cy="8686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Documented close and reporting procedures</a:t>
            </a:r>
            <a:endParaRPr lang="en-US" sz="1100" dirty="0"/>
          </a:p>
          <a:p>
            <a:pPr marL="152400" indent="-152400">
              <a:spcAft>
                <a:spcPts val="400"/>
              </a:spcAft>
              <a:buSzPct val="100000"/>
              <a:buChar char="•"/>
            </a:pPr>
            <a:r>
              <a:rPr lang="en-US" sz="1100" dirty="0">
                <a:solidFill>
                  <a:schemeClr val="tx1"/>
                </a:solidFill>
              </a:rPr>
              <a:t>Year-end and audit plan agreed</a:t>
            </a:r>
            <a:endParaRPr lang="en-US" sz="1100" dirty="0"/>
          </a:p>
          <a:p>
            <a:pPr marL="152400" indent="-152400">
              <a:spcAft>
                <a:spcPts val="400"/>
              </a:spcAft>
              <a:buSzPct val="100000"/>
              <a:buChar char="•"/>
            </a:pPr>
            <a:r>
              <a:rPr lang="en-US" sz="1100" dirty="0">
                <a:solidFill>
                  <a:schemeClr val="tx1"/>
                </a:solidFill>
              </a:rPr>
              <a:t>2027 budget framework and steady-state staffing agreed</a:t>
            </a:r>
            <a:endParaRPr lang="en-US" sz="1100" dirty="0"/>
          </a:p>
        </p:txBody>
      </p:sp>
      <p:sp>
        <p:nvSpPr>
          <p:cNvPr id="28" name="day 91"/>
          <p:cNvSpPr/>
          <p:nvPr/>
        </p:nvSpPr>
        <p:spPr>
          <a:xfrm>
            <a:off x="548640" y="5715000"/>
            <a:ext cx="11094415" cy="548640"/>
          </a:xfrm>
          <a:prstGeom prst="rect">
            <a:avLst/>
          </a:prstGeom>
          <a:solidFill>
            <a:schemeClr val="bg1"/>
          </a:solidFill>
          <a:ln w="9525">
            <a:solidFill>
              <a:srgbClr val="D5D9E0"/>
            </a:solidFill>
            <a:prstDash val="solid"/>
          </a:ln>
        </p:spPr>
        <p:txBody>
          <a:bodyPr/>
          <a:lstStyle/>
          <a:p>
            <a:endParaRPr lang="en-US"/>
          </a:p>
        </p:txBody>
      </p:sp>
      <p:sp>
        <p:nvSpPr>
          <p:cNvPr id="29" name="Text 27"/>
          <p:cNvSpPr txBox="1"/>
          <p:nvPr/>
        </p:nvSpPr>
        <p:spPr>
          <a:xfrm>
            <a:off x="777240" y="5715000"/>
            <a:ext cx="10637215" cy="548640"/>
          </a:xfrm>
          <a:prstGeom prst="rect">
            <a:avLst/>
          </a:prstGeom>
          <a:noFill/>
          <a:ln/>
        </p:spPr>
        <p:txBody>
          <a:bodyPr wrap="square" lIns="0" tIns="0" rIns="0" bIns="0" rtlCol="0" anchor="ctr"/>
          <a:lstStyle/>
          <a:p>
            <a:pPr marL="0" indent="0">
              <a:buNone/>
            </a:pPr>
            <a:r>
              <a:rPr lang="en-US" sz="1150" b="1" dirty="0">
                <a:solidFill>
                  <a:srgbClr val="1B2A49"/>
                </a:solidFill>
              </a:rPr>
              <a:t>Day 91 onward.  </a:t>
            </a:r>
            <a:r>
              <a:rPr lang="en-US" sz="1150" dirty="0">
                <a:solidFill>
                  <a:schemeClr val="tx1"/>
                </a:solidFill>
              </a:rPr>
              <a:t>Monthly close and reporting rhythm, quarterly Bell Bank package, budget versus actual, CFO support including the 2028 S corporation planning. The staffing mix is adjusted by email as needs change.</a:t>
            </a:r>
            <a:endParaRPr lang="en-US" sz="1150" dirty="0"/>
          </a:p>
        </p:txBody>
      </p:sp>
      <p:sp>
        <p:nvSpPr>
          <p:cNvPr id="3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04  30/60/90-DAY PLAN</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What you receive, and when</a:t>
            </a:r>
            <a:endParaRPr lang="en-US" sz="2800" dirty="0"/>
          </a:p>
        </p:txBody>
      </p:sp>
      <p:graphicFrame>
        <p:nvGraphicFramePr>
          <p:cNvPr id="12" name="deliverables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92024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73352">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Cadence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Prepared by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Reviewed by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extLst>
                  <a:ext uri="{0D108BD9-81ED-4DB2-BD59-A6C34878D82A}">
                    <a16:rowId xmlns:a16="http://schemas.microsoft.com/office/drawing/2014/main" val="10000"/>
                  </a:ext>
                </a:extLst>
              </a:tr>
              <a:tr h="5486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Weekly, first 90 days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Progress and budget update; open-items list with owners and dates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Weekly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Payroll and benefit submission support as needed; AP check run and positive-pay file reviewed before release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Staff</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Monthly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Close completed on the agreed calendar; reconciliations and journal entries reviewed; management and departmental reporting; cash flow view; metrics reviewed with management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Staff and 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 and Principal</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Quarterly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Bell Bank reporting package; review of scope, staffing mix and fees with Marc</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Annually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Year-end close; schedules and responses for the financial audit and the 401(k) plan audit; tax preparer package; budget and forecast for the coming year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Ongoing</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Procedures, close checklist and chart of accounts kept current in one shared file; training notes for Ian</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943600"/>
            <a:ext cx="10972800" cy="365760"/>
          </a:xfrm>
          <a:prstGeom prst="rect">
            <a:avLst/>
          </a:prstGeom>
          <a:noFill/>
          <a:ln/>
        </p:spPr>
        <p:txBody>
          <a:bodyPr wrap="square" lIns="0" tIns="0" rIns="0" bIns="0" rtlCol="0" anchor="t"/>
          <a:lstStyle/>
          <a:p>
            <a:pPr marL="0" indent="0">
              <a:buNone/>
            </a:pPr>
            <a:r>
              <a:rPr lang="en-US" sz="1100" dirty="0">
                <a:solidFill>
                  <a:schemeClr val="accent3"/>
                </a:solidFill>
              </a:rPr>
              <a:t>Every deliverable is prepared by one person and reviewed by another before it reaches you. Reports are tied to the ledger in Sage Intacct.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05  PROPOSED FEES</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Hourly rates and billing terms</a:t>
            </a:r>
            <a:endParaRPr lang="en-US" sz="2800" dirty="0"/>
          </a:p>
        </p:txBody>
      </p:sp>
      <p:sp>
        <p:nvSpPr>
          <p:cNvPr id="4" name="Text 2"/>
          <p:cNvSpPr txBox="1"/>
          <p:nvPr/>
        </p:nvSpPr>
        <p:spPr>
          <a:xfrm>
            <a:off x="548640" y="1554480"/>
            <a:ext cx="10972800" cy="411480"/>
          </a:xfrm>
          <a:prstGeom prst="rect">
            <a:avLst/>
          </a:prstGeom>
          <a:noFill/>
          <a:ln/>
        </p:spPr>
        <p:txBody>
          <a:bodyPr wrap="square" lIns="0" tIns="0" rIns="0" bIns="0" rtlCol="0" anchor="t"/>
          <a:lstStyle/>
          <a:p>
            <a:pPr marL="0" indent="0">
              <a:buNone/>
            </a:pPr>
            <a:r>
              <a:rPr lang="en-US" sz="1250" dirty="0">
                <a:solidFill>
                  <a:schemeClr val="accent3"/>
                </a:solidFill>
              </a:rPr>
              <a:t>Fees are hourly, billed as incurred. You pay for the hours worked, and the mix of staff, controller and CFO time is set with you and changed by email.</a:t>
            </a:r>
            <a:endParaRPr lang="en-US" sz="1250" dirty="0"/>
          </a:p>
        </p:txBody>
      </p:sp>
      <p:graphicFrame>
        <p:nvGraphicFramePr>
          <p:cNvPr id="13" name="rate table"/>
          <p:cNvGraphicFramePr>
            <a:graphicFrameLocks noGrp="1"/>
          </p:cNvGraphicFramePr>
          <p:nvPr>
            <p:extLst>
              <p:ext uri="{D42A27DB-BD31-4B8C-83A1-F6EECF244321}">
                <p14:modId xmlns:p14="http://schemas.microsoft.com/office/powerpoint/2010/main" val="1579011935"/>
              </p:ext>
            </p:extLst>
          </p:nvPr>
        </p:nvGraphicFramePr>
        <p:xfrm>
          <a:off x="548640" y="2103120"/>
          <a:ext cx="67665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Hourly rate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Typical use on this engagement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extLst>
                  <a:ext uri="{0D108BD9-81ED-4DB2-BD59-A6C34878D82A}">
                    <a16:rowId xmlns:a16="http://schemas.microsoft.com/office/drawing/2014/main" val="10000"/>
                  </a:ext>
                </a:extLst>
              </a:tr>
              <a:tr h="73152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Staff Accountant</a:t>
                      </a:r>
                      <a:endParaRPr lang="en-US" sz="11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r">
                        <a:buNone/>
                      </a:pPr>
                      <a:r>
                        <a:rPr lang="en-US" sz="1600" b="1" dirty="0">
                          <a:solidFill>
                            <a:srgbClr val="1B2A49"/>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Reconciliations, supporting schedules, depreciation, job-costing and inventory entries, audit request lists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r">
                        <a:buNone/>
                      </a:pPr>
                      <a:r>
                        <a:rPr lang="en-US" sz="1600" b="1" dirty="0">
                          <a:solidFill>
                            <a:srgbClr val="1B2A49"/>
                          </a:solidFill>
                          <a:latin typeface="Calibri" pitchFamily="34" charset="0"/>
                          <a:ea typeface="Calibri" pitchFamily="34" charset="-122"/>
                          <a:cs typeface="Calibri" pitchFamily="34" charset="-120"/>
                        </a:rPr>
                        <a:t>$185</a:t>
                      </a:r>
                      <a:endParaRPr lang="en-US" sz="16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Monthly close, review of Ian's work, Bell Bank and management reporting, AP and systems improvements, training</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CFO</a:t>
                      </a:r>
                      <a:endParaRPr lang="en-US" sz="11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r">
                        <a:buNone/>
                      </a:pPr>
                      <a:r>
                        <a:rPr lang="en-US" sz="1600" b="1" dirty="0">
                          <a:solidFill>
                            <a:srgbClr val="1B2A49"/>
                          </a:solidFill>
                          <a:latin typeface="Calibri" pitchFamily="34" charset="0"/>
                          <a:ea typeface="Calibri" pitchFamily="34" charset="-122"/>
                          <a:cs typeface="Calibri" pitchFamily="34" charset="-120"/>
                        </a:rPr>
                        <a:t>$275</a:t>
                      </a:r>
                      <a:endParaRPr lang="en-US" sz="16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Budgeting and forecasting, banking and lender matters, accounting policy, S corporation conversion planning, direction to the finance team</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txBox="1"/>
          <p:nvPr/>
        </p:nvSpPr>
        <p:spPr>
          <a:xfrm>
            <a:off x="548640" y="4754880"/>
            <a:ext cx="6766560" cy="365760"/>
          </a:xfrm>
          <a:prstGeom prst="rect">
            <a:avLst/>
          </a:prstGeom>
          <a:noFill/>
          <a:ln/>
        </p:spPr>
        <p:txBody>
          <a:bodyPr wrap="square" lIns="0" tIns="0" rIns="0" bIns="0" rtlCol="0" anchor="t"/>
          <a:lstStyle/>
          <a:p>
            <a:pPr marL="0" indent="0">
              <a:buNone/>
            </a:pPr>
            <a:r>
              <a:rPr lang="en-US" sz="1100" dirty="0">
                <a:solidFill>
                  <a:schemeClr val="accent3"/>
                </a:solidFill>
              </a:rPr>
              <a:t>Rates are guaranteed through December 31, 2026. After that date, rates change only as agreed in writing.</a:t>
            </a:r>
            <a:endParaRPr lang="en-US" sz="1100" dirty="0"/>
          </a:p>
        </p:txBody>
      </p:sp>
      <p:sp>
        <p:nvSpPr>
          <p:cNvPr id="7" name="billing terms"/>
          <p:cNvSpPr/>
          <p:nvPr/>
        </p:nvSpPr>
        <p:spPr>
          <a:xfrm>
            <a:off x="7680960" y="2103120"/>
            <a:ext cx="3962095" cy="3977640"/>
          </a:xfrm>
          <a:prstGeom prst="rect">
            <a:avLst/>
          </a:prstGeom>
          <a:solidFill>
            <a:schemeClr val="accent5"/>
          </a:solidFill>
          <a:ln w="9525">
            <a:solidFill>
              <a:srgbClr val="D5D9E0"/>
            </a:solidFill>
            <a:prstDash val="solid"/>
          </a:ln>
        </p:spPr>
        <p:txBody>
          <a:bodyPr/>
          <a:lstStyle/>
          <a:p>
            <a:endParaRPr lang="en-US"/>
          </a:p>
        </p:txBody>
      </p:sp>
      <p:sp>
        <p:nvSpPr>
          <p:cNvPr id="8" name="Text 5"/>
          <p:cNvSpPr txBox="1"/>
          <p:nvPr/>
        </p:nvSpPr>
        <p:spPr>
          <a:xfrm>
            <a:off x="7955280" y="2286000"/>
            <a:ext cx="3413455"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Billing terms</a:t>
            </a:r>
            <a:endParaRPr lang="en-US" sz="1300" dirty="0"/>
          </a:p>
        </p:txBody>
      </p:sp>
      <p:sp>
        <p:nvSpPr>
          <p:cNvPr id="9" name="Text 6"/>
          <p:cNvSpPr txBox="1"/>
          <p:nvPr/>
        </p:nvSpPr>
        <p:spPr>
          <a:xfrm>
            <a:off x="7955280" y="2651760"/>
            <a:ext cx="3413455" cy="173736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Invoices every two weeks with time detail by person and task; net 7 days</a:t>
            </a:r>
            <a:endParaRPr lang="en-US" sz="1150" dirty="0"/>
          </a:p>
          <a:p>
            <a:pPr marL="152400" indent="-152400">
              <a:spcAft>
                <a:spcPts val="400"/>
              </a:spcAft>
              <a:buSzPct val="100000"/>
              <a:buChar char="•"/>
            </a:pPr>
            <a:r>
              <a:rPr lang="en-US" sz="1150" dirty="0">
                <a:solidFill>
                  <a:schemeClr val="tx1"/>
                </a:solidFill>
              </a:rPr>
              <a:t>Retainer of $3,000 before services begin, applied to the first invoice</a:t>
            </a:r>
            <a:endParaRPr lang="en-US" sz="1150" dirty="0"/>
          </a:p>
          <a:p>
            <a:pPr marL="152400" indent="-152400">
              <a:spcAft>
                <a:spcPts val="400"/>
              </a:spcAft>
              <a:buSzPct val="100000"/>
              <a:buChar char="•"/>
            </a:pPr>
            <a:r>
              <a:rPr lang="en-US" sz="1150" dirty="0">
                <a:solidFill>
                  <a:schemeClr val="tx1"/>
                </a:solidFill>
              </a:rPr>
              <a:t>Out-of-pocket costs such as travel time and meals billed at cost</a:t>
            </a:r>
            <a:endParaRPr lang="en-US" sz="1150" dirty="0"/>
          </a:p>
          <a:p>
            <a:pPr marL="152400" indent="-152400">
              <a:spcAft>
                <a:spcPts val="400"/>
              </a:spcAft>
              <a:buSzPct val="100000"/>
              <a:buChar char="•"/>
            </a:pPr>
            <a:r>
              <a:rPr lang="en-US" sz="1150" dirty="0">
                <a:solidFill>
                  <a:schemeClr val="tx1"/>
                </a:solidFill>
              </a:rPr>
              <a:t>No minimum term; either party may end the engagement on 30 days' written notice</a:t>
            </a:r>
            <a:endParaRPr lang="en-US" sz="1150" dirty="0"/>
          </a:p>
        </p:txBody>
      </p:sp>
      <p:sp>
        <p:nvSpPr>
          <p:cNvPr id="10" name="Text 7"/>
          <p:cNvSpPr txBox="1"/>
          <p:nvPr/>
        </p:nvSpPr>
        <p:spPr>
          <a:xfrm>
            <a:off x="7955280" y="4343400"/>
            <a:ext cx="3413455"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Managing the budget</a:t>
            </a:r>
            <a:endParaRPr lang="en-US" sz="1300" dirty="0"/>
          </a:p>
        </p:txBody>
      </p:sp>
      <p:sp>
        <p:nvSpPr>
          <p:cNvPr id="11" name="Text 8"/>
          <p:cNvSpPr txBox="1"/>
          <p:nvPr/>
        </p:nvSpPr>
        <p:spPr>
          <a:xfrm>
            <a:off x="7955280" y="4709160"/>
            <a:ext cx="3413455" cy="13258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Weekly progress and budget update during onboarding</a:t>
            </a:r>
            <a:endParaRPr lang="en-US" sz="1150" dirty="0"/>
          </a:p>
          <a:p>
            <a:pPr marL="152400" indent="-152400">
              <a:spcAft>
                <a:spcPts val="400"/>
              </a:spcAft>
              <a:buSzPct val="100000"/>
              <a:buChar char="•"/>
            </a:pPr>
            <a:r>
              <a:rPr lang="en-US" sz="1150" dirty="0">
                <a:solidFill>
                  <a:schemeClr val="tx1"/>
                </a:solidFill>
              </a:rPr>
              <a:t>We advise you before any work that would substantially increase fees</a:t>
            </a:r>
            <a:endParaRPr lang="en-US" sz="1150" dirty="0"/>
          </a:p>
          <a:p>
            <a:pPr marL="152400" indent="-152400">
              <a:spcAft>
                <a:spcPts val="400"/>
              </a:spcAft>
              <a:buSzPct val="100000"/>
              <a:buChar char="•"/>
            </a:pPr>
            <a:r>
              <a:rPr lang="en-US" sz="1150" dirty="0">
                <a:solidFill>
                  <a:schemeClr val="tx1"/>
                </a:solidFill>
              </a:rPr>
              <a:t>Scope and staffing changes take effect once confirmed by email; no new letter or signature</a:t>
            </a:r>
            <a:endParaRPr lang="en-US" sz="1150" dirty="0"/>
          </a:p>
        </p:txBody>
      </p:sp>
      <p:sp>
        <p:nvSpPr>
          <p:cNvPr id="12" name="not included"/>
          <p:cNvSpPr/>
          <p:nvPr/>
        </p:nvSpPr>
        <p:spPr>
          <a:xfrm>
            <a:off x="548640" y="5257800"/>
            <a:ext cx="6766560" cy="822960"/>
          </a:xfrm>
          <a:prstGeom prst="rect">
            <a:avLst/>
          </a:prstGeom>
          <a:solidFill>
            <a:schemeClr val="bg1"/>
          </a:solidFill>
          <a:ln w="9525">
            <a:solidFill>
              <a:srgbClr val="D5D9E0"/>
            </a:solidFill>
            <a:prstDash val="solid"/>
          </a:ln>
        </p:spPr>
        <p:txBody>
          <a:bodyPr/>
          <a:lstStyle/>
          <a:p>
            <a:endParaRPr lang="en-US"/>
          </a:p>
        </p:txBody>
      </p:sp>
      <p:sp>
        <p:nvSpPr>
          <p:cNvPr id="5" name="Text 10"/>
          <p:cNvSpPr txBox="1"/>
          <p:nvPr/>
        </p:nvSpPr>
        <p:spPr>
          <a:xfrm>
            <a:off x="777240" y="5257800"/>
            <a:ext cx="6309360" cy="822960"/>
          </a:xfrm>
          <a:prstGeom prst="rect">
            <a:avLst/>
          </a:prstGeom>
          <a:noFill/>
          <a:ln/>
        </p:spPr>
        <p:txBody>
          <a:bodyPr wrap="square" lIns="0" tIns="0" rIns="0" bIns="0" rtlCol="0" anchor="ctr"/>
          <a:lstStyle/>
          <a:p>
            <a:pPr marL="0" indent="0">
              <a:buNone/>
            </a:pPr>
            <a:r>
              <a:rPr lang="en-US" sz="1100" b="1" dirty="0">
                <a:solidFill>
                  <a:srgbClr val="1B2A49"/>
                </a:solidFill>
              </a:rPr>
              <a:t>Not included.  </a:t>
            </a:r>
            <a:r>
              <a:rPr lang="en-US" sz="1100" dirty="0">
                <a:solidFill>
                  <a:schemeClr val="tx1"/>
                </a:solidFill>
              </a:rPr>
              <a:t>Tax return preparation and filing, which your tax preparer handles, and performing the audits, which we support but do not perform. Full terms are in Section 2 of the engagement letter.</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06  WHY ONYX AND NEXT STEPS</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What a team gives you, and how we start</a:t>
            </a:r>
            <a:endParaRPr lang="en-US" sz="2800" dirty="0"/>
          </a:p>
        </p:txBody>
      </p:sp>
      <p:sp>
        <p:nvSpPr>
          <p:cNvPr id="4" name="Text 2"/>
          <p:cNvSpPr txBox="1"/>
          <p:nvPr/>
        </p:nvSpPr>
        <p:spPr>
          <a:xfrm>
            <a:off x="548640" y="1600200"/>
            <a:ext cx="5760720"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Compared with a single full-time hire</a:t>
            </a:r>
            <a:endParaRPr lang="en-US" sz="1300" dirty="0"/>
          </a:p>
        </p:txBody>
      </p:sp>
      <p:sp>
        <p:nvSpPr>
          <p:cNvPr id="5" name="why Continuity"/>
          <p:cNvSpPr/>
          <p:nvPr/>
        </p:nvSpPr>
        <p:spPr>
          <a:xfrm>
            <a:off x="548640" y="2039112"/>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6" name="Text 4"/>
          <p:cNvSpPr txBox="1"/>
          <p:nvPr/>
        </p:nvSpPr>
        <p:spPr>
          <a:xfrm>
            <a:off x="548640" y="2039112"/>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7" name="Text 5"/>
          <p:cNvSpPr txBox="1"/>
          <p:nvPr/>
        </p:nvSpPr>
        <p:spPr>
          <a:xfrm>
            <a:off x="1097280" y="2011680"/>
            <a:ext cx="5212080" cy="274320"/>
          </a:xfrm>
          <a:prstGeom prst="rect">
            <a:avLst/>
          </a:prstGeom>
          <a:noFill/>
          <a:ln/>
        </p:spPr>
        <p:txBody>
          <a:bodyPr wrap="square" lIns="0" tIns="0" rIns="0" bIns="0" rtlCol="0" anchor="t"/>
          <a:lstStyle/>
          <a:p>
            <a:pPr marL="0" indent="0">
              <a:buNone/>
            </a:pPr>
            <a:r>
              <a:rPr lang="en-US" sz="1250" b="1" dirty="0">
                <a:solidFill>
                  <a:schemeClr val="tx1"/>
                </a:solidFill>
              </a:rPr>
              <a:t>Continuity</a:t>
            </a:r>
            <a:endParaRPr lang="en-US" sz="1250" dirty="0"/>
          </a:p>
        </p:txBody>
      </p:sp>
      <p:sp>
        <p:nvSpPr>
          <p:cNvPr id="8" name="Text 6"/>
          <p:cNvSpPr txBox="1"/>
          <p:nvPr/>
        </p:nvSpPr>
        <p:spPr>
          <a:xfrm>
            <a:off x="1097280" y="2286000"/>
            <a:ext cx="5212080" cy="658368"/>
          </a:xfrm>
          <a:prstGeom prst="rect">
            <a:avLst/>
          </a:prstGeom>
          <a:noFill/>
          <a:ln/>
        </p:spPr>
        <p:txBody>
          <a:bodyPr wrap="square" lIns="0" tIns="0" rIns="0" bIns="0" rtlCol="0" anchor="t"/>
          <a:lstStyle/>
          <a:p>
            <a:pPr marL="0" indent="0">
              <a:buNone/>
            </a:pPr>
            <a:r>
              <a:rPr lang="en-US" sz="1150" dirty="0">
                <a:solidFill>
                  <a:schemeClr val="tx1"/>
                </a:solidFill>
              </a:rPr>
              <a:t>You work with a team, not one individual. If a person changes, the file, the procedures and your senior contact do not.</a:t>
            </a:r>
            <a:endParaRPr lang="en-US" sz="1150" dirty="0"/>
          </a:p>
        </p:txBody>
      </p:sp>
      <p:sp>
        <p:nvSpPr>
          <p:cNvPr id="9" name="why Depth"/>
          <p:cNvSpPr/>
          <p:nvPr/>
        </p:nvSpPr>
        <p:spPr>
          <a:xfrm>
            <a:off x="548640" y="2971800"/>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0" name="Text 8"/>
          <p:cNvSpPr txBox="1"/>
          <p:nvPr/>
        </p:nvSpPr>
        <p:spPr>
          <a:xfrm>
            <a:off x="548640" y="297180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Text 9"/>
          <p:cNvSpPr txBox="1"/>
          <p:nvPr/>
        </p:nvSpPr>
        <p:spPr>
          <a:xfrm>
            <a:off x="1097280" y="2944368"/>
            <a:ext cx="5212080" cy="274320"/>
          </a:xfrm>
          <a:prstGeom prst="rect">
            <a:avLst/>
          </a:prstGeom>
          <a:noFill/>
          <a:ln/>
        </p:spPr>
        <p:txBody>
          <a:bodyPr wrap="square" lIns="0" tIns="0" rIns="0" bIns="0" rtlCol="0" anchor="t"/>
          <a:lstStyle/>
          <a:p>
            <a:pPr marL="0" indent="0">
              <a:buNone/>
            </a:pPr>
            <a:r>
              <a:rPr lang="en-US" sz="1250" b="1" dirty="0">
                <a:solidFill>
                  <a:schemeClr val="tx1"/>
                </a:solidFill>
              </a:rPr>
              <a:t>Depth</a:t>
            </a:r>
            <a:endParaRPr lang="en-US" sz="1250" dirty="0"/>
          </a:p>
        </p:txBody>
      </p:sp>
      <p:sp>
        <p:nvSpPr>
          <p:cNvPr id="12" name="Text 10"/>
          <p:cNvSpPr txBox="1"/>
          <p:nvPr/>
        </p:nvSpPr>
        <p:spPr>
          <a:xfrm>
            <a:off x="1097280" y="3218688"/>
            <a:ext cx="5212080" cy="658368"/>
          </a:xfrm>
          <a:prstGeom prst="rect">
            <a:avLst/>
          </a:prstGeom>
          <a:noFill/>
          <a:ln/>
        </p:spPr>
        <p:txBody>
          <a:bodyPr wrap="square" lIns="0" tIns="0" rIns="0" bIns="0" rtlCol="0" anchor="t"/>
          <a:lstStyle/>
          <a:p>
            <a:pPr marL="0" indent="0">
              <a:buNone/>
            </a:pPr>
            <a:r>
              <a:rPr lang="en-US" sz="1150" dirty="0">
                <a:solidFill>
                  <a:schemeClr val="tx1"/>
                </a:solidFill>
              </a:rPr>
              <a:t>CFO, controller and staff expertise under one engagement, with a built-in review process so the work is completed accurately and consistently.</a:t>
            </a:r>
            <a:endParaRPr lang="en-US" sz="1150" dirty="0"/>
          </a:p>
        </p:txBody>
      </p:sp>
      <p:sp>
        <p:nvSpPr>
          <p:cNvPr id="13" name="why Flexibility"/>
          <p:cNvSpPr/>
          <p:nvPr/>
        </p:nvSpPr>
        <p:spPr>
          <a:xfrm>
            <a:off x="548640" y="3904488"/>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4" name="Text 12"/>
          <p:cNvSpPr txBox="1"/>
          <p:nvPr/>
        </p:nvSpPr>
        <p:spPr>
          <a:xfrm>
            <a:off x="548640" y="3904488"/>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5" name="Text 13"/>
          <p:cNvSpPr txBox="1"/>
          <p:nvPr/>
        </p:nvSpPr>
        <p:spPr>
          <a:xfrm>
            <a:off x="1097280" y="3877056"/>
            <a:ext cx="5212080" cy="274320"/>
          </a:xfrm>
          <a:prstGeom prst="rect">
            <a:avLst/>
          </a:prstGeom>
          <a:noFill/>
          <a:ln/>
        </p:spPr>
        <p:txBody>
          <a:bodyPr wrap="square" lIns="0" tIns="0" rIns="0" bIns="0" rtlCol="0" anchor="t"/>
          <a:lstStyle/>
          <a:p>
            <a:pPr marL="0" indent="0">
              <a:buNone/>
            </a:pPr>
            <a:r>
              <a:rPr lang="en-US" sz="1250" b="1" dirty="0">
                <a:solidFill>
                  <a:schemeClr val="tx1"/>
                </a:solidFill>
              </a:rPr>
              <a:t>Flexibility</a:t>
            </a:r>
            <a:endParaRPr lang="en-US" sz="1250" dirty="0"/>
          </a:p>
        </p:txBody>
      </p:sp>
      <p:sp>
        <p:nvSpPr>
          <p:cNvPr id="16" name="Text 14"/>
          <p:cNvSpPr txBox="1"/>
          <p:nvPr/>
        </p:nvSpPr>
        <p:spPr>
          <a:xfrm>
            <a:off x="1097280" y="4151376"/>
            <a:ext cx="5212080" cy="658368"/>
          </a:xfrm>
          <a:prstGeom prst="rect">
            <a:avLst/>
          </a:prstGeom>
          <a:noFill/>
          <a:ln/>
        </p:spPr>
        <p:txBody>
          <a:bodyPr wrap="square" lIns="0" tIns="0" rIns="0" bIns="0" rtlCol="0" anchor="t"/>
          <a:lstStyle/>
          <a:p>
            <a:pPr marL="0" indent="0">
              <a:buNone/>
            </a:pPr>
            <a:r>
              <a:rPr lang="en-US" sz="1150" dirty="0">
                <a:solidFill>
                  <a:schemeClr val="tx1"/>
                </a:solidFill>
              </a:rPr>
              <a:t>Phase work in, pause a project, scale back or expand by email. No penalties and no paperwork to redo. You pay only for hours worked.</a:t>
            </a:r>
            <a:endParaRPr lang="en-US" sz="1150" dirty="0"/>
          </a:p>
        </p:txBody>
      </p:sp>
      <p:sp>
        <p:nvSpPr>
          <p:cNvPr id="17" name="why Fit"/>
          <p:cNvSpPr/>
          <p:nvPr/>
        </p:nvSpPr>
        <p:spPr>
          <a:xfrm>
            <a:off x="548640" y="4837176"/>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8" name="Text 16"/>
          <p:cNvSpPr txBox="1"/>
          <p:nvPr/>
        </p:nvSpPr>
        <p:spPr>
          <a:xfrm>
            <a:off x="548640" y="4837176"/>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9" name="Text 17"/>
          <p:cNvSpPr txBox="1"/>
          <p:nvPr/>
        </p:nvSpPr>
        <p:spPr>
          <a:xfrm>
            <a:off x="1097280" y="4809744"/>
            <a:ext cx="5212080" cy="274320"/>
          </a:xfrm>
          <a:prstGeom prst="rect">
            <a:avLst/>
          </a:prstGeom>
          <a:noFill/>
          <a:ln/>
        </p:spPr>
        <p:txBody>
          <a:bodyPr wrap="square" lIns="0" tIns="0" rIns="0" bIns="0" rtlCol="0" anchor="t"/>
          <a:lstStyle/>
          <a:p>
            <a:pPr marL="0" indent="0">
              <a:buNone/>
            </a:pPr>
            <a:r>
              <a:rPr lang="en-US" sz="1250" b="1" dirty="0">
                <a:solidFill>
                  <a:schemeClr val="tx1"/>
                </a:solidFill>
              </a:rPr>
              <a:t>Fit</a:t>
            </a:r>
            <a:endParaRPr lang="en-US" sz="1250" dirty="0"/>
          </a:p>
        </p:txBody>
      </p:sp>
      <p:sp>
        <p:nvSpPr>
          <p:cNvPr id="20" name="Text 18"/>
          <p:cNvSpPr txBox="1"/>
          <p:nvPr/>
        </p:nvSpPr>
        <p:spPr>
          <a:xfrm>
            <a:off x="1097280" y="5084064"/>
            <a:ext cx="5212080" cy="658368"/>
          </a:xfrm>
          <a:prstGeom prst="rect">
            <a:avLst/>
          </a:prstGeom>
          <a:noFill/>
          <a:ln/>
        </p:spPr>
        <p:txBody>
          <a:bodyPr wrap="square" lIns="0" tIns="0" rIns="0" bIns="0" rtlCol="0" anchor="t"/>
          <a:lstStyle/>
          <a:p>
            <a:pPr marL="0" indent="0">
              <a:buNone/>
            </a:pPr>
            <a:r>
              <a:rPr lang="en-US" sz="1150" dirty="0">
                <a:solidFill>
                  <a:schemeClr val="tx1"/>
                </a:solidFill>
              </a:rPr>
              <a:t>We work alongside Ian, your tax preparer, your auditor and Bell Bank, and we keep approvals with you. Stabilizing a close and the systems behind it is what we do every day.</a:t>
            </a:r>
            <a:endParaRPr lang="en-US" sz="1150" dirty="0"/>
          </a:p>
        </p:txBody>
      </p:sp>
      <p:sp>
        <p:nvSpPr>
          <p:cNvPr id="21" name="next steps panel"/>
          <p:cNvSpPr/>
          <p:nvPr/>
        </p:nvSpPr>
        <p:spPr>
          <a:xfrm>
            <a:off x="6766560" y="1600200"/>
            <a:ext cx="4876495" cy="4526280"/>
          </a:xfrm>
          <a:prstGeom prst="rect">
            <a:avLst/>
          </a:prstGeom>
          <a:solidFill>
            <a:schemeClr val="accent1"/>
          </a:solidFill>
          <a:ln w="12700">
            <a:solidFill>
              <a:srgbClr val="1B2A49"/>
            </a:solidFill>
            <a:prstDash val="solid"/>
          </a:ln>
        </p:spPr>
        <p:txBody>
          <a:bodyPr/>
          <a:lstStyle/>
          <a:p>
            <a:endParaRPr lang="en-US"/>
          </a:p>
        </p:txBody>
      </p:sp>
      <p:sp>
        <p:nvSpPr>
          <p:cNvPr id="22" name="Text 20"/>
          <p:cNvSpPr txBox="1"/>
          <p:nvPr/>
        </p:nvSpPr>
        <p:spPr>
          <a:xfrm>
            <a:off x="7086600" y="1783080"/>
            <a:ext cx="4236415" cy="365760"/>
          </a:xfrm>
          <a:prstGeom prst="rect">
            <a:avLst/>
          </a:prstGeom>
          <a:noFill/>
          <a:ln/>
        </p:spPr>
        <p:txBody>
          <a:bodyPr wrap="square" lIns="0" tIns="0" rIns="0" bIns="0" rtlCol="0" anchor="t"/>
          <a:lstStyle/>
          <a:p>
            <a:pPr marL="0" indent="0">
              <a:buNone/>
            </a:pPr>
            <a:r>
              <a:rPr lang="en-US" sz="1500" b="1" dirty="0">
                <a:solidFill>
                  <a:schemeClr val="bg1"/>
                </a:solidFill>
                <a:latin typeface="Cambria" pitchFamily="34" charset="0"/>
                <a:ea typeface="Cambria" pitchFamily="34" charset="-122"/>
                <a:cs typeface="Cambria" pitchFamily="34" charset="-120"/>
              </a:rPr>
              <a:t>Next steps</a:t>
            </a:r>
            <a:endParaRPr lang="en-US" sz="1500" dirty="0"/>
          </a:p>
        </p:txBody>
      </p:sp>
      <p:sp>
        <p:nvSpPr>
          <p:cNvPr id="23" name="Text 21"/>
          <p:cNvSpPr txBox="1"/>
          <p:nvPr/>
        </p:nvSpPr>
        <p:spPr>
          <a:xfrm>
            <a:off x="7086600" y="2240280"/>
            <a:ext cx="36576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1</a:t>
            </a:r>
            <a:endParaRPr lang="en-US" sz="2000" dirty="0"/>
          </a:p>
        </p:txBody>
      </p:sp>
      <p:sp>
        <p:nvSpPr>
          <p:cNvPr id="24" name="Text 22"/>
          <p:cNvSpPr txBox="1"/>
          <p:nvPr/>
        </p:nvSpPr>
        <p:spPr>
          <a:xfrm>
            <a:off x="7543800" y="2240280"/>
            <a:ext cx="3779215" cy="274320"/>
          </a:xfrm>
          <a:prstGeom prst="rect">
            <a:avLst/>
          </a:prstGeom>
          <a:noFill/>
          <a:ln/>
        </p:spPr>
        <p:txBody>
          <a:bodyPr wrap="square" lIns="0" tIns="0" rIns="0" bIns="0" rtlCol="0" anchor="t"/>
          <a:lstStyle/>
          <a:p>
            <a:pPr marL="0" indent="0">
              <a:buNone/>
            </a:pPr>
            <a:r>
              <a:rPr lang="en-US" sz="1250" b="1" dirty="0">
                <a:solidFill>
                  <a:schemeClr val="bg1"/>
                </a:solidFill>
              </a:rPr>
              <a:t>Review</a:t>
            </a:r>
            <a:endParaRPr lang="en-US" sz="1250" dirty="0"/>
          </a:p>
        </p:txBody>
      </p:sp>
      <p:sp>
        <p:nvSpPr>
          <p:cNvPr id="25" name="Text 23"/>
          <p:cNvSpPr txBox="1"/>
          <p:nvPr/>
        </p:nvSpPr>
        <p:spPr>
          <a:xfrm>
            <a:off x="7543800" y="2514600"/>
            <a:ext cx="3779215" cy="640080"/>
          </a:xfrm>
          <a:prstGeom prst="rect">
            <a:avLst/>
          </a:prstGeom>
          <a:noFill/>
          <a:ln/>
        </p:spPr>
        <p:txBody>
          <a:bodyPr wrap="square" lIns="0" tIns="0" rIns="0" bIns="0" rtlCol="0" anchor="t"/>
          <a:lstStyle/>
          <a:p>
            <a:pPr marL="0" indent="0">
              <a:buNone/>
            </a:pPr>
            <a:r>
              <a:rPr lang="en-US" sz="1150" dirty="0">
                <a:solidFill>
                  <a:schemeClr val="bg1"/>
                </a:solidFill>
              </a:rPr>
              <a:t>Share this proposal and the engagement letter with Shawne, Josh and Ian. We are glad to join a follow-up call to answer questions.</a:t>
            </a:r>
            <a:endParaRPr lang="en-US" sz="1150" dirty="0"/>
          </a:p>
        </p:txBody>
      </p:sp>
      <p:sp>
        <p:nvSpPr>
          <p:cNvPr id="26" name="Text 24"/>
          <p:cNvSpPr txBox="1"/>
          <p:nvPr/>
        </p:nvSpPr>
        <p:spPr>
          <a:xfrm>
            <a:off x="7086600" y="3200400"/>
            <a:ext cx="36576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2</a:t>
            </a:r>
            <a:endParaRPr lang="en-US" sz="2000" dirty="0"/>
          </a:p>
        </p:txBody>
      </p:sp>
      <p:sp>
        <p:nvSpPr>
          <p:cNvPr id="27" name="Text 25"/>
          <p:cNvSpPr txBox="1"/>
          <p:nvPr/>
        </p:nvSpPr>
        <p:spPr>
          <a:xfrm>
            <a:off x="7543800" y="3200400"/>
            <a:ext cx="3779215" cy="274320"/>
          </a:xfrm>
          <a:prstGeom prst="rect">
            <a:avLst/>
          </a:prstGeom>
          <a:noFill/>
          <a:ln/>
        </p:spPr>
        <p:txBody>
          <a:bodyPr wrap="square" lIns="0" tIns="0" rIns="0" bIns="0" rtlCol="0" anchor="t"/>
          <a:lstStyle/>
          <a:p>
            <a:pPr marL="0" indent="0">
              <a:buNone/>
            </a:pPr>
            <a:r>
              <a:rPr lang="en-US" sz="1250" b="1" dirty="0">
                <a:solidFill>
                  <a:schemeClr val="bg1"/>
                </a:solidFill>
              </a:rPr>
              <a:t>Sign</a:t>
            </a:r>
            <a:endParaRPr lang="en-US" sz="1250" dirty="0"/>
          </a:p>
        </p:txBody>
      </p:sp>
      <p:sp>
        <p:nvSpPr>
          <p:cNvPr id="28" name="Text 26"/>
          <p:cNvSpPr txBox="1"/>
          <p:nvPr/>
        </p:nvSpPr>
        <p:spPr>
          <a:xfrm>
            <a:off x="7543800" y="3474720"/>
            <a:ext cx="3779215" cy="640080"/>
          </a:xfrm>
          <a:prstGeom prst="rect">
            <a:avLst/>
          </a:prstGeom>
          <a:noFill/>
          <a:ln/>
        </p:spPr>
        <p:txBody>
          <a:bodyPr wrap="square" lIns="0" tIns="0" rIns="0" bIns="0" rtlCol="0" anchor="t"/>
          <a:lstStyle/>
          <a:p>
            <a:pPr marL="0" indent="0">
              <a:buNone/>
            </a:pPr>
            <a:r>
              <a:rPr lang="en-US" sz="1150" dirty="0">
                <a:solidFill>
                  <a:schemeClr val="bg1"/>
                </a:solidFill>
              </a:rPr>
              <a:t>Sign the engagement letter; we can send it for electronic signature. The $3,000 retainer starts the engagement.</a:t>
            </a:r>
            <a:endParaRPr lang="en-US" sz="1150" dirty="0"/>
          </a:p>
        </p:txBody>
      </p:sp>
      <p:sp>
        <p:nvSpPr>
          <p:cNvPr id="29" name="Text 27"/>
          <p:cNvSpPr txBox="1"/>
          <p:nvPr/>
        </p:nvSpPr>
        <p:spPr>
          <a:xfrm>
            <a:off x="7086600" y="4160520"/>
            <a:ext cx="36576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3</a:t>
            </a:r>
            <a:endParaRPr lang="en-US" sz="2000" dirty="0"/>
          </a:p>
        </p:txBody>
      </p:sp>
      <p:sp>
        <p:nvSpPr>
          <p:cNvPr id="30" name="Text 28"/>
          <p:cNvSpPr txBox="1"/>
          <p:nvPr/>
        </p:nvSpPr>
        <p:spPr>
          <a:xfrm>
            <a:off x="7543800" y="4160520"/>
            <a:ext cx="3779215" cy="274320"/>
          </a:xfrm>
          <a:prstGeom prst="rect">
            <a:avLst/>
          </a:prstGeom>
          <a:noFill/>
          <a:ln/>
        </p:spPr>
        <p:txBody>
          <a:bodyPr wrap="square" lIns="0" tIns="0" rIns="0" bIns="0" rtlCol="0" anchor="t"/>
          <a:lstStyle/>
          <a:p>
            <a:pPr marL="0" indent="0">
              <a:buNone/>
            </a:pPr>
            <a:r>
              <a:rPr lang="en-US" sz="1250" b="1" dirty="0">
                <a:solidFill>
                  <a:schemeClr val="bg1"/>
                </a:solidFill>
              </a:rPr>
              <a:t>Grant access</a:t>
            </a:r>
            <a:endParaRPr lang="en-US" sz="1250" dirty="0"/>
          </a:p>
        </p:txBody>
      </p:sp>
      <p:sp>
        <p:nvSpPr>
          <p:cNvPr id="31" name="Text 29"/>
          <p:cNvSpPr txBox="1"/>
          <p:nvPr/>
        </p:nvSpPr>
        <p:spPr>
          <a:xfrm>
            <a:off x="7543800" y="4434840"/>
            <a:ext cx="3779215" cy="640080"/>
          </a:xfrm>
          <a:prstGeom prst="rect">
            <a:avLst/>
          </a:prstGeom>
          <a:noFill/>
          <a:ln/>
        </p:spPr>
        <p:txBody>
          <a:bodyPr wrap="square" lIns="0" tIns="0" rIns="0" bIns="0" rtlCol="0" anchor="t"/>
          <a:lstStyle/>
          <a:p>
            <a:pPr marL="0" indent="0">
              <a:buNone/>
            </a:pPr>
            <a:r>
              <a:rPr lang="en-US" sz="1150" dirty="0">
                <a:solidFill>
                  <a:schemeClr val="bg1"/>
                </a:solidFill>
              </a:rPr>
              <a:t>Sage Intacct, ServiceTitan, QStock, BambooHR and TRAX, Bell Bank view access, the close files and the 401(k) audit request list.</a:t>
            </a:r>
            <a:endParaRPr lang="en-US" sz="1150" dirty="0"/>
          </a:p>
        </p:txBody>
      </p:sp>
      <p:sp>
        <p:nvSpPr>
          <p:cNvPr id="32" name="Text 30"/>
          <p:cNvSpPr txBox="1"/>
          <p:nvPr/>
        </p:nvSpPr>
        <p:spPr>
          <a:xfrm>
            <a:off x="7086600" y="5120640"/>
            <a:ext cx="36576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4</a:t>
            </a:r>
            <a:endParaRPr lang="en-US" sz="2000" dirty="0"/>
          </a:p>
        </p:txBody>
      </p:sp>
      <p:sp>
        <p:nvSpPr>
          <p:cNvPr id="33" name="Text 31"/>
          <p:cNvSpPr txBox="1"/>
          <p:nvPr/>
        </p:nvSpPr>
        <p:spPr>
          <a:xfrm>
            <a:off x="7543800" y="5120640"/>
            <a:ext cx="3779215" cy="274320"/>
          </a:xfrm>
          <a:prstGeom prst="rect">
            <a:avLst/>
          </a:prstGeom>
          <a:noFill/>
          <a:ln/>
        </p:spPr>
        <p:txBody>
          <a:bodyPr wrap="square" lIns="0" tIns="0" rIns="0" bIns="0" rtlCol="0" anchor="t"/>
          <a:lstStyle/>
          <a:p>
            <a:pPr marL="0" indent="0">
              <a:buNone/>
            </a:pPr>
            <a:r>
              <a:rPr lang="en-US" sz="1250" b="1" dirty="0">
                <a:solidFill>
                  <a:schemeClr val="bg1"/>
                </a:solidFill>
              </a:rPr>
              <a:t>Kick off</a:t>
            </a:r>
            <a:endParaRPr lang="en-US" sz="1250" dirty="0"/>
          </a:p>
        </p:txBody>
      </p:sp>
      <p:sp>
        <p:nvSpPr>
          <p:cNvPr id="34" name="Text 32"/>
          <p:cNvSpPr txBox="1"/>
          <p:nvPr/>
        </p:nvSpPr>
        <p:spPr>
          <a:xfrm>
            <a:off x="7543800" y="5394960"/>
            <a:ext cx="3779215" cy="640080"/>
          </a:xfrm>
          <a:prstGeom prst="rect">
            <a:avLst/>
          </a:prstGeom>
          <a:noFill/>
          <a:ln/>
        </p:spPr>
        <p:txBody>
          <a:bodyPr wrap="square" lIns="0" tIns="0" rIns="0" bIns="0" rtlCol="0" anchor="t"/>
          <a:lstStyle/>
          <a:p>
            <a:pPr marL="0" indent="0">
              <a:buNone/>
            </a:pPr>
            <a:r>
              <a:rPr lang="en-US" sz="1150" dirty="0">
                <a:solidFill>
                  <a:schemeClr val="bg1"/>
                </a:solidFill>
              </a:rPr>
              <a:t>On site in Phoenix the following week. Knowledge capture, training with Ian and the first weekly update begin in week one.</a:t>
            </a:r>
            <a:endParaRPr lang="en-US" sz="1150" dirty="0"/>
          </a:p>
        </p:txBody>
      </p:sp>
      <p:sp>
        <p:nvSpPr>
          <p:cNvPr id="35" name="Text 33"/>
          <p:cNvSpPr txBox="1"/>
          <p:nvPr/>
        </p:nvSpPr>
        <p:spPr>
          <a:xfrm>
            <a:off x="548640" y="5852160"/>
            <a:ext cx="10972800" cy="274320"/>
          </a:xfrm>
          <a:prstGeom prst="rect">
            <a:avLst/>
          </a:prstGeom>
          <a:noFill/>
          <a:ln/>
        </p:spPr>
        <p:txBody>
          <a:bodyPr wrap="square" lIns="0" tIns="0" rIns="0" bIns="0" rtlCol="0" anchor="t"/>
          <a:lstStyle/>
          <a:p>
            <a:pPr marL="0" indent="0">
              <a:buNone/>
            </a:pPr>
            <a:r>
              <a:rPr lang="en-US" sz="1100" b="1" dirty="0">
                <a:solidFill>
                  <a:schemeClr val="tx2"/>
                </a:solidFill>
              </a:rPr>
              <a:t>Steven Nikolov, Principal  |  steven@onyxcfo.com  |  direct 480-999-5509  |  mobile 480-772-5612</a:t>
            </a:r>
            <a:endParaRPr lang="en-US" sz="1100" dirty="0"/>
          </a:p>
        </p:txBody>
      </p:sp>
      <p:sp>
        <p:nvSpPr>
          <p:cNvPr id="36" name="Text 34"/>
          <p:cNvSpPr txBox="1"/>
          <p:nvPr/>
        </p:nvSpPr>
        <p:spPr>
          <a:xfrm>
            <a:off x="548640" y="6108192"/>
            <a:ext cx="10972800" cy="274320"/>
          </a:xfrm>
          <a:prstGeom prst="rect">
            <a:avLst/>
          </a:prstGeom>
          <a:noFill/>
          <a:ln/>
        </p:spPr>
        <p:txBody>
          <a:bodyPr wrap="square" lIns="0" tIns="0" rIns="0" bIns="0" rtlCol="0" anchor="t"/>
          <a:lstStyle/>
          <a:p>
            <a:pPr marL="0" indent="0">
              <a:buNone/>
            </a:pPr>
            <a:r>
              <a:rPr lang="en-US" sz="1100" dirty="0">
                <a:solidFill>
                  <a:schemeClr val="accent3"/>
                </a:solidFill>
              </a:rPr>
              <a:t>Josephine Mack, Chief of Staff and Client Relations  |  jmack@onyxcfo.com</a:t>
            </a:r>
            <a:endParaRPr lang="en-US" sz="1100" dirty="0"/>
          </a:p>
        </p:txBody>
      </p:sp>
      <p:sp>
        <p:nvSpPr>
          <p:cNvPr id="3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194560"/>
            <a:ext cx="7315200" cy="731520"/>
          </a:xfrm>
          <a:prstGeom prst="rect">
            <a:avLst/>
          </a:prstGeom>
          <a:noFill/>
          <a:ln/>
        </p:spPr>
        <p:txBody>
          <a:bodyPr wrap="square" lIns="0" tIns="0" rIns="0" bIns="0" rtlCol="0" anchor="t"/>
          <a:lstStyle/>
          <a:p>
            <a:pPr marL="0" indent="0">
              <a:buNone/>
            </a:pPr>
            <a:r>
              <a:rPr lang="en-US" sz="3400" dirty="0">
                <a:solidFill>
                  <a:schemeClr val="bg1"/>
                </a:solidFill>
                <a:latin typeface="Cambria" pitchFamily="34" charset="0"/>
                <a:ea typeface="Cambria" pitchFamily="34" charset="-122"/>
                <a:cs typeface="Cambria" pitchFamily="34" charset="-120"/>
              </a:rPr>
              <a:t>Thank you</a:t>
            </a:r>
            <a:endParaRPr lang="en-US" sz="3400" dirty="0"/>
          </a:p>
        </p:txBody>
      </p:sp>
      <p:sp>
        <p:nvSpPr>
          <p:cNvPr id="3" name="Text 1"/>
          <p:cNvSpPr txBox="1"/>
          <p:nvPr/>
        </p:nvSpPr>
        <p:spPr>
          <a:xfrm>
            <a:off x="548640" y="3017520"/>
            <a:ext cx="6858000" cy="822960"/>
          </a:xfrm>
          <a:prstGeom prst="rect">
            <a:avLst/>
          </a:prstGeom>
          <a:noFill/>
          <a:ln/>
        </p:spPr>
        <p:txBody>
          <a:bodyPr wrap="square" lIns="0" tIns="0" rIns="0" bIns="0" rtlCol="0" anchor="t"/>
          <a:lstStyle/>
          <a:p>
            <a:pPr marL="0" indent="0">
              <a:buNone/>
            </a:pPr>
            <a:r>
              <a:rPr lang="en-US" sz="1400" dirty="0">
                <a:solidFill>
                  <a:schemeClr val="bg1"/>
                </a:solidFill>
              </a:rPr>
              <a:t>We appreciate the opportunity to earn George Brazil's business and to become a trusted partner to your team.</a:t>
            </a:r>
            <a:endParaRPr lang="en-US" sz="1400" dirty="0"/>
          </a:p>
        </p:txBody>
      </p:sp>
      <p:sp>
        <p:nvSpPr>
          <p:cNvPr id="4" name="Text 2"/>
          <p:cNvSpPr txBox="1"/>
          <p:nvPr/>
        </p:nvSpPr>
        <p:spPr>
          <a:xfrm>
            <a:off x="548640" y="4754880"/>
            <a:ext cx="4572000" cy="1280160"/>
          </a:xfrm>
          <a:prstGeom prst="rect">
            <a:avLst/>
          </a:prstGeom>
          <a:noFill/>
          <a:ln/>
        </p:spPr>
        <p:txBody>
          <a:bodyPr wrap="square" lIns="0" tIns="0" rIns="0" bIns="0" rtlCol="0" anchor="t"/>
          <a:lstStyle/>
          <a:p>
            <a:pPr marL="0" indent="0">
              <a:lnSpc>
                <a:spcPct val="115000"/>
              </a:lnSpc>
              <a:buNone/>
            </a:pPr>
            <a:r>
              <a:rPr lang="en-US" sz="1200" dirty="0">
                <a:solidFill>
                  <a:schemeClr val="bg1"/>
                </a:solidFill>
              </a:rPr>
              <a:t>Onyx Accounting Group, LLC</a:t>
            </a:r>
            <a:endParaRPr lang="en-US" sz="1200" dirty="0"/>
          </a:p>
          <a:p>
            <a:pPr marL="0" indent="0">
              <a:lnSpc>
                <a:spcPct val="115000"/>
              </a:lnSpc>
              <a:buNone/>
            </a:pPr>
            <a:r>
              <a:rPr lang="en-US" sz="1200" dirty="0">
                <a:solidFill>
                  <a:schemeClr val="bg1"/>
                </a:solidFill>
              </a:rPr>
              <a:t>14614 N Kierland Blvd, Suite N220</a:t>
            </a:r>
            <a:endParaRPr lang="en-US" sz="1200" dirty="0"/>
          </a:p>
          <a:p>
            <a:pPr marL="0" indent="0">
              <a:lnSpc>
                <a:spcPct val="115000"/>
              </a:lnSpc>
              <a:buNone/>
            </a:pPr>
            <a:r>
              <a:rPr lang="en-US" sz="1200" dirty="0">
                <a:solidFill>
                  <a:schemeClr val="bg1"/>
                </a:solidFill>
              </a:rPr>
              <a:t>Scottsdale, AZ 85254</a:t>
            </a:r>
            <a:endParaRPr lang="en-US" sz="1200" dirty="0"/>
          </a:p>
          <a:p>
            <a:pPr marL="0" indent="0">
              <a:lnSpc>
                <a:spcPct val="115000"/>
              </a:lnSpc>
              <a:buNone/>
            </a:pPr>
            <a:r>
              <a:rPr lang="en-US" sz="1200" dirty="0">
                <a:solidFill>
                  <a:schemeClr val="bg1"/>
                </a:solidFill>
              </a:rPr>
              <a:t>onyxcfo.com</a:t>
            </a:r>
            <a:endParaRPr lang="en-US" sz="1200" dirty="0"/>
          </a:p>
        </p:txBody>
      </p:sp>
      <p:sp>
        <p:nvSpPr>
          <p:cNvPr id="5" name="logo plate"/>
          <p:cNvSpPr/>
          <p:nvPr/>
        </p:nvSpPr>
        <p:spPr>
          <a:xfrm>
            <a:off x="8138160" y="2011680"/>
            <a:ext cx="3474720" cy="1463040"/>
          </a:xfrm>
          <a:prstGeom prst="rect">
            <a:avLst/>
          </a:prstGeom>
          <a:solidFill>
            <a:schemeClr val="bg1"/>
          </a:solidFill>
          <a:ln w="12700">
            <a:solidFill>
              <a:srgbClr val="FFFFFF"/>
            </a:solidFill>
            <a:prstDash val="solid"/>
          </a:ln>
        </p:spPr>
        <p:txBody>
          <a:bodyPr/>
          <a:lstStyle/>
          <a:p>
            <a:endParaRPr lang="en-US"/>
          </a:p>
        </p:txBody>
      </p:sp>
      <p:pic>
        <p:nvPicPr>
          <p:cNvPr id="6" name="George Brazil logo" descr="preencoded.png"/>
          <p:cNvPicPr>
            <a:picLocks noChangeAspect="1"/>
          </p:cNvPicPr>
          <p:nvPr/>
        </p:nvPicPr>
        <p:blipFill>
          <a:blip r:embed="rId3"/>
          <a:stretch>
            <a:fillRect/>
          </a:stretch>
        </p:blipFill>
        <p:spPr>
          <a:xfrm>
            <a:off x="8458200" y="2258568"/>
            <a:ext cx="2834640" cy="893369"/>
          </a:xfrm>
          <a:prstGeom prst="rect">
            <a:avLst/>
          </a:prstGeom>
        </p:spPr>
      </p:pic>
      <p:sp>
        <p:nvSpPr>
          <p:cNvPr id="7" name="Text 4"/>
          <p:cNvSpPr txBox="1"/>
          <p:nvPr/>
        </p:nvSpPr>
        <p:spPr>
          <a:xfrm>
            <a:off x="8138160" y="3657600"/>
            <a:ext cx="3657600" cy="640080"/>
          </a:xfrm>
          <a:prstGeom prst="rect">
            <a:avLst/>
          </a:prstGeom>
          <a:noFill/>
          <a:ln/>
        </p:spPr>
        <p:txBody>
          <a:bodyPr wrap="square" lIns="0" tIns="0" rIns="0" bIns="0" rtlCol="0" anchor="t"/>
          <a:lstStyle/>
          <a:p>
            <a:pPr marL="0" indent="0">
              <a:buNone/>
            </a:pPr>
            <a:r>
              <a:rPr lang="en-US" sz="1100" dirty="0">
                <a:solidFill>
                  <a:schemeClr val="bg1"/>
                </a:solidFill>
              </a:rPr>
              <a:t>Prepared for AJAC, Inc. dba George Brazil</a:t>
            </a:r>
            <a:endParaRPr lang="en-US" sz="1100" dirty="0"/>
          </a:p>
          <a:p>
            <a:pPr marL="0" indent="0">
              <a:buNone/>
            </a:pPr>
            <a:r>
              <a:rPr lang="en-US" sz="1100" dirty="0">
                <a:solidFill>
                  <a:schemeClr val="bg1"/>
                </a:solidFill>
              </a:rPr>
              <a:t>Marc Erpenbeck, President</a:t>
            </a:r>
            <a:endParaRPr lang="en-US" sz="1100" dirty="0"/>
          </a:p>
        </p:txBody>
      </p:sp>
    </p:spTree>
  </p:cSld>
  <p:clrMapOvr>
    <a:masterClrMapping/>
  </p:clrMapOvr>
</p:sld>
</file>

<file path=ppt/theme/theme1.xml><?xml version="1.0" encoding="utf-8"?>
<a:theme xmlns:a="http://schemas.openxmlformats.org/drawingml/2006/main" name="ONYX Proposal">
  <a:themeElements>
    <a:clrScheme name="ONYX Proposal">
      <a:dk1>
        <a:srgbClr val="16181D"/>
      </a:dk1>
      <a:lt1>
        <a:srgbClr val="FFFFFF"/>
      </a:lt1>
      <a:dk2>
        <a:srgbClr val="1B2A49"/>
      </a:dk2>
      <a:lt2>
        <a:srgbClr val="F3F4F6"/>
      </a:lt2>
      <a:accent1>
        <a:srgbClr val="1B2A49"/>
      </a:accent1>
      <a:accent2>
        <a:srgbClr val="AF1F29"/>
      </a:accent2>
      <a:accent3>
        <a:srgbClr val="5B6472"/>
      </a:accent3>
      <a:accent4>
        <a:srgbClr val="D5D9E0"/>
      </a:accent4>
      <a:accent5>
        <a:srgbClr val="E9EDF4"/>
      </a:accent5>
      <a:accent6>
        <a:srgbClr val="3E5C8A"/>
      </a:accent6>
      <a:hlink>
        <a:srgbClr val="1B2A49"/>
      </a:hlink>
      <a:folHlink>
        <a:srgbClr val="5B6472"/>
      </a:folHlink>
    </a:clrScheme>
    <a:fontScheme name="ONYX Propos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3133</Words>
  <Application>Microsoft Office PowerPoint</Application>
  <PresentationFormat>Widescreen</PresentationFormat>
  <Paragraphs>365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ONYX Proposal</vt:lpstr>
      <vt:lpstr>PowerPoint Presentation</vt:lpstr>
      <vt:lpstr>A note to Marc and the leadership team</vt:lpstr>
      <vt:lpstr>What this proposal covers</vt:lpstr>
      <vt:lpstr>Onyx Accounting Group</vt:lpstr>
      <vt:lpstr>Your engagement team</vt:lpstr>
      <vt:lpstr>Our understanding of George Brazil</vt:lpstr>
      <vt:lpstr>Services proposed for George Brazil</vt:lpstr>
      <vt:lpstr>How we will work together</vt:lpstr>
      <vt:lpstr>October 2026 through March 2027</vt:lpstr>
      <vt:lpstr>The first 90 days</vt:lpstr>
      <vt:lpstr>What you receive, and when</vt:lpstr>
      <vt:lpstr>Hourly rates and billing terms</vt:lpstr>
      <vt:lpstr>What a team gives you, and how we start</vt:lpstr>
      <vt:lpstr>PowerPoint Presentation</vt:lpstr>
    </vt:vector>
  </TitlesOfParts>
  <Company>Onyx Accounting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Accounting, Controller and CFO Services</dc:title>
  <dc:subject>PptxGenJS Presentation</dc:subject>
  <dc:creator>Onyx Accounting Group</dc:creator>
  <cp:lastModifiedBy>Steven Nikolov</cp:lastModifiedBy>
  <cp:revision>4</cp:revision>
  <dcterms:created xsi:type="dcterms:W3CDTF">2026-10-07T06:18:03Z</dcterms:created>
  <dcterms:modified xsi:type="dcterms:W3CDTF">2026-10-07T06:20:43Z</dcterms:modified>
</cp:coreProperties>
</file>